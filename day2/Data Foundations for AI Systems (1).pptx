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59" r:id="rId8"/>
    <p:sldId id="26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261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87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07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242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19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18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98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43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26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4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2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20F069-4CAC-4251-ABBA-E1F7790622C6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23445AC-9A68-46C2-A377-0E410B70099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82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E&amp;q=https%3A%2F%2Faws.amazon.com%2Fsagemaker%2Ffeature-store%2F" TargetMode="External"/><Relationship Id="rId2" Type="http://schemas.openxmlformats.org/officeDocument/2006/relationships/hyperlink" Target="https://www.google.com/url?sa=E&amp;q=https%3A%2F%2Fdocs.databricks.com%2Fen%2Fmachine-learning%2Ffeature-store%2F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2A62-F7A6-0581-A877-A7F15E63B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Century Schoolbook" panose="02040604050505020304" pitchFamily="18" charset="0"/>
              </a:rPr>
              <a:t>Data Foundations for AI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2CDAF-1EF1-46DC-097D-E8282A07BB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Architectural Blueprints, Trade-offs, and Modern Data Ecosystems for AI</a:t>
            </a:r>
            <a:endParaRPr lang="en-US" sz="1800" dirty="0"/>
          </a:p>
          <a:p>
            <a:r>
              <a:rPr lang="en-US" dirty="0"/>
              <a:t>BY: Harish 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405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1EB7-EC64-A559-0021-17BD6E45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Elephant" panose="02020904090505020303" pitchFamily="18" charset="0"/>
              </a:rPr>
              <a:t>Course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B3183-A358-2251-83E9-E27061E41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The AI Data Landscape</a:t>
            </a:r>
            <a:r>
              <a:rPr lang="en-IN" dirty="0">
                <a:latin typeface="Century Schoolbook" panose="02040604050505020304" pitchFamily="18" charset="0"/>
              </a:rPr>
              <a:t>: Structured, Unstructured, &amp; Streaming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Data Pipelines Architecture</a:t>
            </a:r>
            <a:r>
              <a:rPr lang="en-IN" dirty="0">
                <a:latin typeface="Century Schoolbook" panose="02040604050505020304" pitchFamily="18" charset="0"/>
              </a:rPr>
              <a:t>: Batch vs. Real-Time 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Feature Engineering</a:t>
            </a:r>
            <a:r>
              <a:rPr lang="en-IN" dirty="0">
                <a:latin typeface="Century Schoolbook" panose="02040604050505020304" pitchFamily="18" charset="0"/>
              </a:rPr>
              <a:t>: Bridging Raw Data and Models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Feature Stores</a:t>
            </a:r>
            <a:r>
              <a:rPr lang="en-IN" dirty="0">
                <a:latin typeface="Century Schoolbook" panose="02040604050505020304" pitchFamily="18" charset="0"/>
              </a:rPr>
              <a:t>: Centralizing the ML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Data Quality &amp; </a:t>
            </a:r>
            <a:r>
              <a:rPr lang="en-IN" b="1" dirty="0" err="1">
                <a:latin typeface="Century Schoolbook" panose="02040604050505020304" pitchFamily="18" charset="0"/>
              </a:rPr>
              <a:t>Labeling</a:t>
            </a:r>
            <a:r>
              <a:rPr lang="en-IN" dirty="0">
                <a:latin typeface="Century Schoolbook" panose="02040604050505020304" pitchFamily="18" charset="0"/>
              </a:rPr>
              <a:t>: Building Ground Truth at Scale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Data Governance</a:t>
            </a:r>
            <a:r>
              <a:rPr lang="en-IN" dirty="0">
                <a:latin typeface="Century Schoolbook" panose="02040604050505020304" pitchFamily="18" charset="0"/>
              </a:rPr>
              <a:t>: Security, Lineage, and Compliance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Vector Databases &amp; Embeddings</a:t>
            </a:r>
            <a:r>
              <a:rPr lang="en-IN" dirty="0">
                <a:latin typeface="Century Schoolbook" panose="02040604050505020304" pitchFamily="18" charset="0"/>
              </a:rPr>
              <a:t>: The Core of GenAI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Vector Database Architectures</a:t>
            </a:r>
            <a:r>
              <a:rPr lang="en-IN" dirty="0">
                <a:latin typeface="Century Schoolbook" panose="02040604050505020304" pitchFamily="18" charset="0"/>
              </a:rPr>
              <a:t>: Pinecone vs. Milvus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Data Architecture for AI</a:t>
            </a:r>
            <a:r>
              <a:rPr lang="en-IN" dirty="0">
                <a:latin typeface="Century Schoolbook" panose="02040604050505020304" pitchFamily="18" charset="0"/>
              </a:rPr>
              <a:t>: The Medallion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entury Schoolbook" panose="02040604050505020304" pitchFamily="18" charset="0"/>
              </a:rPr>
              <a:t>End-to-End AI Data Architecture</a:t>
            </a:r>
            <a:r>
              <a:rPr lang="en-IN" dirty="0">
                <a:latin typeface="Century Schoolbook" panose="02040604050505020304" pitchFamily="18" charset="0"/>
              </a:rPr>
              <a:t>: RAG &amp; System Blueprints</a:t>
            </a:r>
          </a:p>
        </p:txBody>
      </p:sp>
    </p:spTree>
    <p:extLst>
      <p:ext uri="{BB962C8B-B14F-4D97-AF65-F5344CB8AC3E}">
        <p14:creationId xmlns:p14="http://schemas.microsoft.com/office/powerpoint/2010/main" val="348913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5189-3831-B91F-6F5D-9A91C9EF0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95077-ECE4-2475-AC6F-7F77F18D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The AI Data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0E8F4-C53C-F148-1C75-397B4A72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1350"/>
              </a:spcAft>
              <a:buNone/>
            </a:pPr>
            <a:r>
              <a:rPr lang="en-IN" sz="1600" b="0" i="0" dirty="0">
                <a:solidFill>
                  <a:srgbClr val="2B2D31"/>
                </a:solidFill>
                <a:effectLst/>
                <a:latin typeface="Century Schoolbook" panose="02040604050505020304" pitchFamily="18" charset="0"/>
              </a:rPr>
              <a:t>The type of data dictates the storage mechanism, processing framework, and AI use case.</a:t>
            </a:r>
          </a:p>
          <a:p>
            <a:pPr>
              <a:spcBef>
                <a:spcPts val="600"/>
              </a:spcBef>
            </a:pPr>
            <a:r>
              <a:rPr lang="en-IN" sz="2100" b="1" dirty="0">
                <a:latin typeface="Century Schoolbook" panose="02040604050505020304" pitchFamily="18" charset="0"/>
              </a:rPr>
              <a:t>Structured Data:</a:t>
            </a:r>
            <a:endParaRPr lang="en-IN" sz="2100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sz="1900" i="1" dirty="0">
                <a:latin typeface="Century Schoolbook" panose="02040604050505020304" pitchFamily="18" charset="0"/>
              </a:rPr>
              <a:t>Characteristics:</a:t>
            </a:r>
            <a:r>
              <a:rPr lang="en-IN" sz="1900" dirty="0">
                <a:latin typeface="Century Schoolbook" panose="02040604050505020304" pitchFamily="18" charset="0"/>
              </a:rPr>
              <a:t> Highly organized, defined schema (Rows/Columns), strictly typed.</a:t>
            </a:r>
          </a:p>
          <a:p>
            <a:pPr lvl="1">
              <a:spcBef>
                <a:spcPts val="600"/>
              </a:spcBef>
            </a:pPr>
            <a:r>
              <a:rPr lang="en-IN" sz="1900" i="1" dirty="0">
                <a:latin typeface="Century Schoolbook" panose="02040604050505020304" pitchFamily="18" charset="0"/>
              </a:rPr>
              <a:t>AI Use Cases:</a:t>
            </a:r>
            <a:r>
              <a:rPr lang="en-IN" sz="1900" dirty="0">
                <a:latin typeface="Century Schoolbook" panose="02040604050505020304" pitchFamily="18" charset="0"/>
              </a:rPr>
              <a:t> Predictive analytics, churn prediction, fraud detection (Traditional ML/</a:t>
            </a:r>
            <a:r>
              <a:rPr lang="en-IN" sz="1900" dirty="0" err="1">
                <a:latin typeface="Century Schoolbook" panose="02040604050505020304" pitchFamily="18" charset="0"/>
              </a:rPr>
              <a:t>XGBoost</a:t>
            </a:r>
            <a:r>
              <a:rPr lang="en-IN" sz="1900" dirty="0">
                <a:latin typeface="Century Schoolbook" panose="02040604050505020304" pitchFamily="18" charset="0"/>
              </a:rPr>
              <a:t>).</a:t>
            </a:r>
          </a:p>
          <a:p>
            <a:pPr lvl="1">
              <a:spcBef>
                <a:spcPts val="600"/>
              </a:spcBef>
            </a:pPr>
            <a:r>
              <a:rPr lang="en-IN" sz="1900" i="1" dirty="0">
                <a:latin typeface="Century Schoolbook" panose="02040604050505020304" pitchFamily="18" charset="0"/>
              </a:rPr>
              <a:t>Storage Systems:</a:t>
            </a:r>
            <a:r>
              <a:rPr lang="en-IN" sz="1900" dirty="0">
                <a:latin typeface="Century Schoolbook" panose="02040604050505020304" pitchFamily="18" charset="0"/>
              </a:rPr>
              <a:t> Relational Databases (Amazon RDS), Cloud Data Warehouses (Snowflake, </a:t>
            </a:r>
            <a:r>
              <a:rPr lang="en-IN" sz="1900" dirty="0" err="1">
                <a:latin typeface="Century Schoolbook" panose="02040604050505020304" pitchFamily="18" charset="0"/>
              </a:rPr>
              <a:t>BigQuery</a:t>
            </a:r>
            <a:r>
              <a:rPr lang="en-IN" sz="1900" dirty="0">
                <a:latin typeface="Century Schoolbook" panose="020406040505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en-IN" sz="2100" b="1" dirty="0">
                <a:latin typeface="Century Schoolbook" panose="02040604050505020304" pitchFamily="18" charset="0"/>
              </a:rPr>
              <a:t>Unstructured Data:</a:t>
            </a:r>
            <a:endParaRPr lang="en-IN" sz="2100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sz="1900" i="1" dirty="0">
                <a:latin typeface="Century Schoolbook" panose="02040604050505020304" pitchFamily="18" charset="0"/>
              </a:rPr>
              <a:t>Characteristics:</a:t>
            </a:r>
            <a:r>
              <a:rPr lang="en-IN" sz="1900" dirty="0">
                <a:latin typeface="Century Schoolbook" panose="02040604050505020304" pitchFamily="18" charset="0"/>
              </a:rPr>
              <a:t> Lacks a pre-defined data model. Includes text, images, audio, video, and PDFs.</a:t>
            </a:r>
          </a:p>
          <a:p>
            <a:pPr lvl="1">
              <a:spcBef>
                <a:spcPts val="600"/>
              </a:spcBef>
            </a:pPr>
            <a:r>
              <a:rPr lang="en-IN" sz="1900" i="1" dirty="0">
                <a:latin typeface="Century Schoolbook" panose="02040604050505020304" pitchFamily="18" charset="0"/>
              </a:rPr>
              <a:t>AI Use Cases:</a:t>
            </a:r>
            <a:r>
              <a:rPr lang="en-IN" sz="1900" dirty="0">
                <a:latin typeface="Century Schoolbook" panose="02040604050505020304" pitchFamily="18" charset="0"/>
              </a:rPr>
              <a:t> Computer vision, NLP, Sentiment Analysis, Generative AI (LLMs).</a:t>
            </a:r>
          </a:p>
          <a:p>
            <a:pPr lvl="1">
              <a:spcBef>
                <a:spcPts val="600"/>
              </a:spcBef>
            </a:pPr>
            <a:r>
              <a:rPr lang="en-IN" sz="1900" i="1" dirty="0">
                <a:latin typeface="Century Schoolbook" panose="02040604050505020304" pitchFamily="18" charset="0"/>
              </a:rPr>
              <a:t>Storage Systems:</a:t>
            </a:r>
            <a:r>
              <a:rPr lang="en-IN" sz="1900" dirty="0">
                <a:latin typeface="Century Schoolbook" panose="02040604050505020304" pitchFamily="18" charset="0"/>
              </a:rPr>
              <a:t> Object Storage (Amazon S3, GCS), NoSQL document stores, Vector Databases.</a:t>
            </a:r>
          </a:p>
          <a:p>
            <a:pPr lvl="1">
              <a:spcBef>
                <a:spcPts val="600"/>
              </a:spcBef>
            </a:pPr>
            <a:r>
              <a:rPr lang="en-IN" sz="1900" i="1" dirty="0">
                <a:latin typeface="Century Schoolbook" panose="02040604050505020304" pitchFamily="18" charset="0"/>
              </a:rPr>
              <a:t>Architectural Shift:</a:t>
            </a:r>
            <a:r>
              <a:rPr lang="en-IN" sz="1900" dirty="0">
                <a:latin typeface="Century Schoolbook" panose="02040604050505020304" pitchFamily="18" charset="0"/>
              </a:rPr>
              <a:t> 80%+ of enterprise data is unstructured. Modern AI architectures focus heavily on parsing and embedding this data for Large Language Models (LLMs).</a:t>
            </a:r>
          </a:p>
        </p:txBody>
      </p:sp>
    </p:spTree>
    <p:extLst>
      <p:ext uri="{BB962C8B-B14F-4D97-AF65-F5344CB8AC3E}">
        <p14:creationId xmlns:p14="http://schemas.microsoft.com/office/powerpoint/2010/main" val="2729022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E337-2C19-7054-B22B-7B95CB74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B1CF-02BC-F018-B71D-9DD13CCC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Streaming Data in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8F9F9-BBCE-4892-BD59-FA63613E5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1350"/>
              </a:spcAft>
              <a:buNone/>
            </a:pPr>
            <a:r>
              <a:rPr lang="en-IN" sz="1600" b="0" i="0" dirty="0">
                <a:solidFill>
                  <a:srgbClr val="2B2D31"/>
                </a:solidFill>
                <a:effectLst/>
                <a:latin typeface="Century Schoolbook" panose="02040604050505020304" pitchFamily="18" charset="0"/>
              </a:rPr>
              <a:t>Modern AI architectures are moving from offline batch processing to real-time inference requiring streaming data ingestion.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700" b="1" dirty="0">
                <a:latin typeface="Century Schoolbook" panose="02040604050505020304" pitchFamily="18" charset="0"/>
              </a:rPr>
              <a:t>What is Streaming Data?</a:t>
            </a:r>
            <a:endParaRPr lang="en-IN" sz="1700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sz="1700" dirty="0">
                <a:latin typeface="Century Schoolbook" panose="02040604050505020304" pitchFamily="18" charset="0"/>
              </a:rPr>
              <a:t>Data generated continuously by thousands of sources, sending records simultaneously in small sizes (Kilobytes).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700" b="1" dirty="0">
                <a:latin typeface="Century Schoolbook" panose="02040604050505020304" pitchFamily="18" charset="0"/>
              </a:rPr>
              <a:t>Common AI Use Cases:</a:t>
            </a:r>
            <a:endParaRPr lang="en-IN" sz="1700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sz="1700" dirty="0">
                <a:latin typeface="Century Schoolbook" panose="02040604050505020304" pitchFamily="18" charset="0"/>
              </a:rPr>
              <a:t>Real-time recommendation engines (e.g., e-commerce clickstream analysis).</a:t>
            </a:r>
          </a:p>
          <a:p>
            <a:pPr lvl="1">
              <a:spcBef>
                <a:spcPts val="600"/>
              </a:spcBef>
            </a:pPr>
            <a:r>
              <a:rPr lang="en-IN" sz="1700" dirty="0">
                <a:latin typeface="Century Schoolbook" panose="02040604050505020304" pitchFamily="18" charset="0"/>
              </a:rPr>
              <a:t>IoT anomaly detection (e.g., predictive maintenance on manufacturing floors).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700" b="1" dirty="0">
                <a:latin typeface="Century Schoolbook" panose="02040604050505020304" pitchFamily="18" charset="0"/>
              </a:rPr>
              <a:t>Architectural Components:</a:t>
            </a:r>
            <a:endParaRPr lang="en-IN" sz="1700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sz="1700" i="1" dirty="0">
                <a:latin typeface="Century Schoolbook" panose="02040604050505020304" pitchFamily="18" charset="0"/>
              </a:rPr>
              <a:t>Ingestion:</a:t>
            </a:r>
            <a:r>
              <a:rPr lang="en-IN" sz="1700" dirty="0">
                <a:latin typeface="Century Schoolbook" panose="02040604050505020304" pitchFamily="18" charset="0"/>
              </a:rPr>
              <a:t> Apache Kafka, Amazon Kinesis, Google Pub/Sub.</a:t>
            </a:r>
          </a:p>
          <a:p>
            <a:pPr lvl="1">
              <a:spcBef>
                <a:spcPts val="600"/>
              </a:spcBef>
            </a:pPr>
            <a:r>
              <a:rPr lang="en-IN" sz="1700" i="1" dirty="0">
                <a:latin typeface="Century Schoolbook" panose="02040604050505020304" pitchFamily="18" charset="0"/>
              </a:rPr>
              <a:t>Processing:</a:t>
            </a:r>
            <a:r>
              <a:rPr lang="en-IN" sz="1700" dirty="0">
                <a:latin typeface="Century Schoolbook" panose="02040604050505020304" pitchFamily="18" charset="0"/>
              </a:rPr>
              <a:t> Apache Flink, Spark Structured Streaming.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700" b="1" dirty="0">
                <a:latin typeface="Century Schoolbook" panose="02040604050505020304" pitchFamily="18" charset="0"/>
              </a:rPr>
              <a:t>Architectural Consideration:</a:t>
            </a:r>
            <a:r>
              <a:rPr lang="en-IN" sz="1700" dirty="0">
                <a:latin typeface="Century Schoolbook" panose="02040604050505020304" pitchFamily="18" charset="0"/>
              </a:rPr>
              <a:t> Streaming data requires handling "out-of-order" records, state management, and defining time-windows (tumbling vs. sliding windows) for AI feature aggregation.</a:t>
            </a:r>
          </a:p>
        </p:txBody>
      </p:sp>
    </p:spTree>
    <p:extLst>
      <p:ext uri="{BB962C8B-B14F-4D97-AF65-F5344CB8AC3E}">
        <p14:creationId xmlns:p14="http://schemas.microsoft.com/office/powerpoint/2010/main" val="253432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2C60-D023-3B78-BC43-5BA53F3CD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55B7-4A05-8845-A5EC-974B0675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Data Pipelines Architecture (Batch)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79A17-9F13-1C6E-517A-A97E6FBED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1350"/>
              </a:spcAft>
              <a:buNone/>
            </a:pPr>
            <a:r>
              <a:rPr lang="en-IN" sz="1500" b="0" i="0" dirty="0">
                <a:solidFill>
                  <a:srgbClr val="2B2D31"/>
                </a:solidFill>
                <a:effectLst/>
                <a:latin typeface="Century Schoolbook" panose="02040604050505020304" pitchFamily="18" charset="0"/>
              </a:rPr>
              <a:t>Batch pipelines process large volumes of data at scheduled intervals. This is the foundation for creating historical training datasets.</a:t>
            </a:r>
          </a:p>
          <a:p>
            <a:pPr>
              <a:spcBef>
                <a:spcPts val="600"/>
              </a:spcBef>
            </a:pPr>
            <a:r>
              <a:rPr lang="en-IN" b="1" dirty="0">
                <a:latin typeface="Century Schoolbook" panose="02040604050505020304" pitchFamily="18" charset="0"/>
              </a:rPr>
              <a:t>Characteristics:</a:t>
            </a:r>
            <a:endParaRPr lang="en-IN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dirty="0">
                <a:latin typeface="Century Schoolbook" panose="02040604050505020304" pitchFamily="18" charset="0"/>
              </a:rPr>
              <a:t>Extract, Transform, Load (ETL) or Extract, Load, Transform (ELT).</a:t>
            </a:r>
          </a:p>
          <a:p>
            <a:pPr lvl="1">
              <a:spcBef>
                <a:spcPts val="600"/>
              </a:spcBef>
            </a:pPr>
            <a:r>
              <a:rPr lang="en-IN" dirty="0">
                <a:latin typeface="Century Schoolbook" panose="02040604050505020304" pitchFamily="18" charset="0"/>
              </a:rPr>
              <a:t>Operates on bounded datasets (data with a known start and end).</a:t>
            </a:r>
          </a:p>
          <a:p>
            <a:pPr>
              <a:spcBef>
                <a:spcPts val="600"/>
              </a:spcBef>
            </a:pPr>
            <a:r>
              <a:rPr lang="en-IN" b="1" dirty="0">
                <a:latin typeface="Century Schoolbook" panose="02040604050505020304" pitchFamily="18" charset="0"/>
              </a:rPr>
              <a:t>Key Pipeline Stages for AI:</a:t>
            </a:r>
            <a:endParaRPr lang="en-IN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b="1" dirty="0">
                <a:latin typeface="Century Schoolbook" panose="02040604050505020304" pitchFamily="18" charset="0"/>
              </a:rPr>
              <a:t>Ingestion:</a:t>
            </a:r>
            <a:r>
              <a:rPr lang="en-IN" dirty="0">
                <a:latin typeface="Century Schoolbook" panose="02040604050505020304" pitchFamily="18" charset="0"/>
              </a:rPr>
              <a:t> Bulk load from operational databases via Change Data Capture (CDC).</a:t>
            </a:r>
          </a:p>
          <a:p>
            <a:pPr lvl="1">
              <a:spcBef>
                <a:spcPts val="600"/>
              </a:spcBef>
            </a:pPr>
            <a:r>
              <a:rPr lang="en-IN" b="1" dirty="0">
                <a:latin typeface="Century Schoolbook" panose="02040604050505020304" pitchFamily="18" charset="0"/>
              </a:rPr>
              <a:t>Transformation:</a:t>
            </a:r>
            <a:r>
              <a:rPr lang="en-IN" dirty="0">
                <a:latin typeface="Century Schoolbook" panose="02040604050505020304" pitchFamily="18" charset="0"/>
              </a:rPr>
              <a:t> Distributed processing (Apache Spark, AWS Glue, Databricks) to clean and join data.</a:t>
            </a:r>
          </a:p>
          <a:p>
            <a:pPr lvl="1">
              <a:spcBef>
                <a:spcPts val="600"/>
              </a:spcBef>
            </a:pPr>
            <a:r>
              <a:rPr lang="en-IN" b="1" dirty="0">
                <a:latin typeface="Century Schoolbook" panose="02040604050505020304" pitchFamily="18" charset="0"/>
              </a:rPr>
              <a:t>Storage:</a:t>
            </a:r>
            <a:r>
              <a:rPr lang="en-IN" dirty="0">
                <a:latin typeface="Century Schoolbook" panose="02040604050505020304" pitchFamily="18" charset="0"/>
              </a:rPr>
              <a:t> Cloud Data Lakes using open table formats (Apache Iceberg, Delta Lake, Apache Hudi).</a:t>
            </a:r>
          </a:p>
          <a:p>
            <a:pPr>
              <a:spcBef>
                <a:spcPts val="600"/>
              </a:spcBef>
            </a:pPr>
            <a:r>
              <a:rPr lang="en-IN" b="1" dirty="0">
                <a:latin typeface="Century Schoolbook" panose="02040604050505020304" pitchFamily="18" charset="0"/>
              </a:rPr>
              <a:t>Orchestration:</a:t>
            </a:r>
            <a:r>
              <a:rPr lang="en-IN" dirty="0">
                <a:latin typeface="Century Schoolbook" panose="02040604050505020304" pitchFamily="18" charset="0"/>
              </a:rPr>
              <a:t> Directed Acyclic Graphs (DAGs) managed by tools like Apache Airflow or Prefect to ensure dependencies are respected before triggering model re-training.</a:t>
            </a:r>
          </a:p>
        </p:txBody>
      </p:sp>
    </p:spTree>
    <p:extLst>
      <p:ext uri="{BB962C8B-B14F-4D97-AF65-F5344CB8AC3E}">
        <p14:creationId xmlns:p14="http://schemas.microsoft.com/office/powerpoint/2010/main" val="1509608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850F-6145-6FF5-EF41-D0657146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842D-6C69-CD17-7CE2-F8282C21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Data Pipelines Architecture </a:t>
            </a:r>
            <a:br>
              <a:rPr lang="en-IN" sz="4400" dirty="0">
                <a:latin typeface="Elephant" panose="02020904090505020303" pitchFamily="18" charset="0"/>
              </a:rPr>
            </a:br>
            <a:r>
              <a:rPr lang="en-IN" sz="4400" dirty="0">
                <a:latin typeface="Elephant" panose="02020904090505020303" pitchFamily="18" charset="0"/>
              </a:rPr>
              <a:t>(Real-Time)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613C3-C750-0CC0-2883-B45303C38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20000"/>
              </a:lnSpc>
              <a:spcAft>
                <a:spcPts val="1350"/>
              </a:spcAft>
              <a:buNone/>
            </a:pPr>
            <a:r>
              <a:rPr lang="en-IN" sz="1400" b="0" i="0" dirty="0">
                <a:solidFill>
                  <a:srgbClr val="2B2D31"/>
                </a:solidFill>
                <a:effectLst/>
                <a:latin typeface="Century Schoolbook" panose="02040604050505020304" pitchFamily="18" charset="0"/>
              </a:rPr>
              <a:t>Real-time pipelines process data as it arrives (unbounded data), critical for updating online features used in real-time model predictions.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Characteristics:</a:t>
            </a:r>
            <a:endParaRPr lang="en-IN" dirty="0">
              <a:latin typeface="Century Schoolbook" panose="02040604050505020304" pitchFamily="18" charset="0"/>
            </a:endParaRPr>
          </a:p>
          <a:p>
            <a:pPr lvl="1"/>
            <a:r>
              <a:rPr lang="en-IN" dirty="0">
                <a:latin typeface="Century Schoolbook" panose="02040604050505020304" pitchFamily="18" charset="0"/>
              </a:rPr>
              <a:t>Event-driven architecture.</a:t>
            </a:r>
          </a:p>
          <a:p>
            <a:pPr lvl="1"/>
            <a:r>
              <a:rPr lang="en-IN" dirty="0">
                <a:latin typeface="Century Schoolbook" panose="02040604050505020304" pitchFamily="18" charset="0"/>
              </a:rPr>
              <a:t>Micro-batching (Spark) vs. Native Stream Processing (Flink).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Architectural Challenges for Solutions Architects:</a:t>
            </a:r>
            <a:endParaRPr lang="en-IN" dirty="0">
              <a:latin typeface="Century Schoolbook" panose="02040604050505020304" pitchFamily="18" charset="0"/>
            </a:endParaRPr>
          </a:p>
          <a:p>
            <a:pPr lvl="1"/>
            <a:r>
              <a:rPr lang="en-IN" b="1" dirty="0">
                <a:latin typeface="Century Schoolbook" panose="02040604050505020304" pitchFamily="18" charset="0"/>
              </a:rPr>
              <a:t>Fault Tolerance:</a:t>
            </a:r>
            <a:r>
              <a:rPr lang="en-IN" dirty="0">
                <a:latin typeface="Century Schoolbook" panose="02040604050505020304" pitchFamily="18" charset="0"/>
              </a:rPr>
              <a:t> Ensuring exactly-once processing semantics so features aren't double-counted.</a:t>
            </a:r>
          </a:p>
          <a:p>
            <a:pPr lvl="1"/>
            <a:r>
              <a:rPr lang="en-IN" b="1" dirty="0">
                <a:latin typeface="Century Schoolbook" panose="02040604050505020304" pitchFamily="18" charset="0"/>
              </a:rPr>
              <a:t>Latency vs. Throughput:</a:t>
            </a:r>
            <a:r>
              <a:rPr lang="en-IN" dirty="0">
                <a:latin typeface="Century Schoolbook" panose="02040604050505020304" pitchFamily="18" charset="0"/>
              </a:rPr>
              <a:t> Trading off higher throughput for sub-millisecond latency.</a:t>
            </a:r>
          </a:p>
          <a:p>
            <a:pPr lvl="1"/>
            <a:r>
              <a:rPr lang="en-IN" b="1" dirty="0">
                <a:latin typeface="Century Schoolbook" panose="02040604050505020304" pitchFamily="18" charset="0"/>
              </a:rPr>
              <a:t>State Management:</a:t>
            </a:r>
            <a:r>
              <a:rPr lang="en-IN" dirty="0">
                <a:latin typeface="Century Schoolbook" panose="02040604050505020304" pitchFamily="18" charset="0"/>
              </a:rPr>
              <a:t> Holding aggregations in memory (e.g., "user click count in the last 5 minutes") using checkpointing.</a:t>
            </a:r>
          </a:p>
        </p:txBody>
      </p:sp>
    </p:spTree>
    <p:extLst>
      <p:ext uri="{BB962C8B-B14F-4D97-AF65-F5344CB8AC3E}">
        <p14:creationId xmlns:p14="http://schemas.microsoft.com/office/powerpoint/2010/main" val="59464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8D419-8EBD-8D13-0827-C6B6A694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F512D1-4A88-732F-596B-D184EF9CA8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6362572"/>
              </p:ext>
            </p:extLst>
          </p:nvPr>
        </p:nvGraphicFramePr>
        <p:xfrm>
          <a:off x="697900" y="1411376"/>
          <a:ext cx="10796199" cy="440887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81083">
                  <a:extLst>
                    <a:ext uri="{9D8B030D-6E8A-4147-A177-3AD203B41FA5}">
                      <a16:colId xmlns:a16="http://schemas.microsoft.com/office/drawing/2014/main" val="176283896"/>
                    </a:ext>
                  </a:extLst>
                </a:gridCol>
                <a:gridCol w="4326194">
                  <a:extLst>
                    <a:ext uri="{9D8B030D-6E8A-4147-A177-3AD203B41FA5}">
                      <a16:colId xmlns:a16="http://schemas.microsoft.com/office/drawing/2014/main" val="2060936447"/>
                    </a:ext>
                  </a:extLst>
                </a:gridCol>
                <a:gridCol w="4188922">
                  <a:extLst>
                    <a:ext uri="{9D8B030D-6E8A-4147-A177-3AD203B41FA5}">
                      <a16:colId xmlns:a16="http://schemas.microsoft.com/office/drawing/2014/main" val="624477467"/>
                    </a:ext>
                  </a:extLst>
                </a:gridCol>
              </a:tblGrid>
              <a:tr h="3154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Feature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Batch Pipeline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Real-Time Pipeline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255997"/>
                  </a:ext>
                </a:extLst>
              </a:tr>
              <a:tr h="433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Data Scope</a:t>
                      </a:r>
                      <a:endParaRPr lang="en-IN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Bounded (Historical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Unbounded (Continuous Streams)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045046"/>
                  </a:ext>
                </a:extLst>
              </a:tr>
              <a:tr h="433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Latency</a:t>
                      </a:r>
                      <a:endParaRPr lang="en-IN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Minutes to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Milliseconds to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700857"/>
                  </a:ext>
                </a:extLst>
              </a:tr>
              <a:tr h="433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Compute Engines</a:t>
                      </a:r>
                      <a:endParaRPr lang="en-IN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Apache Spark, Hadoop, BigQuery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Century Schoolbook" panose="02040604050505020304" pitchFamily="18" charset="0"/>
                        </a:rPr>
                        <a:t>Apache Flink, Kafka Streams, Spark Streaming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819197"/>
                  </a:ext>
                </a:extLst>
              </a:tr>
              <a:tr h="433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AI Use Case</a:t>
                      </a:r>
                      <a:endParaRPr lang="en-IN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Model Training, Batch Inference,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Fraud Detection, Real-Time Recommendations,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870489"/>
                  </a:ext>
                </a:extLst>
              </a:tr>
              <a:tr h="433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Cost Profile</a:t>
                      </a:r>
                      <a:endParaRPr lang="en-IN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Lower (Compute spun down after use)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Higher (Always-on infrastructure)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802664"/>
                  </a:ext>
                </a:extLst>
              </a:tr>
              <a:tr h="3154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Complexity</a:t>
                      </a:r>
                      <a:endParaRPr lang="en-IN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Low/Medium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High (Requires state management &amp; late data handling)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351584"/>
                  </a:ext>
                </a:extLst>
              </a:tr>
              <a:tr h="3154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Batch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Real-Time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808929"/>
                  </a:ext>
                </a:extLst>
              </a:tr>
              <a:tr h="4560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1">
                          <a:effectLst/>
                          <a:latin typeface="Century Schoolbook" panose="02040604050505020304" pitchFamily="18" charset="0"/>
                        </a:rPr>
                        <a:t>Data Scope</a:t>
                      </a:r>
                      <a:endParaRPr lang="en-IN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>
                          <a:effectLst/>
                          <a:latin typeface="Century Schoolbook" panose="02040604050505020304" pitchFamily="18" charset="0"/>
                        </a:rPr>
                        <a:t>Bounded (Historical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Century Schoolbook" panose="02040604050505020304" pitchFamily="18" charset="0"/>
                        </a:rPr>
                        <a:t>Unbounded (Continuous Streams)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66593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4C14781-F964-6E98-B9D1-B34E354F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4578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Elephant" panose="02020904090505020303" pitchFamily="18" charset="0"/>
              </a:rPr>
              <a:t>Batch vs. Real-Time Pipeline Trade-offs</a:t>
            </a:r>
          </a:p>
        </p:txBody>
      </p:sp>
    </p:spTree>
    <p:extLst>
      <p:ext uri="{BB962C8B-B14F-4D97-AF65-F5344CB8AC3E}">
        <p14:creationId xmlns:p14="http://schemas.microsoft.com/office/powerpoint/2010/main" val="1399656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62CE-C21E-4434-3482-266DD5366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465E1-7F0D-47DB-72EC-DA7F0E86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Feature Engineering (High-Level)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F54E1-32F9-FD57-10C2-7749865E7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IN" sz="1400" dirty="0">
                <a:latin typeface="Century Schoolbook" panose="02040604050505020304" pitchFamily="18" charset="0"/>
              </a:rPr>
              <a:t>Raw data is rarely ready for machine learning. Feature engineering is the process of using domain knowledge to extract features (characteristics/properties) that make ML algorithms work.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800" b="1" dirty="0">
                <a:latin typeface="Century Schoolbook" panose="02040604050505020304" pitchFamily="18" charset="0"/>
              </a:rPr>
              <a:t>Types of Feature Engineering: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sz="1600" b="1" dirty="0">
                <a:latin typeface="Century Schoolbook" panose="02040604050505020304" pitchFamily="18" charset="0"/>
              </a:rPr>
              <a:t>Imputation:</a:t>
            </a:r>
            <a:r>
              <a:rPr lang="en-IN" sz="1600" dirty="0">
                <a:latin typeface="Century Schoolbook" panose="02040604050505020304" pitchFamily="18" charset="0"/>
              </a:rPr>
              <a:t> Handling missing values (Mean, Median, or ML-based imputation).</a:t>
            </a:r>
          </a:p>
          <a:p>
            <a:pPr lvl="1">
              <a:spcBef>
                <a:spcPts val="600"/>
              </a:spcBef>
            </a:pPr>
            <a:r>
              <a:rPr lang="en-IN" sz="1600" b="1" dirty="0">
                <a:latin typeface="Century Schoolbook" panose="02040604050505020304" pitchFamily="18" charset="0"/>
              </a:rPr>
              <a:t>Encoding:</a:t>
            </a:r>
            <a:r>
              <a:rPr lang="en-IN" sz="1600" dirty="0">
                <a:latin typeface="Century Schoolbook" panose="02040604050505020304" pitchFamily="18" charset="0"/>
              </a:rPr>
              <a:t> Converting categorical strings into numerical formats (One-Hot Encoding, Label Encoding).</a:t>
            </a:r>
          </a:p>
          <a:p>
            <a:pPr lvl="1">
              <a:spcBef>
                <a:spcPts val="600"/>
              </a:spcBef>
            </a:pPr>
            <a:r>
              <a:rPr lang="en-IN" sz="1600" b="1" dirty="0">
                <a:latin typeface="Century Schoolbook" panose="02040604050505020304" pitchFamily="18" charset="0"/>
              </a:rPr>
              <a:t>Scaling/Normalization:</a:t>
            </a:r>
            <a:r>
              <a:rPr lang="en-IN" sz="1600" dirty="0">
                <a:latin typeface="Century Schoolbook" panose="02040604050505020304" pitchFamily="18" charset="0"/>
              </a:rPr>
              <a:t> Ensuring all numerical inputs have a standardized range (Min-Max scaling, Z-score normalization).</a:t>
            </a:r>
          </a:p>
          <a:p>
            <a:pPr lvl="1">
              <a:spcBef>
                <a:spcPts val="600"/>
              </a:spcBef>
            </a:pPr>
            <a:r>
              <a:rPr lang="en-IN" sz="1600" b="1" dirty="0">
                <a:latin typeface="Century Schoolbook" panose="02040604050505020304" pitchFamily="18" charset="0"/>
              </a:rPr>
              <a:t>Time-Window Aggregations:</a:t>
            </a:r>
            <a:r>
              <a:rPr lang="en-IN" sz="1600" dirty="0">
                <a:latin typeface="Century Schoolbook" panose="02040604050505020304" pitchFamily="18" charset="0"/>
              </a:rPr>
              <a:t> Creating rolling aggregates (e.g., </a:t>
            </a:r>
            <a:r>
              <a:rPr lang="en-IN" sz="1600" i="1" dirty="0">
                <a:latin typeface="Century Schoolbook" panose="02040604050505020304" pitchFamily="18" charset="0"/>
              </a:rPr>
              <a:t>Total transaction volume past 30 days</a:t>
            </a:r>
            <a:r>
              <a:rPr lang="en-IN" sz="1600" dirty="0">
                <a:latin typeface="Century Schoolbook" panose="02040604050505020304" pitchFamily="18" charset="0"/>
              </a:rPr>
              <a:t>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1800" b="1" dirty="0">
                <a:latin typeface="Century Schoolbook" panose="02040604050505020304" pitchFamily="18" charset="0"/>
              </a:rPr>
              <a:t>The Problem:</a:t>
            </a:r>
            <a:r>
              <a:rPr lang="en-IN" sz="1800" dirty="0">
                <a:latin typeface="Century Schoolbook" panose="02040604050505020304" pitchFamily="18" charset="0"/>
              </a:rPr>
              <a:t> Data scientists often write custom code for feature engineering in isolated notebooks, leading to code duplication and the dreaded </a:t>
            </a:r>
            <a:r>
              <a:rPr lang="en-IN" sz="1800" b="1" dirty="0">
                <a:latin typeface="Century Schoolbook" panose="02040604050505020304" pitchFamily="18" charset="0"/>
              </a:rPr>
              <a:t>"Training-Serving Skew"</a:t>
            </a:r>
            <a:endParaRPr lang="en-IN" sz="18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381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539F-46CE-95F5-AE6E-23BF479C8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BBE0-1244-D6E3-2F82-BF7D3005A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Feature Store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7D124-1333-E5D5-5F44-844CBD588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400" dirty="0">
                <a:latin typeface="Century Schoolbook" panose="02040604050505020304" pitchFamily="18" charset="0"/>
              </a:rPr>
              <a:t>To solve Training-Serving skew, enterprises utilize Feature Stores (e.g., Amazon SageMaker Feature Store, Databricks Feature Store, Feast).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1800" b="1" dirty="0">
                <a:latin typeface="Century Schoolbook" panose="02040604050505020304" pitchFamily="18" charset="0"/>
              </a:rPr>
              <a:t>Dual-Database Architecture: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IN" sz="1600" b="1" dirty="0">
                <a:latin typeface="Century Schoolbook" panose="02040604050505020304" pitchFamily="18" charset="0"/>
              </a:rPr>
              <a:t>Offline Store (S3, Delta Lake, Parquet):</a:t>
            </a:r>
            <a:r>
              <a:rPr lang="en-IN" sz="1600" dirty="0">
                <a:latin typeface="Century Schoolbook" panose="02040604050505020304" pitchFamily="18" charset="0"/>
              </a:rPr>
              <a:t> Stores historical feature data. Optimized for high-throughput batch reads to generate ML training sets.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IN" sz="1600" b="1" dirty="0">
                <a:latin typeface="Century Schoolbook" panose="02040604050505020304" pitchFamily="18" charset="0"/>
              </a:rPr>
              <a:t>Online Store (DynamoDB, Redis, </a:t>
            </a:r>
            <a:r>
              <a:rPr lang="en-IN" sz="1600" b="1" dirty="0" err="1">
                <a:latin typeface="Century Schoolbook" panose="02040604050505020304" pitchFamily="18" charset="0"/>
              </a:rPr>
              <a:t>ElastiCache</a:t>
            </a:r>
            <a:r>
              <a:rPr lang="en-IN" sz="1600" b="1" dirty="0">
                <a:latin typeface="Century Schoolbook" panose="02040604050505020304" pitchFamily="18" charset="0"/>
              </a:rPr>
              <a:t>):</a:t>
            </a:r>
            <a:r>
              <a:rPr lang="en-IN" sz="1600" dirty="0">
                <a:latin typeface="Century Schoolbook" panose="02040604050505020304" pitchFamily="18" charset="0"/>
              </a:rPr>
              <a:t> Stores the latest real-time feature values. Optimized for single-record, sub-millisecond lookups during model inference.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1800" b="1" dirty="0">
                <a:latin typeface="Century Schoolbook" panose="02040604050505020304" pitchFamily="18" charset="0"/>
              </a:rPr>
              <a:t>Key Capabilities: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IN" sz="1600" b="1" dirty="0">
                <a:latin typeface="Century Schoolbook" panose="02040604050505020304" pitchFamily="18" charset="0"/>
              </a:rPr>
              <a:t>Point-in-Time Correctness (Time Travel):</a:t>
            </a:r>
            <a:r>
              <a:rPr lang="en-IN" sz="1600" dirty="0">
                <a:latin typeface="Century Schoolbook" panose="02040604050505020304" pitchFamily="18" charset="0"/>
              </a:rPr>
              <a:t> Ensures that when training a model on historical data, no future data "leaks" into the training set.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IN" sz="1600" b="1" dirty="0">
                <a:latin typeface="Century Schoolbook" panose="02040604050505020304" pitchFamily="18" charset="0"/>
              </a:rPr>
              <a:t>Feature Registry:</a:t>
            </a:r>
            <a:r>
              <a:rPr lang="en-IN" sz="1600" dirty="0">
                <a:latin typeface="Century Schoolbook" panose="02040604050505020304" pitchFamily="18" charset="0"/>
              </a:rPr>
              <a:t> A centralized </a:t>
            </a:r>
            <a:r>
              <a:rPr lang="en-IN" sz="1600" dirty="0" err="1">
                <a:latin typeface="Century Schoolbook" panose="02040604050505020304" pitchFamily="18" charset="0"/>
              </a:rPr>
              <a:t>catalog</a:t>
            </a:r>
            <a:r>
              <a:rPr lang="en-IN" sz="1600" dirty="0">
                <a:latin typeface="Century Schoolbook" panose="02040604050505020304" pitchFamily="18" charset="0"/>
              </a:rPr>
              <a:t> allowing multiple teams to search, discover, and reuse features.</a:t>
            </a:r>
          </a:p>
          <a:p>
            <a:pPr marL="201168" lvl="1" indent="0">
              <a:spcBef>
                <a:spcPts val="0"/>
              </a:spcBef>
              <a:spcAft>
                <a:spcPts val="600"/>
              </a:spcAft>
              <a:buNone/>
            </a:pPr>
            <a:endParaRPr lang="en-IN" sz="1600" dirty="0">
              <a:latin typeface="Century Schoolbook" panose="020406040505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i="1" dirty="0">
                <a:latin typeface="Century Schoolbook" panose="02040604050505020304" pitchFamily="18" charset="0"/>
              </a:rPr>
              <a:t>Official Docs Reference:</a:t>
            </a:r>
            <a:r>
              <a:rPr lang="en-IN" dirty="0">
                <a:latin typeface="Century Schoolbook" panose="02040604050505020304" pitchFamily="18" charset="0"/>
              </a:rPr>
              <a:t> </a:t>
            </a:r>
            <a:r>
              <a:rPr lang="en-IN" dirty="0">
                <a:latin typeface="Century Schoolbook" panose="02040604050505020304" pitchFamily="18" charset="0"/>
                <a:hlinkClick r:id="rId2"/>
              </a:rPr>
              <a:t>Databricks Feature Store Architecture</a:t>
            </a:r>
            <a:r>
              <a:rPr lang="en-IN" dirty="0">
                <a:latin typeface="Century Schoolbook" panose="02040604050505020304" pitchFamily="18" charset="0"/>
              </a:rPr>
              <a:t> | </a:t>
            </a:r>
            <a:r>
              <a:rPr lang="en-IN" dirty="0">
                <a:latin typeface="Century Schoolbook" panose="02040604050505020304" pitchFamily="18" charset="0"/>
                <a:hlinkClick r:id="rId3"/>
              </a:rPr>
              <a:t>SageMaker Feature Store</a:t>
            </a:r>
            <a:endParaRPr lang="en-IN" sz="16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00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2D73-A394-185D-08BF-40DA1194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4067-C08B-40C2-A646-8C1B312B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Data Quality &amp; Validation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5C57B-436A-F4D4-E2C7-81D6F5CC7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500" dirty="0">
                <a:latin typeface="Century Schoolbook" panose="02040604050505020304" pitchFamily="18" charset="0"/>
              </a:rPr>
              <a:t>AI models degrade rapidly if fed poor-quality data. Data quality must be enforced at the pipeline level.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IN" sz="1400" dirty="0">
              <a:latin typeface="Century Schoolbook" panose="020406040505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900" b="1" dirty="0">
                <a:latin typeface="Century Schoolbook" panose="02040604050505020304" pitchFamily="18" charset="0"/>
              </a:rPr>
              <a:t>Dimensions of AI Data Quality:</a:t>
            </a:r>
            <a:endParaRPr lang="en-IN" sz="1900" dirty="0">
              <a:latin typeface="Century Schoolbook" panose="020406040505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1700" b="1" dirty="0">
                <a:latin typeface="Century Schoolbook" panose="02040604050505020304" pitchFamily="18" charset="0"/>
              </a:rPr>
              <a:t>Accuracy:</a:t>
            </a:r>
            <a:r>
              <a:rPr lang="en-IN" sz="1700" dirty="0">
                <a:latin typeface="Century Schoolbook" panose="02040604050505020304" pitchFamily="18" charset="0"/>
              </a:rPr>
              <a:t> Does the data reflect reality?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1700" b="1" dirty="0">
                <a:latin typeface="Century Schoolbook" panose="02040604050505020304" pitchFamily="18" charset="0"/>
              </a:rPr>
              <a:t>Completeness:</a:t>
            </a:r>
            <a:r>
              <a:rPr lang="en-IN" sz="1700" dirty="0">
                <a:latin typeface="Century Schoolbook" panose="02040604050505020304" pitchFamily="18" charset="0"/>
              </a:rPr>
              <a:t> Are there high percentages of null values?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1700" b="1" dirty="0">
                <a:latin typeface="Century Schoolbook" panose="02040604050505020304" pitchFamily="18" charset="0"/>
              </a:rPr>
              <a:t>Consistency:</a:t>
            </a:r>
            <a:r>
              <a:rPr lang="en-IN" sz="1700" dirty="0">
                <a:latin typeface="Century Schoolbook" panose="02040604050505020304" pitchFamily="18" charset="0"/>
              </a:rPr>
              <a:t> Are schemas shifting unexpectedly?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900" b="1" dirty="0">
                <a:latin typeface="Century Schoolbook" panose="02040604050505020304" pitchFamily="18" charset="0"/>
              </a:rPr>
              <a:t>Architectural Implementations:</a:t>
            </a:r>
            <a:endParaRPr lang="en-IN" sz="1900" dirty="0">
              <a:latin typeface="Century Schoolbook" panose="020406040505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1700" b="1" dirty="0">
                <a:latin typeface="Century Schoolbook" panose="02040604050505020304" pitchFamily="18" charset="0"/>
              </a:rPr>
              <a:t>Declarative Data Testing:</a:t>
            </a:r>
            <a:r>
              <a:rPr lang="en-IN" sz="1700" dirty="0">
                <a:latin typeface="Century Schoolbook" panose="02040604050505020304" pitchFamily="18" charset="0"/>
              </a:rPr>
              <a:t> Using frameworks like </a:t>
            </a:r>
            <a:r>
              <a:rPr lang="en-IN" sz="1700" i="1" dirty="0">
                <a:latin typeface="Century Schoolbook" panose="02040604050505020304" pitchFamily="18" charset="0"/>
              </a:rPr>
              <a:t>Great Expectations</a:t>
            </a:r>
            <a:r>
              <a:rPr lang="en-IN" sz="1700" dirty="0">
                <a:latin typeface="Century Schoolbook" panose="02040604050505020304" pitchFamily="18" charset="0"/>
              </a:rPr>
              <a:t> or </a:t>
            </a:r>
            <a:r>
              <a:rPr lang="en-IN" sz="1700" i="1" dirty="0" err="1">
                <a:latin typeface="Century Schoolbook" panose="02040604050505020304" pitchFamily="18" charset="0"/>
              </a:rPr>
              <a:t>Deequ</a:t>
            </a:r>
            <a:r>
              <a:rPr lang="en-IN" sz="1700" dirty="0">
                <a:latin typeface="Century Schoolbook" panose="02040604050505020304" pitchFamily="18" charset="0"/>
              </a:rPr>
              <a:t> to define constraints (e.g., </a:t>
            </a:r>
            <a:r>
              <a:rPr lang="en-IN" sz="1700" dirty="0">
                <a:highlight>
                  <a:srgbClr val="C0C0C0"/>
                </a:highlight>
                <a:latin typeface="Consolas" panose="020B0609020204030204" pitchFamily="49" charset="0"/>
              </a:rPr>
              <a:t>expect_column_values_to_be_between(0, 100)</a:t>
            </a:r>
            <a:r>
              <a:rPr lang="en-IN" sz="1700" dirty="0">
                <a:latin typeface="Century Schoolbook" panose="02040604050505020304" pitchFamily="18" charset="0"/>
              </a:rPr>
              <a:t>).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1700" b="1" dirty="0">
                <a:latin typeface="Century Schoolbook" panose="02040604050505020304" pitchFamily="18" charset="0"/>
              </a:rPr>
              <a:t>Data Observability:</a:t>
            </a:r>
            <a:r>
              <a:rPr lang="en-IN" sz="1700" dirty="0">
                <a:latin typeface="Century Schoolbook" panose="02040604050505020304" pitchFamily="18" charset="0"/>
              </a:rPr>
              <a:t> Continuous monitoring of data pipelines to detect data drift (statistical changes in data distribution over time) before it breaks the ML model.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1700" b="1" dirty="0">
                <a:latin typeface="Century Schoolbook" panose="02040604050505020304" pitchFamily="18" charset="0"/>
              </a:rPr>
              <a:t>Circuit Breakers:</a:t>
            </a:r>
            <a:r>
              <a:rPr lang="en-IN" sz="1700" dirty="0">
                <a:latin typeface="Century Schoolbook" panose="02040604050505020304" pitchFamily="18" charset="0"/>
              </a:rPr>
              <a:t> Pipeline architectures that halt ingestion or fallback to previous states if data quality drops below a defined threshold.</a:t>
            </a:r>
            <a:endParaRPr lang="en-IN" sz="15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54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ECEC9-7800-C245-91FB-B68AF2CC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582E-9F4A-20B4-5720-F3F08A25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Data </a:t>
            </a:r>
            <a:r>
              <a:rPr lang="en-IN" sz="4400" dirty="0" err="1">
                <a:latin typeface="Elephant" panose="02020904090505020303" pitchFamily="18" charset="0"/>
              </a:rPr>
              <a:t>Labeling</a:t>
            </a:r>
            <a:r>
              <a:rPr lang="en-IN" sz="4400" dirty="0">
                <a:latin typeface="Elephant" panose="02020904090505020303" pitchFamily="18" charset="0"/>
              </a:rPr>
              <a:t>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4D05-1DE5-0619-8253-8C0C2AC72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400" dirty="0">
                <a:latin typeface="Century Schoolbook" panose="02040604050505020304" pitchFamily="18" charset="0"/>
              </a:rPr>
              <a:t>Supervised ML and LLM Fine-Tuning (RLHF - Reinforcement Learning from Human Feedback) require high-quality </a:t>
            </a:r>
            <a:r>
              <a:rPr lang="en-IN" sz="1400" dirty="0" err="1">
                <a:latin typeface="Century Schoolbook" panose="02040604050505020304" pitchFamily="18" charset="0"/>
              </a:rPr>
              <a:t>labeled</a:t>
            </a:r>
            <a:r>
              <a:rPr lang="en-IN" sz="1400" dirty="0">
                <a:latin typeface="Century Schoolbook" panose="02040604050505020304" pitchFamily="18" charset="0"/>
              </a:rPr>
              <a:t> datasets.</a:t>
            </a:r>
          </a:p>
          <a:p>
            <a:pPr>
              <a:spcBef>
                <a:spcPts val="600"/>
              </a:spcBef>
            </a:pPr>
            <a:r>
              <a:rPr lang="en-IN" sz="1800" b="1" dirty="0" err="1">
                <a:latin typeface="Century Schoolbook" panose="02040604050505020304" pitchFamily="18" charset="0"/>
              </a:rPr>
              <a:t>Labeling</a:t>
            </a:r>
            <a:r>
              <a:rPr lang="en-IN" sz="1800" b="1" dirty="0">
                <a:latin typeface="Century Schoolbook" panose="02040604050505020304" pitchFamily="18" charset="0"/>
              </a:rPr>
              <a:t> Strategies: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sz="1600" b="1" dirty="0">
                <a:latin typeface="Century Schoolbook" panose="02040604050505020304" pitchFamily="18" charset="0"/>
              </a:rPr>
              <a:t>Human-in-the-Loop (HITL):</a:t>
            </a:r>
            <a:r>
              <a:rPr lang="en-IN" sz="1600" dirty="0">
                <a:latin typeface="Century Schoolbook" panose="02040604050505020304" pitchFamily="18" charset="0"/>
              </a:rPr>
              <a:t> Manual </a:t>
            </a:r>
            <a:r>
              <a:rPr lang="en-IN" sz="1600" dirty="0" err="1">
                <a:latin typeface="Century Schoolbook" panose="02040604050505020304" pitchFamily="18" charset="0"/>
              </a:rPr>
              <a:t>labeling</a:t>
            </a:r>
            <a:r>
              <a:rPr lang="en-IN" sz="1600" dirty="0">
                <a:latin typeface="Century Schoolbook" panose="02040604050505020304" pitchFamily="18" charset="0"/>
              </a:rPr>
              <a:t> by domain experts (highest accuracy, highest cost, slowest speed).</a:t>
            </a:r>
          </a:p>
          <a:p>
            <a:pPr lvl="1">
              <a:spcBef>
                <a:spcPts val="600"/>
              </a:spcBef>
            </a:pPr>
            <a:r>
              <a:rPr lang="en-IN" sz="1600" b="1" dirty="0">
                <a:latin typeface="Century Schoolbook" panose="02040604050505020304" pitchFamily="18" charset="0"/>
              </a:rPr>
              <a:t>Programmatic / Weak Supervision:</a:t>
            </a:r>
            <a:r>
              <a:rPr lang="en-IN" sz="1600" dirty="0">
                <a:latin typeface="Century Schoolbook" panose="02040604050505020304" pitchFamily="18" charset="0"/>
              </a:rPr>
              <a:t> Using heuristic rules, regex, and existing databases to auto-assign labels (e.g., Snorkel framework).</a:t>
            </a:r>
          </a:p>
          <a:p>
            <a:pPr lvl="1">
              <a:spcBef>
                <a:spcPts val="600"/>
              </a:spcBef>
            </a:pPr>
            <a:r>
              <a:rPr lang="en-IN" sz="1600" b="1" dirty="0">
                <a:latin typeface="Century Schoolbook" panose="02040604050505020304" pitchFamily="18" charset="0"/>
              </a:rPr>
              <a:t>Active Learning:</a:t>
            </a:r>
            <a:r>
              <a:rPr lang="en-IN" sz="1600" dirty="0">
                <a:latin typeface="Century Schoolbook" panose="02040604050505020304" pitchFamily="18" charset="0"/>
              </a:rPr>
              <a:t> The ML model identifies which </a:t>
            </a:r>
            <a:r>
              <a:rPr lang="en-IN" sz="1600" dirty="0" err="1">
                <a:latin typeface="Century Schoolbook" panose="02040604050505020304" pitchFamily="18" charset="0"/>
              </a:rPr>
              <a:t>unlabeled</a:t>
            </a:r>
            <a:r>
              <a:rPr lang="en-IN" sz="1600" dirty="0">
                <a:latin typeface="Century Schoolbook" panose="02040604050505020304" pitchFamily="18" charset="0"/>
              </a:rPr>
              <a:t> data points it is most uncertain about, and routes </a:t>
            </a:r>
            <a:r>
              <a:rPr lang="en-IN" sz="1600" i="1" dirty="0">
                <a:latin typeface="Century Schoolbook" panose="02040604050505020304" pitchFamily="18" charset="0"/>
              </a:rPr>
              <a:t>only those specific data points</a:t>
            </a:r>
            <a:r>
              <a:rPr lang="en-IN" sz="1600" dirty="0">
                <a:latin typeface="Century Schoolbook" panose="02040604050505020304" pitchFamily="18" charset="0"/>
              </a:rPr>
              <a:t> to a human </a:t>
            </a:r>
            <a:r>
              <a:rPr lang="en-IN" sz="1600" dirty="0" err="1">
                <a:latin typeface="Century Schoolbook" panose="02040604050505020304" pitchFamily="18" charset="0"/>
              </a:rPr>
              <a:t>labeler</a:t>
            </a:r>
            <a:r>
              <a:rPr lang="en-IN" sz="1600" dirty="0">
                <a:latin typeface="Century Schoolbook" panose="020406040505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IN" sz="1800" b="1" dirty="0">
                <a:latin typeface="Century Schoolbook" panose="02040604050505020304" pitchFamily="18" charset="0"/>
              </a:rPr>
              <a:t>Enterprise Tooling:</a:t>
            </a:r>
            <a:r>
              <a:rPr lang="en-IN" sz="1800" dirty="0">
                <a:latin typeface="Century Schoolbook" panose="02040604050505020304" pitchFamily="18" charset="0"/>
              </a:rPr>
              <a:t> AWS SageMaker Ground Truth, </a:t>
            </a:r>
            <a:r>
              <a:rPr lang="en-IN" sz="1800" dirty="0" err="1">
                <a:latin typeface="Century Schoolbook" panose="02040604050505020304" pitchFamily="18" charset="0"/>
              </a:rPr>
              <a:t>Labelbox</a:t>
            </a:r>
            <a:r>
              <a:rPr lang="en-IN" sz="1800" dirty="0">
                <a:latin typeface="Century Schoolbook" panose="02040604050505020304" pitchFamily="18" charset="0"/>
              </a:rPr>
              <a:t>, Scale AI. These tools provide infrastructure to manage annotator workforces and consensus scoring.</a:t>
            </a:r>
          </a:p>
        </p:txBody>
      </p:sp>
    </p:spTree>
    <p:extLst>
      <p:ext uri="{BB962C8B-B14F-4D97-AF65-F5344CB8AC3E}">
        <p14:creationId xmlns:p14="http://schemas.microsoft.com/office/powerpoint/2010/main" val="3617323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4834-3EBC-2242-39D8-D8F54A14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F92C-C4F8-599B-9047-6C0FCEA1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 dirty="0">
                <a:latin typeface="Elephant" panose="02020904090505020303" pitchFamily="18" charset="0"/>
              </a:rPr>
              <a:t>Data Governance, Privacy &amp; Compliance in AI</a:t>
            </a:r>
            <a:endParaRPr lang="en-IN" sz="4400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97AC3-D491-F48C-0D4C-2E335F8B8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400" dirty="0">
                <a:latin typeface="Century Schoolbook" panose="02040604050505020304" pitchFamily="18" charset="0"/>
              </a:rPr>
              <a:t>Governments and enterprises demand transparency and strict compliance (GDPR, CCPA, EU AI Act) for AI systems.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Lineage Tracking: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/>
            <a:r>
              <a:rPr lang="en-IN" sz="1600" dirty="0">
                <a:latin typeface="Century Schoolbook" panose="02040604050505020304" pitchFamily="18" charset="0"/>
              </a:rPr>
              <a:t>You must be able to trace a model prediction back to the exact version of the training dataset, features, and source system. (e.g., Databricks Unity </a:t>
            </a:r>
            <a:r>
              <a:rPr lang="en-IN" sz="1600" dirty="0" err="1">
                <a:latin typeface="Century Schoolbook" panose="02040604050505020304" pitchFamily="18" charset="0"/>
              </a:rPr>
              <a:t>Catalog</a:t>
            </a:r>
            <a:r>
              <a:rPr lang="en-IN" sz="1600" dirty="0">
                <a:latin typeface="Century Schoolbook" panose="02040604050505020304" pitchFamily="18" charset="0"/>
              </a:rPr>
              <a:t>, SageMaker ML Lineage Tracking).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Federated Governance (Data Mesh):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/>
            <a:r>
              <a:rPr lang="en-IN" sz="1600" dirty="0">
                <a:latin typeface="Century Schoolbook" panose="02040604050505020304" pitchFamily="18" charset="0"/>
              </a:rPr>
              <a:t>Decentralizing data ownership so domain teams own their data products, while enforcing global security policies centrally (AWS </a:t>
            </a:r>
            <a:r>
              <a:rPr lang="en-IN" sz="1600" dirty="0" err="1">
                <a:latin typeface="Century Schoolbook" panose="02040604050505020304" pitchFamily="18" charset="0"/>
              </a:rPr>
              <a:t>DataZone</a:t>
            </a:r>
            <a:r>
              <a:rPr lang="en-IN" sz="1600" dirty="0">
                <a:latin typeface="Century Schoolbook" panose="02040604050505020304" pitchFamily="18" charset="0"/>
              </a:rPr>
              <a:t>).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Privacy Architectures: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/>
            <a:r>
              <a:rPr lang="en-IN" sz="1600" b="1" dirty="0">
                <a:latin typeface="Century Schoolbook" panose="02040604050505020304" pitchFamily="18" charset="0"/>
              </a:rPr>
              <a:t>PII Masking/Tokenization:</a:t>
            </a:r>
            <a:r>
              <a:rPr lang="en-IN" sz="1600" dirty="0">
                <a:latin typeface="Century Schoolbook" panose="02040604050505020304" pitchFamily="18" charset="0"/>
              </a:rPr>
              <a:t> Automatically stripping Personally Identifiable Information before it hits the LLM or training cluster.</a:t>
            </a:r>
          </a:p>
          <a:p>
            <a:pPr lvl="1"/>
            <a:r>
              <a:rPr lang="en-IN" sz="1600" b="1" dirty="0">
                <a:latin typeface="Century Schoolbook" panose="02040604050505020304" pitchFamily="18" charset="0"/>
              </a:rPr>
              <a:t>Data Minimization:</a:t>
            </a:r>
            <a:r>
              <a:rPr lang="en-IN" sz="1600" dirty="0">
                <a:latin typeface="Century Schoolbook" panose="02040604050505020304" pitchFamily="18" charset="0"/>
              </a:rPr>
              <a:t> Only collecting the absolute minimum data required for the specific AI use case.</a:t>
            </a:r>
          </a:p>
        </p:txBody>
      </p:sp>
    </p:spTree>
    <p:extLst>
      <p:ext uri="{BB962C8B-B14F-4D97-AF65-F5344CB8AC3E}">
        <p14:creationId xmlns:p14="http://schemas.microsoft.com/office/powerpoint/2010/main" val="2818556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05793-1988-9C7C-A911-8ED0A1D2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3583-BCB7-7097-ED64-3C6E4BFE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 dirty="0">
                <a:latin typeface="Elephant" panose="02020904090505020303" pitchFamily="18" charset="0"/>
              </a:rPr>
              <a:t>Vector Databases &amp; Embeddings (Intro)</a:t>
            </a:r>
            <a:endParaRPr lang="en-IN" sz="4400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24DF4-8A61-735C-3078-8DA342A1E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400" dirty="0">
                <a:latin typeface="Century Schoolbook" panose="02040604050505020304" pitchFamily="18" charset="0"/>
              </a:rPr>
              <a:t>Traditional databases query via exact keyword matches. Vector databases query via semantic meaning.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What is an Embedding?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/>
            <a:r>
              <a:rPr lang="en-IN" sz="1600" dirty="0">
                <a:latin typeface="Century Schoolbook" panose="02040604050505020304" pitchFamily="18" charset="0"/>
              </a:rPr>
              <a:t>An embedding is a numerical representation of unstructured data (text, image, audio) stored as a high-dimensional array of floating-point numbers (e.g., [0.12, -0.45, 0.88... ]).</a:t>
            </a:r>
          </a:p>
          <a:p>
            <a:pPr lvl="1"/>
            <a:r>
              <a:rPr lang="en-IN" sz="1600" dirty="0">
                <a:latin typeface="Century Schoolbook" panose="02040604050505020304" pitchFamily="18" charset="0"/>
              </a:rPr>
              <a:t>Models like OpenAI's text-embedding-3 or </a:t>
            </a:r>
            <a:r>
              <a:rPr lang="en-IN" sz="1600" dirty="0" err="1">
                <a:latin typeface="Century Schoolbook" panose="02040604050505020304" pitchFamily="18" charset="0"/>
              </a:rPr>
              <a:t>HuggingFace</a:t>
            </a:r>
            <a:r>
              <a:rPr lang="en-IN" sz="1600" dirty="0">
                <a:latin typeface="Century Schoolbook" panose="02040604050505020304" pitchFamily="18" charset="0"/>
              </a:rPr>
              <a:t> transformers map words with similar meanings to nearby points in a multi-dimensional space.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What is a Vector Database?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/>
            <a:r>
              <a:rPr lang="en-IN" sz="1600" dirty="0">
                <a:latin typeface="Century Schoolbook" panose="02040604050505020304" pitchFamily="18" charset="0"/>
              </a:rPr>
              <a:t>A database purpose-built to store, index, and query these high-dimensional embeddings efficiently at scale (billions of vectors).</a:t>
            </a:r>
          </a:p>
          <a:p>
            <a:pPr lvl="1"/>
            <a:r>
              <a:rPr lang="en-IN" sz="1600" dirty="0">
                <a:latin typeface="Century Schoolbook" panose="02040604050505020304" pitchFamily="18" charset="0"/>
              </a:rPr>
              <a:t>Queries are executed using </a:t>
            </a:r>
            <a:r>
              <a:rPr lang="en-IN" sz="1600" b="1" dirty="0">
                <a:latin typeface="Century Schoolbook" panose="02040604050505020304" pitchFamily="18" charset="0"/>
              </a:rPr>
              <a:t>Vector Similarity Search</a:t>
            </a:r>
            <a:r>
              <a:rPr lang="en-IN" sz="1600" dirty="0">
                <a:latin typeface="Century Schoolbook" panose="02040604050505020304" pitchFamily="18" charset="0"/>
              </a:rPr>
              <a:t> (e.g., Cosine Similarity, Euclidean Distance).</a:t>
            </a:r>
          </a:p>
        </p:txBody>
      </p:sp>
    </p:spTree>
    <p:extLst>
      <p:ext uri="{BB962C8B-B14F-4D97-AF65-F5344CB8AC3E}">
        <p14:creationId xmlns:p14="http://schemas.microsoft.com/office/powerpoint/2010/main" val="902461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E5BEA-9DBC-6B98-792B-2F4F6160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F570-5A8B-4D4C-E207-3EB15E1E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 dirty="0">
                <a:latin typeface="Elephant" panose="02020904090505020303" pitchFamily="18" charset="0"/>
              </a:rPr>
              <a:t>Vector Database Architectures</a:t>
            </a:r>
            <a:endParaRPr lang="en-IN" sz="4400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48C34-4572-1494-068A-A4DF7EF48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7635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600" dirty="0">
                <a:latin typeface="Century Schoolbook" panose="02040604050505020304" pitchFamily="18" charset="0"/>
              </a:rPr>
              <a:t>You must evaluate deployment models and scalability when selecting a Vector DB.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A10B01-2BE1-2780-07E9-2312C0607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517531"/>
              </p:ext>
            </p:extLst>
          </p:nvPr>
        </p:nvGraphicFramePr>
        <p:xfrm>
          <a:off x="1097280" y="2487561"/>
          <a:ext cx="10058400" cy="34412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95081">
                  <a:extLst>
                    <a:ext uri="{9D8B030D-6E8A-4147-A177-3AD203B41FA5}">
                      <a16:colId xmlns:a16="http://schemas.microsoft.com/office/drawing/2014/main" val="752759413"/>
                    </a:ext>
                  </a:extLst>
                </a:gridCol>
                <a:gridCol w="4011562">
                  <a:extLst>
                    <a:ext uri="{9D8B030D-6E8A-4147-A177-3AD203B41FA5}">
                      <a16:colId xmlns:a16="http://schemas.microsoft.com/office/drawing/2014/main" val="2854637181"/>
                    </a:ext>
                  </a:extLst>
                </a:gridCol>
                <a:gridCol w="4351757">
                  <a:extLst>
                    <a:ext uri="{9D8B030D-6E8A-4147-A177-3AD203B41FA5}">
                      <a16:colId xmlns:a16="http://schemas.microsoft.com/office/drawing/2014/main" val="37863203"/>
                    </a:ext>
                  </a:extLst>
                </a:gridCol>
              </a:tblGrid>
              <a:tr h="505998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1" dirty="0">
                          <a:effectLst/>
                          <a:latin typeface="Century Schoolbook" panose="02040604050505020304" pitchFamily="18" charset="0"/>
                        </a:rPr>
                        <a:t>Feature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1" dirty="0">
                          <a:effectLst/>
                          <a:latin typeface="Century Schoolbook" panose="02040604050505020304" pitchFamily="18" charset="0"/>
                        </a:rPr>
                        <a:t>Milvus (Open Source / Distributed)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1" dirty="0">
                          <a:effectLst/>
                          <a:latin typeface="Century Schoolbook" panose="02040604050505020304" pitchFamily="18" charset="0"/>
                        </a:rPr>
                        <a:t>Pinecone (Serverless SaaS)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10501092"/>
                  </a:ext>
                </a:extLst>
              </a:tr>
              <a:tr h="70865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1" dirty="0">
                          <a:effectLst/>
                          <a:latin typeface="Century Schoolbook" panose="02040604050505020304" pitchFamily="18" charset="0"/>
                        </a:rPr>
                        <a:t>Architecture</a:t>
                      </a:r>
                      <a:endParaRPr lang="en-IN" sz="1600" b="0" dirty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Distributed compute &amp; storage layers (Scale-out)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Cloud-native, decoupled storage/compute, Pod &amp; Slab 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38034670"/>
                  </a:ext>
                </a:extLst>
              </a:tr>
              <a:tr h="70865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1">
                          <a:effectLst/>
                          <a:latin typeface="Century Schoolbook" panose="02040604050505020304" pitchFamily="18" charset="0"/>
                        </a:rPr>
                        <a:t>Deployment</a:t>
                      </a:r>
                      <a:endParaRPr lang="en-IN" sz="1600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On-Prem, Standalone, Cluster, </a:t>
                      </a:r>
                      <a:r>
                        <a:rPr lang="en-IN" sz="1600" b="0" dirty="0" err="1">
                          <a:effectLst/>
                          <a:latin typeface="Century Schoolbook" panose="02040604050505020304" pitchFamily="18" charset="0"/>
                        </a:rPr>
                        <a:t>Zilliz</a:t>
                      </a: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 Cloud (BYOC)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Fully Managed SaaS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6753011"/>
                  </a:ext>
                </a:extLst>
              </a:tr>
              <a:tr h="505998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1">
                          <a:effectLst/>
                          <a:latin typeface="Century Schoolbook" panose="02040604050505020304" pitchFamily="18" charset="0"/>
                        </a:rPr>
                        <a:t>Scaling</a:t>
                      </a:r>
                      <a:endParaRPr lang="en-IN" sz="1600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Horizontal (Scale out/in) + Vertical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Serverless Elasticity / Pod-based Vertical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23253359"/>
                  </a:ext>
                </a:extLst>
              </a:tr>
              <a:tr h="505998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1">
                          <a:effectLst/>
                          <a:latin typeface="Century Schoolbook" panose="02040604050505020304" pitchFamily="18" charset="0"/>
                        </a:rPr>
                        <a:t>Hardware</a:t>
                      </a:r>
                      <a:endParaRPr lang="en-IN" sz="1600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fr-FR" sz="1600" b="0" dirty="0">
                          <a:effectLst/>
                          <a:latin typeface="Century Schoolbook" panose="02040604050505020304" pitchFamily="18" charset="0"/>
                        </a:rPr>
                        <a:t>Supports CPU &amp; GPU </a:t>
                      </a:r>
                      <a:r>
                        <a:rPr lang="fr-FR" sz="1600" b="0" dirty="0" err="1">
                          <a:effectLst/>
                          <a:latin typeface="Century Schoolbook" panose="02040604050505020304" pitchFamily="18" charset="0"/>
                        </a:rPr>
                        <a:t>Acceleration</a:t>
                      </a:r>
                      <a:endParaRPr lang="fr-FR" sz="1600" b="0" dirty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CPU 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04922739"/>
                  </a:ext>
                </a:extLst>
              </a:tr>
              <a:tr h="505998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1">
                          <a:effectLst/>
                          <a:latin typeface="Century Schoolbook" panose="02040604050505020304" pitchFamily="18" charset="0"/>
                        </a:rPr>
                        <a:t>Metadata</a:t>
                      </a:r>
                      <a:endParaRPr lang="en-IN" sz="1600" b="0">
                        <a:effectLst/>
                        <a:latin typeface="Century Schoolbook" panose="020406040505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Complex JSON scalar fields 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Century Schoolbook" panose="02040604050505020304" pitchFamily="18" charset="0"/>
                        </a:rPr>
                        <a:t>Flat Key-Value metadata (up to 40KB)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26554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513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7950-758B-6151-0F2E-6BEE9C01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9A78-8810-1EC8-FA65-E11ADF05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 dirty="0">
                <a:latin typeface="Elephant" panose="02020904090505020303" pitchFamily="18" charset="0"/>
              </a:rPr>
              <a:t>Vector Indexing Strategies</a:t>
            </a:r>
            <a:endParaRPr lang="en-IN" sz="4400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B296-B5CF-B285-D97A-63133E508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400" dirty="0">
                <a:latin typeface="Century Schoolbook" panose="02040604050505020304" pitchFamily="18" charset="0"/>
              </a:rPr>
              <a:t>Searching across a billion vectors using a flat search (comparing the query vector to every stored vector) is too slow. Vector DBs use </a:t>
            </a:r>
            <a:r>
              <a:rPr lang="en-IN" sz="1400" b="1" dirty="0">
                <a:latin typeface="Century Schoolbook" panose="02040604050505020304" pitchFamily="18" charset="0"/>
              </a:rPr>
              <a:t>Approximate Nearest </a:t>
            </a:r>
            <a:r>
              <a:rPr lang="en-IN" sz="1400" b="1" dirty="0" err="1">
                <a:latin typeface="Century Schoolbook" panose="02040604050505020304" pitchFamily="18" charset="0"/>
              </a:rPr>
              <a:t>Neighbor</a:t>
            </a:r>
            <a:r>
              <a:rPr lang="en-IN" sz="1400" b="1" dirty="0">
                <a:latin typeface="Century Schoolbook" panose="02040604050505020304" pitchFamily="18" charset="0"/>
              </a:rPr>
              <a:t> (ANN) </a:t>
            </a:r>
            <a:r>
              <a:rPr lang="en-IN" sz="1400" dirty="0">
                <a:latin typeface="Century Schoolbook" panose="02040604050505020304" pitchFamily="18" charset="0"/>
              </a:rPr>
              <a:t>indexing algorithms.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800" b="1" dirty="0">
                <a:latin typeface="Century Schoolbook" panose="02040604050505020304" pitchFamily="18" charset="0"/>
              </a:rPr>
              <a:t>HNSW (Hierarchical Navigable Small World):</a:t>
            </a:r>
          </a:p>
          <a:p>
            <a:pPr lvl="1">
              <a:spcBef>
                <a:spcPts val="600"/>
              </a:spcBef>
            </a:pPr>
            <a:r>
              <a:rPr lang="en-IN" sz="1600" dirty="0">
                <a:latin typeface="Century Schoolbook" panose="02040604050505020304" pitchFamily="18" charset="0"/>
              </a:rPr>
              <a:t>Creates a multi-layered graph to quickly navigate to the closest vector </a:t>
            </a:r>
            <a:r>
              <a:rPr lang="en-IN" sz="1600" dirty="0" err="1">
                <a:latin typeface="Century Schoolbook" panose="02040604050505020304" pitchFamily="18" charset="0"/>
              </a:rPr>
              <a:t>neighborhood</a:t>
            </a:r>
            <a:r>
              <a:rPr lang="en-IN" sz="1600" dirty="0">
                <a:latin typeface="Century Schoolbook" panose="02040604050505020304" pitchFamily="18" charset="0"/>
              </a:rPr>
              <a:t>.</a:t>
            </a:r>
          </a:p>
          <a:p>
            <a:pPr lvl="1">
              <a:spcBef>
                <a:spcPts val="600"/>
              </a:spcBef>
            </a:pPr>
            <a:r>
              <a:rPr lang="en-IN" sz="1600" i="1" dirty="0">
                <a:latin typeface="Century Schoolbook" panose="02040604050505020304" pitchFamily="18" charset="0"/>
              </a:rPr>
              <a:t>Trade-off:</a:t>
            </a:r>
            <a:r>
              <a:rPr lang="en-IN" sz="1600" dirty="0">
                <a:latin typeface="Century Schoolbook" panose="02040604050505020304" pitchFamily="18" charset="0"/>
              </a:rPr>
              <a:t> Extremely fast and accurate, but heavily consumes RAM.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800" b="1" dirty="0">
                <a:latin typeface="Century Schoolbook" panose="02040604050505020304" pitchFamily="18" charset="0"/>
              </a:rPr>
              <a:t>IVF (Inverted File Index):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sz="1600" dirty="0">
                <a:latin typeface="Century Schoolbook" panose="02040604050505020304" pitchFamily="18" charset="0"/>
              </a:rPr>
              <a:t>Clusters vectors into buckets (Voronoi cells). The query only searches the closest buckets.</a:t>
            </a:r>
          </a:p>
          <a:p>
            <a:pPr lvl="1">
              <a:spcBef>
                <a:spcPts val="600"/>
              </a:spcBef>
            </a:pPr>
            <a:r>
              <a:rPr lang="en-IN" sz="1600" i="1" dirty="0">
                <a:latin typeface="Century Schoolbook" panose="02040604050505020304" pitchFamily="18" charset="0"/>
              </a:rPr>
              <a:t>Trade-off:</a:t>
            </a:r>
            <a:r>
              <a:rPr lang="en-IN" sz="1600" dirty="0">
                <a:latin typeface="Century Schoolbook" panose="02040604050505020304" pitchFamily="18" charset="0"/>
              </a:rPr>
              <a:t> Faster indexing, lower memory usage, but can miss edge-case similarities.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800" b="1" dirty="0" err="1">
                <a:latin typeface="Century Schoolbook" panose="02040604050505020304" pitchFamily="18" charset="0"/>
              </a:rPr>
              <a:t>DiskANN</a:t>
            </a:r>
            <a:r>
              <a:rPr lang="en-IN" sz="1800" b="1" dirty="0">
                <a:latin typeface="Century Schoolbook" panose="02040604050505020304" pitchFamily="18" charset="0"/>
              </a:rPr>
              <a:t>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IN" sz="1600" dirty="0">
                <a:latin typeface="Century Schoolbook" panose="02040604050505020304" pitchFamily="18" charset="0"/>
              </a:rPr>
              <a:t>Optimized for keeping the index on SSDs instead of RAM, allowing for massive cost savings on huge datasets while maintaining acceptable latency.</a:t>
            </a:r>
          </a:p>
        </p:txBody>
      </p:sp>
    </p:spTree>
    <p:extLst>
      <p:ext uri="{BB962C8B-B14F-4D97-AF65-F5344CB8AC3E}">
        <p14:creationId xmlns:p14="http://schemas.microsoft.com/office/powerpoint/2010/main" val="4020272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B07B-9247-1A28-C01F-5427012CD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F39C6-AFD6-20FB-EC47-A1E9C2AC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Data Architecture for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D6B01-A633-3ACB-4B39-011EF0ACB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400" dirty="0">
                <a:latin typeface="Century Schoolbook" panose="02040604050505020304" pitchFamily="18" charset="0"/>
              </a:rPr>
              <a:t>A proven data design pattern (popularized by Databricks) that organizes data logically, guaranteeing progressive data quality for ML workloads.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Bronze Layer (Raw Data):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/>
            <a:r>
              <a:rPr lang="en-IN" sz="1600" dirty="0">
                <a:latin typeface="Century Schoolbook" panose="02040604050505020304" pitchFamily="18" charset="0"/>
              </a:rPr>
              <a:t>Data is ingested in its raw, unprocessed state directly from source systems (JSON, CSV, CDC streams). Immutable history.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Silver Layer (Validated Data):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/>
            <a:r>
              <a:rPr lang="en-IN" sz="1600" dirty="0">
                <a:latin typeface="Century Schoolbook" panose="02040604050505020304" pitchFamily="18" charset="0"/>
              </a:rPr>
              <a:t>Data is cleaned, filtered, deduplicated, and transformed into a standardized schema (Parquet/Delta).</a:t>
            </a:r>
          </a:p>
          <a:p>
            <a:pPr lvl="1"/>
            <a:r>
              <a:rPr lang="en-IN" sz="1600" i="1" dirty="0">
                <a:latin typeface="Century Schoolbook" panose="02040604050505020304" pitchFamily="18" charset="0"/>
              </a:rPr>
              <a:t>AI Usage:</a:t>
            </a:r>
            <a:r>
              <a:rPr lang="en-IN" sz="1600" dirty="0">
                <a:latin typeface="Century Schoolbook" panose="02040604050505020304" pitchFamily="18" charset="0"/>
              </a:rPr>
              <a:t> Feature engineering source data, BI reporting.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Gold Layer (Enriched &amp; ML-Ready Data):</a:t>
            </a:r>
            <a:endParaRPr lang="en-IN" sz="1800" dirty="0">
              <a:latin typeface="Century Schoolbook" panose="02040604050505020304" pitchFamily="18" charset="0"/>
            </a:endParaRPr>
          </a:p>
          <a:p>
            <a:pPr lvl="1"/>
            <a:r>
              <a:rPr lang="en-IN" sz="1600" dirty="0">
                <a:latin typeface="Century Schoolbook" panose="02040604050505020304" pitchFamily="18" charset="0"/>
              </a:rPr>
              <a:t>Highly refined, aggregated data perfectly formatted for ML model training and Feature Store ingestion.</a:t>
            </a:r>
          </a:p>
        </p:txBody>
      </p:sp>
    </p:spTree>
    <p:extLst>
      <p:ext uri="{BB962C8B-B14F-4D97-AF65-F5344CB8AC3E}">
        <p14:creationId xmlns:p14="http://schemas.microsoft.com/office/powerpoint/2010/main" val="256638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EF52F-F338-F6FA-128A-A914E3B96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3DFC-D8B6-5F1F-CDB5-1FBE0B5E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RAG Architecture</a:t>
            </a:r>
            <a:br>
              <a:rPr lang="en-IN" sz="4400" dirty="0">
                <a:latin typeface="Elephant" panose="02020904090505020303" pitchFamily="18" charset="0"/>
              </a:rPr>
            </a:br>
            <a:r>
              <a:rPr lang="en-IN" sz="4400" dirty="0">
                <a:latin typeface="Elephant" panose="02020904090505020303" pitchFamily="18" charset="0"/>
              </a:rPr>
              <a:t>(Retrieval-Augmented Generation)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795E0-B889-0BEB-B05C-C1567978F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400" dirty="0">
                <a:latin typeface="Century Schoolbook" panose="02040604050505020304" pitchFamily="18" charset="0"/>
              </a:rPr>
              <a:t>RAG relies entirely on a robust unstructured data foundation to prevent LLM hallucinations.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Century Schoolbook" panose="02040604050505020304" pitchFamily="18" charset="0"/>
              </a:rPr>
              <a:t>Data Ingestion:</a:t>
            </a:r>
            <a:r>
              <a:rPr lang="en-IN" dirty="0">
                <a:latin typeface="Century Schoolbook" panose="02040604050505020304" pitchFamily="18" charset="0"/>
              </a:rPr>
              <a:t> Extract text from internal PDFs, Confluence, and databases.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Century Schoolbook" panose="02040604050505020304" pitchFamily="18" charset="0"/>
              </a:rPr>
              <a:t>Chunking &amp; Embedding:</a:t>
            </a:r>
            <a:r>
              <a:rPr lang="en-IN" dirty="0">
                <a:latin typeface="Century Schoolbook" panose="02040604050505020304" pitchFamily="18" charset="0"/>
              </a:rPr>
              <a:t> Split text into chunks, pass through an embedding model, and store vectors + metadata in a Vector DB (e.g., Pinecone/Milvus).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Century Schoolbook" panose="02040604050505020304" pitchFamily="18" charset="0"/>
              </a:rPr>
              <a:t>User Query:</a:t>
            </a:r>
            <a:r>
              <a:rPr lang="en-IN" dirty="0">
                <a:latin typeface="Century Schoolbook" panose="02040604050505020304" pitchFamily="18" charset="0"/>
              </a:rPr>
              <a:t> User asks an LLM a question. The query is converted into an embedding.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Century Schoolbook" panose="02040604050505020304" pitchFamily="18" charset="0"/>
              </a:rPr>
              <a:t>Retrieval:</a:t>
            </a:r>
            <a:r>
              <a:rPr lang="en-IN" dirty="0">
                <a:latin typeface="Century Schoolbook" panose="02040604050505020304" pitchFamily="18" charset="0"/>
              </a:rPr>
              <a:t> Vector DB performs similarity search and returns the top-K most relevant chunks.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Century Schoolbook" panose="02040604050505020304" pitchFamily="18" charset="0"/>
              </a:rPr>
              <a:t>Generation:</a:t>
            </a:r>
            <a:r>
              <a:rPr lang="en-IN" dirty="0">
                <a:latin typeface="Century Schoolbook" panose="02040604050505020304" pitchFamily="18" charset="0"/>
              </a:rPr>
              <a:t> The retrieved chunks are injected into the LLM prompt as context. The LLM generates a factual, grounded response.</a:t>
            </a:r>
          </a:p>
        </p:txBody>
      </p:sp>
    </p:spTree>
    <p:extLst>
      <p:ext uri="{BB962C8B-B14F-4D97-AF65-F5344CB8AC3E}">
        <p14:creationId xmlns:p14="http://schemas.microsoft.com/office/powerpoint/2010/main" val="3513238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D2C5-5084-709E-9C1E-CB602AF5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0346-D99F-6833-002D-F658D4B8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Elephant" panose="02020904090505020303" pitchFamily="18" charset="0"/>
              </a:rPr>
              <a:t>End-to-End AI Data Architecture Blueprint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B73D-2F69-0EA5-44A8-CEEC02305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9775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500" dirty="0">
                <a:latin typeface="Century Schoolbook" panose="02040604050505020304" pitchFamily="18" charset="0"/>
              </a:rPr>
              <a:t>Bringing it all together in a modern cloud-native ecosystem:</a:t>
            </a:r>
          </a:p>
          <a:p>
            <a:pPr marL="457200" indent="-4572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700" b="1" dirty="0">
                <a:latin typeface="Century Schoolbook" panose="02040604050505020304" pitchFamily="18" charset="0"/>
              </a:rPr>
              <a:t>Ingestion:</a:t>
            </a:r>
            <a:r>
              <a:rPr lang="en-IN" sz="1700" dirty="0">
                <a:latin typeface="Century Schoolbook" panose="02040604050505020304" pitchFamily="18" charset="0"/>
              </a:rPr>
              <a:t> Kinesis (Streaming) + AWS Glue (Batch) pulling from operational sources.</a:t>
            </a:r>
          </a:p>
          <a:p>
            <a:pPr marL="457200" indent="-4572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700" b="1" dirty="0">
                <a:latin typeface="Century Schoolbook" panose="02040604050505020304" pitchFamily="18" charset="0"/>
              </a:rPr>
              <a:t>Storage &amp; Processing:</a:t>
            </a:r>
            <a:r>
              <a:rPr lang="en-IN" sz="1700" dirty="0">
                <a:latin typeface="Century Schoolbook" panose="02040604050505020304" pitchFamily="18" charset="0"/>
              </a:rPr>
              <a:t> S3 + Delta Lake (Medallion Architecture) orchestrated by Airflow.</a:t>
            </a:r>
          </a:p>
          <a:p>
            <a:pPr marL="457200" indent="-4572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700" b="1" dirty="0">
                <a:latin typeface="Century Schoolbook" panose="02040604050505020304" pitchFamily="18" charset="0"/>
              </a:rPr>
              <a:t>Traditional ML:</a:t>
            </a:r>
            <a:endParaRPr lang="en-IN" sz="1700" dirty="0">
              <a:latin typeface="Century Schoolbook" panose="02040604050505020304" pitchFamily="18" charset="0"/>
            </a:endParaRPr>
          </a:p>
          <a:p>
            <a:pPr marL="720000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700" dirty="0">
                <a:latin typeface="Century Schoolbook" panose="02040604050505020304" pitchFamily="18" charset="0"/>
              </a:rPr>
              <a:t>Spark transformations feed into the </a:t>
            </a:r>
            <a:r>
              <a:rPr lang="en-IN" sz="1700" b="1" dirty="0">
                <a:latin typeface="Century Schoolbook" panose="02040604050505020304" pitchFamily="18" charset="0"/>
              </a:rPr>
              <a:t>Feature Store</a:t>
            </a:r>
            <a:r>
              <a:rPr lang="en-IN" sz="1700" dirty="0">
                <a:latin typeface="Century Schoolbook" panose="02040604050505020304" pitchFamily="18" charset="0"/>
              </a:rPr>
              <a:t> (SageMaker).</a:t>
            </a:r>
          </a:p>
          <a:p>
            <a:pPr marL="720000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700" dirty="0" err="1">
                <a:latin typeface="Century Schoolbook" panose="02040604050505020304" pitchFamily="18" charset="0"/>
              </a:rPr>
              <a:t>XGBoost</a:t>
            </a:r>
            <a:r>
              <a:rPr lang="en-IN" sz="1700" dirty="0">
                <a:latin typeface="Century Schoolbook" panose="02040604050505020304" pitchFamily="18" charset="0"/>
              </a:rPr>
              <a:t> model trains on historical offline features.</a:t>
            </a:r>
          </a:p>
          <a:p>
            <a:pPr marL="720000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700" dirty="0">
                <a:latin typeface="Century Schoolbook" panose="02040604050505020304" pitchFamily="18" charset="0"/>
              </a:rPr>
              <a:t>Inference endpoint queries DynamoDB (Online store) for real-time features.</a:t>
            </a:r>
          </a:p>
          <a:p>
            <a:pPr marL="457200" indent="-4572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700" b="1" dirty="0">
                <a:latin typeface="Century Schoolbook" panose="02040604050505020304" pitchFamily="18" charset="0"/>
              </a:rPr>
              <a:t>Generative AI:</a:t>
            </a:r>
            <a:endParaRPr lang="en-IN" sz="1700" dirty="0">
              <a:latin typeface="Century Schoolbook" panose="02040604050505020304" pitchFamily="18" charset="0"/>
            </a:endParaRPr>
          </a:p>
          <a:p>
            <a:pPr marL="720000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700" dirty="0">
                <a:latin typeface="Century Schoolbook" panose="02040604050505020304" pitchFamily="18" charset="0"/>
              </a:rPr>
              <a:t>Unstructured pipelines extract text and generate embeddings.</a:t>
            </a:r>
          </a:p>
          <a:p>
            <a:pPr marL="720000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700" dirty="0">
                <a:latin typeface="Century Schoolbook" panose="02040604050505020304" pitchFamily="18" charset="0"/>
              </a:rPr>
              <a:t>Embeddings stored in a </a:t>
            </a:r>
            <a:r>
              <a:rPr lang="en-IN" sz="1700" b="1" dirty="0">
                <a:latin typeface="Century Schoolbook" panose="02040604050505020304" pitchFamily="18" charset="0"/>
              </a:rPr>
              <a:t>Vector DB</a:t>
            </a:r>
            <a:r>
              <a:rPr lang="en-IN" sz="1700" dirty="0">
                <a:latin typeface="Century Schoolbook" panose="02040604050505020304" pitchFamily="18" charset="0"/>
              </a:rPr>
              <a:t> (Milvus/Pinecone).</a:t>
            </a:r>
          </a:p>
          <a:p>
            <a:pPr marL="720000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700" dirty="0">
                <a:latin typeface="Century Schoolbook" panose="02040604050505020304" pitchFamily="18" charset="0"/>
              </a:rPr>
              <a:t>LLM orchestration framework (</a:t>
            </a:r>
            <a:r>
              <a:rPr lang="en-IN" sz="1700" dirty="0" err="1">
                <a:latin typeface="Century Schoolbook" panose="02040604050505020304" pitchFamily="18" charset="0"/>
              </a:rPr>
              <a:t>LangChain</a:t>
            </a:r>
            <a:r>
              <a:rPr lang="en-IN" sz="1700" dirty="0">
                <a:latin typeface="Century Schoolbook" panose="02040604050505020304" pitchFamily="18" charset="0"/>
              </a:rPr>
              <a:t>/</a:t>
            </a:r>
            <a:r>
              <a:rPr lang="en-IN" sz="1700" dirty="0" err="1">
                <a:latin typeface="Century Schoolbook" panose="02040604050505020304" pitchFamily="18" charset="0"/>
              </a:rPr>
              <a:t>LlamaIndex</a:t>
            </a:r>
            <a:r>
              <a:rPr lang="en-IN" sz="1700" dirty="0">
                <a:latin typeface="Century Schoolbook" panose="02040604050505020304" pitchFamily="18" charset="0"/>
              </a:rPr>
              <a:t>) manages the RAG retrieval flow.</a:t>
            </a:r>
          </a:p>
          <a:p>
            <a:pPr marL="457200" indent="-4572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1700" b="1" dirty="0">
                <a:latin typeface="Century Schoolbook" panose="02040604050505020304" pitchFamily="18" charset="0"/>
              </a:rPr>
              <a:t>Governance across all layers:</a:t>
            </a:r>
            <a:r>
              <a:rPr lang="en-IN" sz="1700" dirty="0">
                <a:latin typeface="Century Schoolbook" panose="02040604050505020304" pitchFamily="18" charset="0"/>
              </a:rPr>
              <a:t> Unity </a:t>
            </a:r>
            <a:r>
              <a:rPr lang="en-IN" sz="1700" dirty="0" err="1">
                <a:latin typeface="Century Schoolbook" panose="02040604050505020304" pitchFamily="18" charset="0"/>
              </a:rPr>
              <a:t>Catalog</a:t>
            </a:r>
            <a:r>
              <a:rPr lang="en-IN" sz="1700" dirty="0">
                <a:latin typeface="Century Schoolbook" panose="02040604050505020304" pitchFamily="18" charset="0"/>
              </a:rPr>
              <a:t> or AWS </a:t>
            </a:r>
            <a:r>
              <a:rPr lang="en-IN" sz="1700" dirty="0" err="1">
                <a:latin typeface="Century Schoolbook" panose="02040604050505020304" pitchFamily="18" charset="0"/>
              </a:rPr>
              <a:t>DataZone</a:t>
            </a:r>
            <a:r>
              <a:rPr lang="en-IN" sz="1700" dirty="0">
                <a:latin typeface="Century Schoolbook" panose="02040604050505020304" pitchFamily="18" charset="0"/>
              </a:rPr>
              <a:t> enforcing RBAC and tracking lineage.</a:t>
            </a:r>
          </a:p>
        </p:txBody>
      </p:sp>
    </p:spTree>
    <p:extLst>
      <p:ext uri="{BB962C8B-B14F-4D97-AF65-F5344CB8AC3E}">
        <p14:creationId xmlns:p14="http://schemas.microsoft.com/office/powerpoint/2010/main" val="1768853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D53926-DAB6-3559-17ED-2315590188C7}"/>
              </a:ext>
            </a:extLst>
          </p:cNvPr>
          <p:cNvSpPr txBox="1"/>
          <p:nvPr/>
        </p:nvSpPr>
        <p:spPr>
          <a:xfrm>
            <a:off x="1681316" y="2644170"/>
            <a:ext cx="88293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Century Schoolbook" panose="020406040505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341150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D8DEE9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147</TotalTime>
  <Words>2180</Words>
  <Application>Microsoft Office PowerPoint</Application>
  <PresentationFormat>Widescreen</PresentationFormat>
  <Paragraphs>196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Century Schoolbook</vt:lpstr>
      <vt:lpstr>Consolas</vt:lpstr>
      <vt:lpstr>Elephant</vt:lpstr>
      <vt:lpstr>Retrospect</vt:lpstr>
      <vt:lpstr>Data Foundations for AI Systems</vt:lpstr>
      <vt:lpstr>Course Index</vt:lpstr>
      <vt:lpstr>The AI Data Landscape</vt:lpstr>
      <vt:lpstr>Streaming Data in AI Systems</vt:lpstr>
      <vt:lpstr>Data Pipelines Architecture (Batch)</vt:lpstr>
      <vt:lpstr>Data Pipelines Architecture  (Real-Time)</vt:lpstr>
      <vt:lpstr>Batch vs. Real-Time Pipeline Trade-offs</vt:lpstr>
      <vt:lpstr>Feature Engineering (High-Level)</vt:lpstr>
      <vt:lpstr>Feature Store Architecture</vt:lpstr>
      <vt:lpstr>Data Quality &amp; Validation Frameworks</vt:lpstr>
      <vt:lpstr>Data Labeling at Scale</vt:lpstr>
      <vt:lpstr>Data Governance, Privacy &amp; Compliance in AI</vt:lpstr>
      <vt:lpstr>Vector Databases &amp; Embeddings (Intro)</vt:lpstr>
      <vt:lpstr>Vector Database Architectures</vt:lpstr>
      <vt:lpstr>Vector Indexing Strategies</vt:lpstr>
      <vt:lpstr>Data Architecture for AI Systems</vt:lpstr>
      <vt:lpstr>RAG Architecture (Retrieval-Augmented Generation)</vt:lpstr>
      <vt:lpstr>End-to-End AI Data Architecture Blueprint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Rohilla</dc:creator>
  <cp:lastModifiedBy>Nitish Rohilla</cp:lastModifiedBy>
  <cp:revision>5</cp:revision>
  <dcterms:created xsi:type="dcterms:W3CDTF">2026-03-07T17:49:07Z</dcterms:created>
  <dcterms:modified xsi:type="dcterms:W3CDTF">2026-04-06T04:28:40Z</dcterms:modified>
</cp:coreProperties>
</file>
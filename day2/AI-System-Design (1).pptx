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embeddedFontLst>
    <p:embeddedFont>
      <p:font typeface="Inter Light" panose="020B0604020202020204" charset="0"/>
      <p:regular r:id="rId23"/>
    </p:embeddedFont>
    <p:embeddedFont>
      <p:font typeface="Montserrat Light" panose="00000400000000000000" pitchFamily="2" charset="0"/>
      <p:regular r:id="rId24"/>
    </p:embeddedFont>
    <p:embeddedFont>
      <p:font typeface="Montserrat Medium" panose="020F0502020204030204" pitchFamily="2"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3782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sv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696864"/>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AI System Design</a:t>
            </a:r>
            <a:endParaRPr lang="en-US" sz="2400" dirty="0"/>
          </a:p>
        </p:txBody>
      </p:sp>
      <p:sp>
        <p:nvSpPr>
          <p:cNvPr id="4" name="Text 1"/>
          <p:cNvSpPr/>
          <p:nvPr/>
        </p:nvSpPr>
        <p:spPr>
          <a:xfrm>
            <a:off x="3925119" y="2270447"/>
            <a:ext cx="4722763" cy="793849"/>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065609"/>
            <a:ext cx="4669706"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What Is AI System Design?</a:t>
            </a:r>
            <a:endParaRPr lang="en-US" sz="2400" dirty="0"/>
          </a:p>
        </p:txBody>
      </p:sp>
      <p:sp>
        <p:nvSpPr>
          <p:cNvPr id="3" name="Shape 1"/>
          <p:cNvSpPr/>
          <p:nvPr/>
        </p:nvSpPr>
        <p:spPr>
          <a:xfrm>
            <a:off x="406822" y="1639193"/>
            <a:ext cx="4103191" cy="2438623"/>
          </a:xfrm>
          <a:prstGeom prst="roundRect">
            <a:avLst>
              <a:gd name="adj" fmla="val 7325"/>
            </a:avLst>
          </a:prstGeom>
          <a:solidFill>
            <a:srgbClr val="F2F2F3"/>
          </a:solidFill>
          <a:ln/>
        </p:spPr>
      </p:sp>
      <p:sp>
        <p:nvSpPr>
          <p:cNvPr id="4" name="Text 2"/>
          <p:cNvSpPr/>
          <p:nvPr/>
        </p:nvSpPr>
        <p:spPr>
          <a:xfrm>
            <a:off x="530796" y="176316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Montserrat Medium" pitchFamily="34" charset="0"/>
                <a:ea typeface="Montserrat Medium" pitchFamily="34" charset="-122"/>
                <a:cs typeface="Montserrat Medium" pitchFamily="34" charset="-120"/>
              </a:rPr>
              <a:t>Core Definition</a:t>
            </a:r>
            <a:endParaRPr lang="en-US" sz="1200" dirty="0"/>
          </a:p>
        </p:txBody>
      </p:sp>
      <p:sp>
        <p:nvSpPr>
          <p:cNvPr id="5" name="Text 3"/>
          <p:cNvSpPr/>
          <p:nvPr/>
        </p:nvSpPr>
        <p:spPr>
          <a:xfrm>
            <a:off x="530796" y="2080989"/>
            <a:ext cx="3855244"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An AI system makes intelligent decisions based on data, learns from patterns, and improves over time. AI System Design focuses on architecting data ingestion, training, deployment, and inference layers for scalability, efficiency, and fault tolerance.</a:t>
            </a:r>
            <a:endParaRPr lang="en-US" sz="950" dirty="0"/>
          </a:p>
        </p:txBody>
      </p:sp>
      <p:sp>
        <p:nvSpPr>
          <p:cNvPr id="7" name="Text 5"/>
          <p:cNvSpPr/>
          <p:nvPr/>
        </p:nvSpPr>
        <p:spPr>
          <a:xfrm>
            <a:off x="4728046" y="2080989"/>
            <a:ext cx="392459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Distinguish between </a:t>
            </a:r>
            <a:r>
              <a:rPr lang="en-US" sz="950" b="1" dirty="0">
                <a:solidFill>
                  <a:srgbClr val="3D3E44"/>
                </a:solidFill>
                <a:latin typeface="Inter Light" pitchFamily="34" charset="0"/>
                <a:ea typeface="Inter Light" pitchFamily="34" charset="-122"/>
                <a:cs typeface="Inter Light" pitchFamily="34" charset="-120"/>
              </a:rPr>
              <a:t>Predictive AI</a:t>
            </a:r>
            <a:r>
              <a:rPr lang="en-US" sz="950" dirty="0">
                <a:solidFill>
                  <a:srgbClr val="3D3E44"/>
                </a:solidFill>
                <a:latin typeface="Inter Light" pitchFamily="34" charset="0"/>
                <a:ea typeface="Inter Light" pitchFamily="34" charset="-122"/>
                <a:cs typeface="Inter Light" pitchFamily="34" charset="-120"/>
              </a:rPr>
              <a:t> (ranking, classification) and </a:t>
            </a:r>
            <a:r>
              <a:rPr lang="en-US" sz="950" b="1" dirty="0">
                <a:solidFill>
                  <a:srgbClr val="3D3E44"/>
                </a:solidFill>
                <a:latin typeface="Inter Light" pitchFamily="34" charset="0"/>
                <a:ea typeface="Inter Light" pitchFamily="34" charset="-122"/>
                <a:cs typeface="Inter Light" pitchFamily="34" charset="-120"/>
              </a:rPr>
              <a:t>Generative/Agentic AI</a:t>
            </a:r>
            <a:r>
              <a:rPr lang="en-US" sz="950" dirty="0">
                <a:solidFill>
                  <a:srgbClr val="3D3E44"/>
                </a:solidFill>
                <a:latin typeface="Inter Light" pitchFamily="34" charset="0"/>
                <a:ea typeface="Inter Light" pitchFamily="34" charset="-122"/>
                <a:cs typeface="Inter Light" pitchFamily="34" charset="-120"/>
              </a:rPr>
              <a:t> (content creation, autonomous tasks). The architectural constraints for latency and cost differ significantly between them.</a:t>
            </a:r>
            <a:endParaRPr lang="en-US" sz="950" dirty="0"/>
          </a:p>
        </p:txBody>
      </p:sp>
      <p:sp>
        <p:nvSpPr>
          <p:cNvPr id="8" name="Shape 6"/>
          <p:cNvSpPr/>
          <p:nvPr/>
        </p:nvSpPr>
        <p:spPr>
          <a:xfrm>
            <a:off x="4728046" y="3014365"/>
            <a:ext cx="3924598" cy="923925"/>
          </a:xfrm>
          <a:prstGeom prst="roundRect">
            <a:avLst>
              <a:gd name="adj" fmla="val 12083"/>
            </a:avLst>
          </a:prstGeom>
          <a:solidFill>
            <a:srgbClr val="B6D6FC"/>
          </a:solidFill>
          <a:ln/>
        </p:spPr>
      </p:sp>
      <p:pic>
        <p:nvPicPr>
          <p:cNvPr id="9" name="Image 0" descr="preencoded.png"/>
          <p:cNvPicPr>
            <a:picLocks noChangeAspect="1"/>
          </p:cNvPicPr>
          <p:nvPr/>
        </p:nvPicPr>
        <p:blipFill>
          <a:blip r:embed="rId3"/>
          <a:stretch>
            <a:fillRect/>
          </a:stretch>
        </p:blipFill>
        <p:spPr>
          <a:xfrm>
            <a:off x="4852020" y="3203674"/>
            <a:ext cx="155004" cy="123974"/>
          </a:xfrm>
          <a:prstGeom prst="rect">
            <a:avLst/>
          </a:prstGeom>
        </p:spPr>
      </p:pic>
      <p:sp>
        <p:nvSpPr>
          <p:cNvPr id="10" name="Text 7"/>
          <p:cNvSpPr/>
          <p:nvPr/>
        </p:nvSpPr>
        <p:spPr>
          <a:xfrm>
            <a:off x="5130998" y="3169295"/>
            <a:ext cx="33976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Light" pitchFamily="34" charset="0"/>
                <a:ea typeface="Inter Light" pitchFamily="34" charset="-122"/>
                <a:cs typeface="Inter Light" pitchFamily="34" charset="-120"/>
              </a:rPr>
              <a:t>Modern systems go beyond prediction — they use ReAct (Reason-Act) loops to autonomously execute complex workflows.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83828"/>
            <a:ext cx="6692429"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The ML Pipeline: A High-Level Overview</a:t>
            </a:r>
            <a:endParaRPr lang="en-US" sz="2400" dirty="0"/>
          </a:p>
        </p:txBody>
      </p:sp>
      <p:sp>
        <p:nvSpPr>
          <p:cNvPr id="3" name="Text 1"/>
          <p:cNvSpPr/>
          <p:nvPr/>
        </p:nvSpPr>
        <p:spPr>
          <a:xfrm>
            <a:off x="496119" y="101939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Data flows from sources into ingestion, moves through a feature store, then splits into offline training and online inference pipelines — ultimately powering user-facing actions.</a:t>
            </a:r>
            <a:endParaRPr lang="en-US" sz="950" dirty="0"/>
          </a:p>
        </p:txBody>
      </p:sp>
      <p:pic>
        <p:nvPicPr>
          <p:cNvPr id="4" name="Image 0" descr="preencoded.png"/>
          <p:cNvPicPr>
            <a:picLocks noChangeAspect="1"/>
          </p:cNvPicPr>
          <p:nvPr/>
        </p:nvPicPr>
        <p:blipFill>
          <a:blip r:embed="rId3"/>
          <a:stretch>
            <a:fillRect/>
          </a:stretch>
        </p:blipFill>
        <p:spPr>
          <a:xfrm>
            <a:off x="496119" y="1555849"/>
            <a:ext cx="7584504" cy="2667298"/>
          </a:xfrm>
          <a:prstGeom prst="rect">
            <a:avLst/>
          </a:prstGeom>
        </p:spPr>
      </p:pic>
      <p:sp>
        <p:nvSpPr>
          <p:cNvPr id="5" name="Text 2"/>
          <p:cNvSpPr/>
          <p:nvPr/>
        </p:nvSpPr>
        <p:spPr>
          <a:xfrm>
            <a:off x="496119" y="4362673"/>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This ecosystem illustrates how raw data becomes predictions: ingested, processed, stored as features, trained offline, and served in real time.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18381"/>
            <a:ext cx="4830068"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Scoping the Problem Space</a:t>
            </a:r>
            <a:endParaRPr lang="en-US" sz="2400" dirty="0"/>
          </a:p>
        </p:txBody>
      </p:sp>
      <p:sp>
        <p:nvSpPr>
          <p:cNvPr id="4" name="Text 1"/>
          <p:cNvSpPr/>
          <p:nvPr/>
        </p:nvSpPr>
        <p:spPr>
          <a:xfrm>
            <a:off x="496119" y="1191964"/>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Before drawing a single box, always clarify constraints. </a:t>
            </a:r>
            <a:endParaRPr lang="en-US" sz="950" dirty="0"/>
          </a:p>
        </p:txBody>
      </p:sp>
      <p:sp>
        <p:nvSpPr>
          <p:cNvPr id="5" name="Shape 2"/>
          <p:cNvSpPr/>
          <p:nvPr/>
        </p:nvSpPr>
        <p:spPr>
          <a:xfrm>
            <a:off x="496119" y="1926878"/>
            <a:ext cx="1491555" cy="1532483"/>
          </a:xfrm>
          <a:prstGeom prst="roundRect">
            <a:avLst>
              <a:gd name="adj" fmla="val 7485"/>
            </a:avLst>
          </a:prstGeom>
          <a:solidFill>
            <a:srgbClr val="FFFFFF"/>
          </a:solidFill>
          <a:ln w="14288">
            <a:solidFill>
              <a:srgbClr val="C5C7D2"/>
            </a:solidFill>
            <a:prstDash val="solid"/>
          </a:ln>
        </p:spPr>
      </p:sp>
      <p:sp>
        <p:nvSpPr>
          <p:cNvPr id="6" name="Text 3"/>
          <p:cNvSpPr/>
          <p:nvPr/>
        </p:nvSpPr>
        <p:spPr>
          <a:xfrm>
            <a:off x="634380" y="2065139"/>
            <a:ext cx="1215033"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Data Types</a:t>
            </a:r>
            <a:endParaRPr lang="en-US" sz="1200" dirty="0"/>
          </a:p>
        </p:txBody>
      </p:sp>
      <p:sp>
        <p:nvSpPr>
          <p:cNvPr id="7" name="Text 4"/>
          <p:cNvSpPr/>
          <p:nvPr/>
        </p:nvSpPr>
        <p:spPr>
          <a:xfrm>
            <a:off x="634380" y="2333402"/>
            <a:ext cx="121503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Images, text, transactions — what format is the input?</a:t>
            </a:r>
            <a:endParaRPr lang="en-US" sz="950" dirty="0"/>
          </a:p>
        </p:txBody>
      </p:sp>
      <p:sp>
        <p:nvSpPr>
          <p:cNvPr id="8" name="Shape 5"/>
          <p:cNvSpPr/>
          <p:nvPr/>
        </p:nvSpPr>
        <p:spPr>
          <a:xfrm>
            <a:off x="2111648" y="1926878"/>
            <a:ext cx="1491630" cy="1532483"/>
          </a:xfrm>
          <a:prstGeom prst="roundRect">
            <a:avLst>
              <a:gd name="adj" fmla="val 7485"/>
            </a:avLst>
          </a:prstGeom>
          <a:solidFill>
            <a:srgbClr val="FFFFFF"/>
          </a:solidFill>
          <a:ln w="14288">
            <a:solidFill>
              <a:srgbClr val="C5C7D2"/>
            </a:solidFill>
            <a:prstDash val="solid"/>
          </a:ln>
        </p:spPr>
      </p:sp>
      <p:sp>
        <p:nvSpPr>
          <p:cNvPr id="9" name="Text 6"/>
          <p:cNvSpPr/>
          <p:nvPr/>
        </p:nvSpPr>
        <p:spPr>
          <a:xfrm>
            <a:off x="2249909" y="2065139"/>
            <a:ext cx="1215107"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Latency Needs</a:t>
            </a:r>
            <a:endParaRPr lang="en-US" sz="1200" dirty="0"/>
          </a:p>
        </p:txBody>
      </p:sp>
      <p:sp>
        <p:nvSpPr>
          <p:cNvPr id="10" name="Text 7"/>
          <p:cNvSpPr/>
          <p:nvPr/>
        </p:nvSpPr>
        <p:spPr>
          <a:xfrm>
            <a:off x="2249909" y="2333402"/>
            <a:ext cx="1215107"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What are the real-time prediction requirements?</a:t>
            </a:r>
            <a:endParaRPr lang="en-US" sz="950" dirty="0"/>
          </a:p>
        </p:txBody>
      </p:sp>
      <p:sp>
        <p:nvSpPr>
          <p:cNvPr id="11" name="Shape 8"/>
          <p:cNvSpPr/>
          <p:nvPr/>
        </p:nvSpPr>
        <p:spPr>
          <a:xfrm>
            <a:off x="3727252" y="1926878"/>
            <a:ext cx="1491630" cy="1532483"/>
          </a:xfrm>
          <a:prstGeom prst="roundRect">
            <a:avLst>
              <a:gd name="adj" fmla="val 7485"/>
            </a:avLst>
          </a:prstGeom>
          <a:solidFill>
            <a:srgbClr val="FFFFFF"/>
          </a:solidFill>
          <a:ln w="14288">
            <a:solidFill>
              <a:srgbClr val="C5C7D2"/>
            </a:solidFill>
            <a:prstDash val="solid"/>
          </a:ln>
        </p:spPr>
      </p:sp>
      <p:sp>
        <p:nvSpPr>
          <p:cNvPr id="12" name="Text 9"/>
          <p:cNvSpPr/>
          <p:nvPr/>
        </p:nvSpPr>
        <p:spPr>
          <a:xfrm>
            <a:off x="3865513" y="2065139"/>
            <a:ext cx="1215107"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Retraining Cadence</a:t>
            </a:r>
            <a:endParaRPr lang="en-US" sz="1200" dirty="0"/>
          </a:p>
        </p:txBody>
      </p:sp>
      <p:sp>
        <p:nvSpPr>
          <p:cNvPr id="13" name="Text 10"/>
          <p:cNvSpPr/>
          <p:nvPr/>
        </p:nvSpPr>
        <p:spPr>
          <a:xfrm>
            <a:off x="3865513" y="2527250"/>
            <a:ext cx="1215107"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How often does the model update and how is feedback incorporated?</a:t>
            </a:r>
            <a:endParaRPr lang="en-US" sz="950" dirty="0"/>
          </a:p>
        </p:txBody>
      </p:sp>
      <p:sp>
        <p:nvSpPr>
          <p:cNvPr id="14" name="Shape 11"/>
          <p:cNvSpPr/>
          <p:nvPr/>
        </p:nvSpPr>
        <p:spPr>
          <a:xfrm>
            <a:off x="496119" y="3583335"/>
            <a:ext cx="4722763" cy="941710"/>
          </a:xfrm>
          <a:prstGeom prst="roundRect">
            <a:avLst>
              <a:gd name="adj" fmla="val 11855"/>
            </a:avLst>
          </a:prstGeom>
          <a:solidFill>
            <a:srgbClr val="FFFFFF"/>
          </a:solidFill>
          <a:ln w="14288">
            <a:solidFill>
              <a:srgbClr val="C5C7D2"/>
            </a:solidFill>
            <a:prstDash val="solid"/>
          </a:ln>
        </p:spPr>
      </p:sp>
      <p:sp>
        <p:nvSpPr>
          <p:cNvPr id="15" name="Text 12"/>
          <p:cNvSpPr/>
          <p:nvPr/>
        </p:nvSpPr>
        <p:spPr>
          <a:xfrm>
            <a:off x="634380" y="372159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LLM Context</a:t>
            </a:r>
            <a:endParaRPr lang="en-US" sz="1200" dirty="0"/>
          </a:p>
        </p:txBody>
      </p:sp>
      <p:sp>
        <p:nvSpPr>
          <p:cNvPr id="16" name="Text 13"/>
          <p:cNvSpPr/>
          <p:nvPr/>
        </p:nvSpPr>
        <p:spPr>
          <a:xfrm>
            <a:off x="634380" y="3989859"/>
            <a:ext cx="4446240"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Context window limits and long-term memory requirements for session persistence.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773237"/>
            <a:ext cx="6156871"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Core Objectives of AI System Design</a:t>
            </a:r>
            <a:endParaRPr lang="en-US" sz="2400" dirty="0"/>
          </a:p>
        </p:txBody>
      </p:sp>
      <p:sp>
        <p:nvSpPr>
          <p:cNvPr id="3" name="Shape 1"/>
          <p:cNvSpPr/>
          <p:nvPr/>
        </p:nvSpPr>
        <p:spPr>
          <a:xfrm>
            <a:off x="496119" y="1408807"/>
            <a:ext cx="2634555" cy="1418704"/>
          </a:xfrm>
          <a:prstGeom prst="roundRect">
            <a:avLst>
              <a:gd name="adj" fmla="val 7869"/>
            </a:avLst>
          </a:prstGeom>
          <a:solidFill>
            <a:srgbClr val="EFF0F6"/>
          </a:solidFill>
          <a:ln w="4763">
            <a:solidFill>
              <a:srgbClr val="C5C7D2"/>
            </a:solidFill>
            <a:prstDash val="solid"/>
          </a:ln>
        </p:spPr>
      </p:sp>
      <p:pic>
        <p:nvPicPr>
          <p:cNvPr id="4" name="Image 0" descr="preencoded.png"/>
          <p:cNvPicPr>
            <a:picLocks noChangeAspect="1"/>
          </p:cNvPicPr>
          <p:nvPr/>
        </p:nvPicPr>
        <p:blipFill>
          <a:blip r:embed="rId3"/>
          <a:stretch>
            <a:fillRect/>
          </a:stretch>
        </p:blipFill>
        <p:spPr>
          <a:xfrm>
            <a:off x="624855" y="1537543"/>
            <a:ext cx="372070" cy="372070"/>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174" y="1639788"/>
            <a:ext cx="167432" cy="167432"/>
          </a:xfrm>
          <a:prstGeom prst="rect">
            <a:avLst/>
          </a:prstGeom>
        </p:spPr>
      </p:pic>
      <p:sp>
        <p:nvSpPr>
          <p:cNvPr id="6" name="Text 2"/>
          <p:cNvSpPr/>
          <p:nvPr/>
        </p:nvSpPr>
        <p:spPr>
          <a:xfrm>
            <a:off x="624855" y="203358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Accuracy</a:t>
            </a:r>
            <a:endParaRPr lang="en-US" sz="1200" dirty="0"/>
          </a:p>
        </p:txBody>
      </p:sp>
      <p:sp>
        <p:nvSpPr>
          <p:cNvPr id="7" name="Text 3"/>
          <p:cNvSpPr/>
          <p:nvPr/>
        </p:nvSpPr>
        <p:spPr>
          <a:xfrm>
            <a:off x="624855" y="2301850"/>
            <a:ext cx="237708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Reliable predictions; reduce hallucinations in generative models.</a:t>
            </a:r>
            <a:endParaRPr lang="en-US" sz="950" dirty="0"/>
          </a:p>
        </p:txBody>
      </p:sp>
      <p:sp>
        <p:nvSpPr>
          <p:cNvPr id="8" name="Shape 4"/>
          <p:cNvSpPr/>
          <p:nvPr/>
        </p:nvSpPr>
        <p:spPr>
          <a:xfrm>
            <a:off x="3254648" y="1408807"/>
            <a:ext cx="2634630" cy="1418704"/>
          </a:xfrm>
          <a:prstGeom prst="roundRect">
            <a:avLst>
              <a:gd name="adj" fmla="val 7869"/>
            </a:avLst>
          </a:prstGeom>
          <a:solidFill>
            <a:srgbClr val="EFF0F6"/>
          </a:solidFill>
          <a:ln w="4763">
            <a:solidFill>
              <a:srgbClr val="C5C7D2"/>
            </a:solidFill>
            <a:prstDash val="solid"/>
          </a:ln>
        </p:spPr>
      </p:sp>
      <p:pic>
        <p:nvPicPr>
          <p:cNvPr id="9" name="Image 2" descr="preencoded.png"/>
          <p:cNvPicPr>
            <a:picLocks noChangeAspect="1"/>
          </p:cNvPicPr>
          <p:nvPr/>
        </p:nvPicPr>
        <p:blipFill>
          <a:blip r:embed="rId5"/>
          <a:stretch>
            <a:fillRect/>
          </a:stretch>
        </p:blipFill>
        <p:spPr>
          <a:xfrm>
            <a:off x="3383384" y="1537543"/>
            <a:ext cx="372070" cy="372070"/>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85704" y="1639788"/>
            <a:ext cx="167432" cy="167432"/>
          </a:xfrm>
          <a:prstGeom prst="rect">
            <a:avLst/>
          </a:prstGeom>
        </p:spPr>
      </p:pic>
      <p:sp>
        <p:nvSpPr>
          <p:cNvPr id="11" name="Text 5"/>
          <p:cNvSpPr/>
          <p:nvPr/>
        </p:nvSpPr>
        <p:spPr>
          <a:xfrm>
            <a:off x="3383384" y="203358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Scalability</a:t>
            </a:r>
            <a:endParaRPr lang="en-US" sz="1200" dirty="0"/>
          </a:p>
        </p:txBody>
      </p:sp>
      <p:sp>
        <p:nvSpPr>
          <p:cNvPr id="12" name="Text 6"/>
          <p:cNvSpPr/>
          <p:nvPr/>
        </p:nvSpPr>
        <p:spPr>
          <a:xfrm>
            <a:off x="3383384" y="2301850"/>
            <a:ext cx="237715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Handle growing datasets via distributed training and sharding.</a:t>
            </a:r>
            <a:endParaRPr lang="en-US" sz="950" dirty="0"/>
          </a:p>
        </p:txBody>
      </p:sp>
      <p:sp>
        <p:nvSpPr>
          <p:cNvPr id="13" name="Shape 7"/>
          <p:cNvSpPr/>
          <p:nvPr/>
        </p:nvSpPr>
        <p:spPr>
          <a:xfrm>
            <a:off x="6013252" y="1408807"/>
            <a:ext cx="2634555" cy="1418704"/>
          </a:xfrm>
          <a:prstGeom prst="roundRect">
            <a:avLst>
              <a:gd name="adj" fmla="val 7869"/>
            </a:avLst>
          </a:prstGeom>
          <a:solidFill>
            <a:srgbClr val="EFF0F6"/>
          </a:solidFill>
          <a:ln w="4763">
            <a:solidFill>
              <a:srgbClr val="C5C7D2"/>
            </a:solidFill>
            <a:prstDash val="solid"/>
          </a:ln>
        </p:spPr>
      </p:sp>
      <p:pic>
        <p:nvPicPr>
          <p:cNvPr id="14" name="Image 4" descr="preencoded.png"/>
          <p:cNvPicPr>
            <a:picLocks noChangeAspect="1"/>
          </p:cNvPicPr>
          <p:nvPr/>
        </p:nvPicPr>
        <p:blipFill>
          <a:blip r:embed="rId7"/>
          <a:stretch>
            <a:fillRect/>
          </a:stretch>
        </p:blipFill>
        <p:spPr>
          <a:xfrm>
            <a:off x="6141988" y="1537543"/>
            <a:ext cx="372070" cy="372070"/>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4307" y="1639788"/>
            <a:ext cx="167432" cy="167432"/>
          </a:xfrm>
          <a:prstGeom prst="rect">
            <a:avLst/>
          </a:prstGeom>
        </p:spPr>
      </p:pic>
      <p:sp>
        <p:nvSpPr>
          <p:cNvPr id="16" name="Text 8"/>
          <p:cNvSpPr/>
          <p:nvPr/>
        </p:nvSpPr>
        <p:spPr>
          <a:xfrm>
            <a:off x="6141988" y="203358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Latency</a:t>
            </a:r>
            <a:endParaRPr lang="en-US" sz="1200" dirty="0"/>
          </a:p>
        </p:txBody>
      </p:sp>
      <p:sp>
        <p:nvSpPr>
          <p:cNvPr id="17" name="Text 9"/>
          <p:cNvSpPr/>
          <p:nvPr/>
        </p:nvSpPr>
        <p:spPr>
          <a:xfrm>
            <a:off x="6141988" y="2301850"/>
            <a:ext cx="237708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p99 under 200ms for ranking; streaming tokens for LLMs.</a:t>
            </a:r>
            <a:endParaRPr lang="en-US" sz="950" dirty="0"/>
          </a:p>
        </p:txBody>
      </p:sp>
      <p:sp>
        <p:nvSpPr>
          <p:cNvPr id="18" name="Shape 10"/>
          <p:cNvSpPr/>
          <p:nvPr/>
        </p:nvSpPr>
        <p:spPr>
          <a:xfrm>
            <a:off x="496119" y="2951485"/>
            <a:ext cx="4013820" cy="1418704"/>
          </a:xfrm>
          <a:prstGeom prst="roundRect">
            <a:avLst>
              <a:gd name="adj" fmla="val 7869"/>
            </a:avLst>
          </a:prstGeom>
          <a:solidFill>
            <a:srgbClr val="EFF0F6"/>
          </a:solidFill>
          <a:ln w="4763">
            <a:solidFill>
              <a:srgbClr val="C5C7D2"/>
            </a:solidFill>
            <a:prstDash val="solid"/>
          </a:ln>
        </p:spPr>
      </p:sp>
      <p:pic>
        <p:nvPicPr>
          <p:cNvPr id="19" name="Image 6" descr="preencoded.png"/>
          <p:cNvPicPr>
            <a:picLocks noChangeAspect="1"/>
          </p:cNvPicPr>
          <p:nvPr/>
        </p:nvPicPr>
        <p:blipFill>
          <a:blip r:embed="rId9"/>
          <a:stretch>
            <a:fillRect/>
          </a:stretch>
        </p:blipFill>
        <p:spPr>
          <a:xfrm>
            <a:off x="624855" y="3080221"/>
            <a:ext cx="372070" cy="372070"/>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7174" y="3182466"/>
            <a:ext cx="167432" cy="167432"/>
          </a:xfrm>
          <a:prstGeom prst="rect">
            <a:avLst/>
          </a:prstGeom>
        </p:spPr>
      </p:pic>
      <p:sp>
        <p:nvSpPr>
          <p:cNvPr id="21" name="Text 11"/>
          <p:cNvSpPr/>
          <p:nvPr/>
        </p:nvSpPr>
        <p:spPr>
          <a:xfrm>
            <a:off x="624855" y="357626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Adaptability</a:t>
            </a:r>
            <a:endParaRPr lang="en-US" sz="1200" dirty="0"/>
          </a:p>
        </p:txBody>
      </p:sp>
      <p:sp>
        <p:nvSpPr>
          <p:cNvPr id="22" name="Text 12"/>
          <p:cNvSpPr/>
          <p:nvPr/>
        </p:nvSpPr>
        <p:spPr>
          <a:xfrm>
            <a:off x="624855" y="3844528"/>
            <a:ext cx="3756347"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Learn from new data via feedback loops or online learning.</a:t>
            </a:r>
            <a:endParaRPr lang="en-US" sz="950" dirty="0"/>
          </a:p>
        </p:txBody>
      </p:sp>
      <p:sp>
        <p:nvSpPr>
          <p:cNvPr id="23" name="Shape 13"/>
          <p:cNvSpPr/>
          <p:nvPr/>
        </p:nvSpPr>
        <p:spPr>
          <a:xfrm>
            <a:off x="4633913" y="2951485"/>
            <a:ext cx="4013895" cy="1418704"/>
          </a:xfrm>
          <a:prstGeom prst="roundRect">
            <a:avLst>
              <a:gd name="adj" fmla="val 7869"/>
            </a:avLst>
          </a:prstGeom>
          <a:solidFill>
            <a:srgbClr val="EFF0F6"/>
          </a:solidFill>
          <a:ln w="4763">
            <a:solidFill>
              <a:srgbClr val="C5C7D2"/>
            </a:solidFill>
            <a:prstDash val="solid"/>
          </a:ln>
        </p:spPr>
      </p:sp>
      <p:pic>
        <p:nvPicPr>
          <p:cNvPr id="24" name="Image 8" descr="preencoded.png"/>
          <p:cNvPicPr>
            <a:picLocks noChangeAspect="1"/>
          </p:cNvPicPr>
          <p:nvPr/>
        </p:nvPicPr>
        <p:blipFill>
          <a:blip r:embed="rId11"/>
          <a:stretch>
            <a:fillRect/>
          </a:stretch>
        </p:blipFill>
        <p:spPr>
          <a:xfrm>
            <a:off x="4762649" y="3080221"/>
            <a:ext cx="372070" cy="372070"/>
          </a:xfrm>
          <a:prstGeom prst="rect">
            <a:avLst/>
          </a:prstGeom>
        </p:spPr>
      </p:pic>
      <p:pic>
        <p:nvPicPr>
          <p:cNvPr id="25"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64968" y="3182466"/>
            <a:ext cx="167432" cy="167432"/>
          </a:xfrm>
          <a:prstGeom prst="rect">
            <a:avLst/>
          </a:prstGeom>
        </p:spPr>
      </p:pic>
      <p:sp>
        <p:nvSpPr>
          <p:cNvPr id="26" name="Text 14"/>
          <p:cNvSpPr/>
          <p:nvPr/>
        </p:nvSpPr>
        <p:spPr>
          <a:xfrm>
            <a:off x="4762649" y="357626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Observability</a:t>
            </a:r>
            <a:endParaRPr lang="en-US" sz="1200" dirty="0"/>
          </a:p>
        </p:txBody>
      </p:sp>
      <p:sp>
        <p:nvSpPr>
          <p:cNvPr id="27" name="Text 15"/>
          <p:cNvSpPr/>
          <p:nvPr/>
        </p:nvSpPr>
        <p:spPr>
          <a:xfrm>
            <a:off x="4762649" y="3844528"/>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Track data drift, model bias, and enable auditing and explainability.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20390"/>
            <a:ext cx="7147917"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High-Level Architecture: Three Core Layers</a:t>
            </a:r>
            <a:endParaRPr lang="en-US" sz="2400" dirty="0"/>
          </a:p>
        </p:txBody>
      </p:sp>
      <p:sp>
        <p:nvSpPr>
          <p:cNvPr id="3" name="Text 1"/>
          <p:cNvSpPr/>
          <p:nvPr/>
        </p:nvSpPr>
        <p:spPr>
          <a:xfrm>
            <a:off x="496119" y="125596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 typical AI system is divided into three main layers — data, model, and serving — with an optional orchestration layer for multi-agent workflows.</a:t>
            </a:r>
            <a:endParaRPr lang="en-US" sz="950" dirty="0"/>
          </a:p>
        </p:txBody>
      </p:sp>
      <p:pic>
        <p:nvPicPr>
          <p:cNvPr id="4" name="Image 0" descr="preencoded.png"/>
          <p:cNvPicPr>
            <a:picLocks noChangeAspect="1"/>
          </p:cNvPicPr>
          <p:nvPr/>
        </p:nvPicPr>
        <p:blipFill>
          <a:blip r:embed="rId3"/>
          <a:stretch>
            <a:fillRect/>
          </a:stretch>
        </p:blipFill>
        <p:spPr>
          <a:xfrm>
            <a:off x="496119" y="1792412"/>
            <a:ext cx="7954714" cy="1470050"/>
          </a:xfrm>
          <a:prstGeom prst="rect">
            <a:avLst/>
          </a:prstGeom>
        </p:spPr>
      </p:pic>
      <p:sp>
        <p:nvSpPr>
          <p:cNvPr id="5" name="Shape 2"/>
          <p:cNvSpPr/>
          <p:nvPr/>
        </p:nvSpPr>
        <p:spPr>
          <a:xfrm>
            <a:off x="496119" y="3401988"/>
            <a:ext cx="8151763" cy="1121122"/>
          </a:xfrm>
          <a:prstGeom prst="roundRect">
            <a:avLst>
              <a:gd name="adj" fmla="val 9958"/>
            </a:avLst>
          </a:prstGeom>
          <a:solidFill>
            <a:srgbClr val="EFF0F6"/>
          </a:solidFill>
          <a:ln w="4763">
            <a:solidFill>
              <a:srgbClr val="C5C7D2"/>
            </a:solidFill>
            <a:prstDash val="solid"/>
          </a:ln>
        </p:spPr>
      </p:sp>
      <p:sp>
        <p:nvSpPr>
          <p:cNvPr id="6" name="Shape 3"/>
          <p:cNvSpPr/>
          <p:nvPr/>
        </p:nvSpPr>
        <p:spPr>
          <a:xfrm>
            <a:off x="500881" y="3406750"/>
            <a:ext cx="2714030" cy="1111597"/>
          </a:xfrm>
          <a:prstGeom prst="roundRect">
            <a:avLst>
              <a:gd name="adj" fmla="val 10043"/>
            </a:avLst>
          </a:prstGeom>
          <a:solidFill>
            <a:srgbClr val="EFF0F6"/>
          </a:solidFill>
          <a:ln/>
        </p:spPr>
      </p:sp>
      <p:sp>
        <p:nvSpPr>
          <p:cNvPr id="7" name="Text 4"/>
          <p:cNvSpPr/>
          <p:nvPr/>
        </p:nvSpPr>
        <p:spPr>
          <a:xfrm>
            <a:off x="624855" y="353072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Data Layer</a:t>
            </a:r>
            <a:endParaRPr lang="en-US" sz="1200" dirty="0"/>
          </a:p>
        </p:txBody>
      </p:sp>
      <p:sp>
        <p:nvSpPr>
          <p:cNvPr id="8" name="Text 5"/>
          <p:cNvSpPr/>
          <p:nvPr/>
        </p:nvSpPr>
        <p:spPr>
          <a:xfrm>
            <a:off x="624855" y="3798987"/>
            <a:ext cx="246608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Collection, storage, preprocessing, and feature store for offline/online consistency.</a:t>
            </a:r>
            <a:endParaRPr lang="en-US" sz="950" dirty="0"/>
          </a:p>
        </p:txBody>
      </p:sp>
      <p:sp>
        <p:nvSpPr>
          <p:cNvPr id="9" name="Shape 6"/>
          <p:cNvSpPr/>
          <p:nvPr/>
        </p:nvSpPr>
        <p:spPr>
          <a:xfrm>
            <a:off x="3214911" y="3406750"/>
            <a:ext cx="2714104" cy="1111597"/>
          </a:xfrm>
          <a:prstGeom prst="rect">
            <a:avLst/>
          </a:prstGeom>
          <a:solidFill>
            <a:srgbClr val="EFF0F6"/>
          </a:solidFill>
          <a:ln/>
        </p:spPr>
      </p:sp>
      <p:sp>
        <p:nvSpPr>
          <p:cNvPr id="10" name="Shape 7"/>
          <p:cNvSpPr/>
          <p:nvPr/>
        </p:nvSpPr>
        <p:spPr>
          <a:xfrm>
            <a:off x="3214911" y="3406750"/>
            <a:ext cx="14288" cy="1111597"/>
          </a:xfrm>
          <a:prstGeom prst="roundRect">
            <a:avLst>
              <a:gd name="adj" fmla="val 781369"/>
            </a:avLst>
          </a:prstGeom>
          <a:solidFill>
            <a:srgbClr val="C5C7D2"/>
          </a:solidFill>
          <a:ln/>
        </p:spPr>
      </p:sp>
      <p:sp>
        <p:nvSpPr>
          <p:cNvPr id="11" name="Text 8"/>
          <p:cNvSpPr/>
          <p:nvPr/>
        </p:nvSpPr>
        <p:spPr>
          <a:xfrm>
            <a:off x="3338885" y="353072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Model Layer</a:t>
            </a:r>
            <a:endParaRPr lang="en-US" sz="1200" dirty="0"/>
          </a:p>
        </p:txBody>
      </p:sp>
      <p:sp>
        <p:nvSpPr>
          <p:cNvPr id="12" name="Text 9"/>
          <p:cNvSpPr/>
          <p:nvPr/>
        </p:nvSpPr>
        <p:spPr>
          <a:xfrm>
            <a:off x="3338885" y="3798987"/>
            <a:ext cx="2466156"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Training, validation, feature engineering, distributed training (MoE), and model registry.</a:t>
            </a:r>
            <a:endParaRPr lang="en-US" sz="950" dirty="0"/>
          </a:p>
        </p:txBody>
      </p:sp>
      <p:sp>
        <p:nvSpPr>
          <p:cNvPr id="13" name="Shape 10"/>
          <p:cNvSpPr/>
          <p:nvPr/>
        </p:nvSpPr>
        <p:spPr>
          <a:xfrm>
            <a:off x="5929015" y="3406750"/>
            <a:ext cx="2714104" cy="1111597"/>
          </a:xfrm>
          <a:prstGeom prst="rect">
            <a:avLst/>
          </a:prstGeom>
          <a:solidFill>
            <a:srgbClr val="EFF0F6"/>
          </a:solidFill>
          <a:ln/>
        </p:spPr>
      </p:sp>
      <p:sp>
        <p:nvSpPr>
          <p:cNvPr id="14" name="Shape 11"/>
          <p:cNvSpPr/>
          <p:nvPr/>
        </p:nvSpPr>
        <p:spPr>
          <a:xfrm>
            <a:off x="5929015" y="3406750"/>
            <a:ext cx="14288" cy="1111597"/>
          </a:xfrm>
          <a:prstGeom prst="roundRect">
            <a:avLst>
              <a:gd name="adj" fmla="val 781369"/>
            </a:avLst>
          </a:prstGeom>
          <a:solidFill>
            <a:srgbClr val="C5C7D2"/>
          </a:solidFill>
          <a:ln/>
        </p:spPr>
      </p:sp>
      <p:sp>
        <p:nvSpPr>
          <p:cNvPr id="15" name="Text 12"/>
          <p:cNvSpPr/>
          <p:nvPr/>
        </p:nvSpPr>
        <p:spPr>
          <a:xfrm>
            <a:off x="6052989" y="353072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Serving Layer</a:t>
            </a:r>
            <a:endParaRPr lang="en-US" sz="1200" dirty="0"/>
          </a:p>
        </p:txBody>
      </p:sp>
      <p:sp>
        <p:nvSpPr>
          <p:cNvPr id="16" name="Text 13"/>
          <p:cNvSpPr/>
          <p:nvPr/>
        </p:nvSpPr>
        <p:spPr>
          <a:xfrm>
            <a:off x="6052989" y="3798987"/>
            <a:ext cx="2466156"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Real-time inference via APIs, monitoring, logging, feedback loops, and MCP for agentic systems.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65162" y="336277"/>
            <a:ext cx="5354017" cy="363364"/>
          </a:xfrm>
          <a:prstGeom prst="rect">
            <a:avLst/>
          </a:prstGeom>
          <a:noFill/>
          <a:ln/>
        </p:spPr>
        <p:txBody>
          <a:bodyPr wrap="none" lIns="0" tIns="0" rIns="0" bIns="0" rtlCol="0" anchor="t"/>
          <a:lstStyle/>
          <a:p>
            <a:pPr marL="0" indent="0" algn="l">
              <a:lnSpc>
                <a:spcPct val="104000"/>
              </a:lnSpc>
              <a:buNone/>
            </a:pPr>
            <a:r>
              <a:rPr lang="en-US" sz="2250" dirty="0">
                <a:solidFill>
                  <a:srgbClr val="74767D"/>
                </a:solidFill>
                <a:latin typeface="Montserrat Medium" pitchFamily="34" charset="0"/>
                <a:ea typeface="Montserrat Medium" pitchFamily="34" charset="-122"/>
                <a:cs typeface="Montserrat Medium" pitchFamily="34" charset="-120"/>
              </a:rPr>
              <a:t>Key Components of an AI System</a:t>
            </a:r>
            <a:endParaRPr lang="en-US" sz="2250" dirty="0"/>
          </a:p>
        </p:txBody>
      </p:sp>
      <p:sp>
        <p:nvSpPr>
          <p:cNvPr id="3" name="Text 1"/>
          <p:cNvSpPr/>
          <p:nvPr/>
        </p:nvSpPr>
        <p:spPr>
          <a:xfrm>
            <a:off x="465162" y="917674"/>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01</a:t>
            </a:r>
            <a:endParaRPr lang="en-US" sz="900" dirty="0"/>
          </a:p>
        </p:txBody>
      </p:sp>
      <p:pic>
        <p:nvPicPr>
          <p:cNvPr id="4" name="Image 0" descr="preencoded.png"/>
          <p:cNvPicPr>
            <a:picLocks noChangeAspect="1"/>
          </p:cNvPicPr>
          <p:nvPr/>
        </p:nvPicPr>
        <p:blipFill>
          <a:blip r:embed="rId3"/>
          <a:stretch>
            <a:fillRect/>
          </a:stretch>
        </p:blipFill>
        <p:spPr>
          <a:xfrm>
            <a:off x="465162" y="1100956"/>
            <a:ext cx="4052292" cy="14288"/>
          </a:xfrm>
          <a:prstGeom prst="rect">
            <a:avLst/>
          </a:prstGeom>
        </p:spPr>
      </p:pic>
      <p:sp>
        <p:nvSpPr>
          <p:cNvPr id="5" name="Text 2"/>
          <p:cNvSpPr/>
          <p:nvPr/>
        </p:nvSpPr>
        <p:spPr>
          <a:xfrm>
            <a:off x="465162" y="1187648"/>
            <a:ext cx="2320528"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Data Ingestion &amp; Preprocessing</a:t>
            </a:r>
            <a:endParaRPr lang="en-US" sz="1100" dirty="0"/>
          </a:p>
        </p:txBody>
      </p:sp>
      <p:sp>
        <p:nvSpPr>
          <p:cNvPr id="6" name="Text 3"/>
          <p:cNvSpPr/>
          <p:nvPr/>
        </p:nvSpPr>
        <p:spPr>
          <a:xfrm>
            <a:off x="465162" y="1434703"/>
            <a:ext cx="4052292"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Collect, clean, tokenize, and standardize data. Tools: Apache Kafka, Airflow, Spark.</a:t>
            </a:r>
            <a:endParaRPr lang="en-US" sz="900" dirty="0"/>
          </a:p>
        </p:txBody>
      </p:sp>
      <p:sp>
        <p:nvSpPr>
          <p:cNvPr id="7" name="Text 4"/>
          <p:cNvSpPr/>
          <p:nvPr/>
        </p:nvSpPr>
        <p:spPr>
          <a:xfrm>
            <a:off x="4626471" y="917674"/>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02</a:t>
            </a:r>
            <a:endParaRPr lang="en-US" sz="900" dirty="0"/>
          </a:p>
        </p:txBody>
      </p:sp>
      <p:pic>
        <p:nvPicPr>
          <p:cNvPr id="8" name="Image 1" descr="preencoded.png"/>
          <p:cNvPicPr>
            <a:picLocks noChangeAspect="1"/>
          </p:cNvPicPr>
          <p:nvPr/>
        </p:nvPicPr>
        <p:blipFill>
          <a:blip r:embed="rId3"/>
          <a:stretch>
            <a:fillRect/>
          </a:stretch>
        </p:blipFill>
        <p:spPr>
          <a:xfrm>
            <a:off x="4626471" y="1100956"/>
            <a:ext cx="4052367" cy="14288"/>
          </a:xfrm>
          <a:prstGeom prst="rect">
            <a:avLst/>
          </a:prstGeom>
        </p:spPr>
      </p:pic>
      <p:sp>
        <p:nvSpPr>
          <p:cNvPr id="9" name="Text 5"/>
          <p:cNvSpPr/>
          <p:nvPr/>
        </p:nvSpPr>
        <p:spPr>
          <a:xfrm>
            <a:off x="4626471" y="1187648"/>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Feature Store</a:t>
            </a:r>
            <a:endParaRPr lang="en-US" sz="1100" dirty="0"/>
          </a:p>
        </p:txBody>
      </p:sp>
      <p:sp>
        <p:nvSpPr>
          <p:cNvPr id="10" name="Text 6"/>
          <p:cNvSpPr/>
          <p:nvPr/>
        </p:nvSpPr>
        <p:spPr>
          <a:xfrm>
            <a:off x="4626471" y="1434703"/>
            <a:ext cx="4052367"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Ensures offline/online consistency. Tools: Feast, Redis (online), BigQuery (offline).</a:t>
            </a:r>
            <a:endParaRPr lang="en-US" sz="900" dirty="0"/>
          </a:p>
        </p:txBody>
      </p:sp>
      <p:sp>
        <p:nvSpPr>
          <p:cNvPr id="11" name="Text 7"/>
          <p:cNvSpPr/>
          <p:nvPr/>
        </p:nvSpPr>
        <p:spPr>
          <a:xfrm>
            <a:off x="465162" y="1991395"/>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03</a:t>
            </a:r>
            <a:endParaRPr lang="en-US" sz="900" dirty="0"/>
          </a:p>
        </p:txBody>
      </p:sp>
      <p:pic>
        <p:nvPicPr>
          <p:cNvPr id="12" name="Image 2" descr="preencoded.png"/>
          <p:cNvPicPr>
            <a:picLocks noChangeAspect="1"/>
          </p:cNvPicPr>
          <p:nvPr/>
        </p:nvPicPr>
        <p:blipFill>
          <a:blip r:embed="rId3"/>
          <a:stretch>
            <a:fillRect/>
          </a:stretch>
        </p:blipFill>
        <p:spPr>
          <a:xfrm>
            <a:off x="465162" y="2163068"/>
            <a:ext cx="4052292" cy="14288"/>
          </a:xfrm>
          <a:prstGeom prst="rect">
            <a:avLst/>
          </a:prstGeom>
        </p:spPr>
      </p:pic>
      <p:sp>
        <p:nvSpPr>
          <p:cNvPr id="13" name="Text 8"/>
          <p:cNvSpPr/>
          <p:nvPr/>
        </p:nvSpPr>
        <p:spPr>
          <a:xfrm>
            <a:off x="465162" y="2261369"/>
            <a:ext cx="1743447"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Model Training Pipeline</a:t>
            </a:r>
            <a:endParaRPr lang="en-US" sz="1100" dirty="0"/>
          </a:p>
        </p:txBody>
      </p:sp>
      <p:sp>
        <p:nvSpPr>
          <p:cNvPr id="14" name="Text 9"/>
          <p:cNvSpPr/>
          <p:nvPr/>
        </p:nvSpPr>
        <p:spPr>
          <a:xfrm>
            <a:off x="465162" y="2508424"/>
            <a:ext cx="4052292"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GPU/TPU-scale training with backpropagation. Tools: TensorFlow, PyTorch, Ray, Kubeflow.</a:t>
            </a:r>
            <a:endParaRPr lang="en-US" sz="900" dirty="0"/>
          </a:p>
        </p:txBody>
      </p:sp>
      <p:sp>
        <p:nvSpPr>
          <p:cNvPr id="15" name="Text 10"/>
          <p:cNvSpPr/>
          <p:nvPr/>
        </p:nvSpPr>
        <p:spPr>
          <a:xfrm>
            <a:off x="4626471" y="1991395"/>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04</a:t>
            </a:r>
            <a:endParaRPr lang="en-US" sz="900" dirty="0"/>
          </a:p>
        </p:txBody>
      </p:sp>
      <p:pic>
        <p:nvPicPr>
          <p:cNvPr id="16" name="Image 3" descr="preencoded.png"/>
          <p:cNvPicPr>
            <a:picLocks noChangeAspect="1"/>
          </p:cNvPicPr>
          <p:nvPr/>
        </p:nvPicPr>
        <p:blipFill>
          <a:blip r:embed="rId3"/>
          <a:stretch>
            <a:fillRect/>
          </a:stretch>
        </p:blipFill>
        <p:spPr>
          <a:xfrm>
            <a:off x="4626471" y="2163068"/>
            <a:ext cx="4052367" cy="14288"/>
          </a:xfrm>
          <a:prstGeom prst="rect">
            <a:avLst/>
          </a:prstGeom>
        </p:spPr>
      </p:pic>
      <p:sp>
        <p:nvSpPr>
          <p:cNvPr id="17" name="Text 11"/>
          <p:cNvSpPr/>
          <p:nvPr/>
        </p:nvSpPr>
        <p:spPr>
          <a:xfrm>
            <a:off x="4626471" y="2261369"/>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Model Registry</a:t>
            </a:r>
            <a:endParaRPr lang="en-US" sz="1100" dirty="0"/>
          </a:p>
        </p:txBody>
      </p:sp>
      <p:sp>
        <p:nvSpPr>
          <p:cNvPr id="18" name="Text 12"/>
          <p:cNvSpPr/>
          <p:nvPr/>
        </p:nvSpPr>
        <p:spPr>
          <a:xfrm>
            <a:off x="4626471" y="2508424"/>
            <a:ext cx="4052367"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Tracks versions, metadata, hyperparameters, and lineage. Tools: MLflow, SageMaker.</a:t>
            </a:r>
            <a:endParaRPr lang="en-US" sz="900" dirty="0"/>
          </a:p>
        </p:txBody>
      </p:sp>
      <p:sp>
        <p:nvSpPr>
          <p:cNvPr id="19" name="Text 13"/>
          <p:cNvSpPr/>
          <p:nvPr/>
        </p:nvSpPr>
        <p:spPr>
          <a:xfrm>
            <a:off x="465162" y="3065115"/>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05</a:t>
            </a:r>
            <a:endParaRPr lang="en-US" sz="900" dirty="0"/>
          </a:p>
        </p:txBody>
      </p:sp>
      <p:pic>
        <p:nvPicPr>
          <p:cNvPr id="20" name="Image 4" descr="preencoded.png"/>
          <p:cNvPicPr>
            <a:picLocks noChangeAspect="1"/>
          </p:cNvPicPr>
          <p:nvPr/>
        </p:nvPicPr>
        <p:blipFill>
          <a:blip r:embed="rId3"/>
          <a:stretch>
            <a:fillRect/>
          </a:stretch>
        </p:blipFill>
        <p:spPr>
          <a:xfrm>
            <a:off x="465162" y="3225180"/>
            <a:ext cx="4052292" cy="14288"/>
          </a:xfrm>
          <a:prstGeom prst="rect">
            <a:avLst/>
          </a:prstGeom>
        </p:spPr>
      </p:pic>
      <p:sp>
        <p:nvSpPr>
          <p:cNvPr id="21" name="Text 14"/>
          <p:cNvSpPr/>
          <p:nvPr/>
        </p:nvSpPr>
        <p:spPr>
          <a:xfrm>
            <a:off x="465162" y="3335089"/>
            <a:ext cx="1938338"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Model Serving &amp; Inference</a:t>
            </a:r>
            <a:endParaRPr lang="en-US" sz="1100" dirty="0"/>
          </a:p>
        </p:txBody>
      </p:sp>
      <p:sp>
        <p:nvSpPr>
          <p:cNvPr id="22" name="Text 15"/>
          <p:cNvSpPr/>
          <p:nvPr/>
        </p:nvSpPr>
        <p:spPr>
          <a:xfrm>
            <a:off x="465162" y="3582144"/>
            <a:ext cx="4052292"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Real-time deployment, scaling, routing. Tools: TensorFlow Serving, FastAPI, ONNX Runtime.</a:t>
            </a:r>
            <a:endParaRPr lang="en-US" sz="900" dirty="0"/>
          </a:p>
        </p:txBody>
      </p:sp>
      <p:sp>
        <p:nvSpPr>
          <p:cNvPr id="23" name="Text 16"/>
          <p:cNvSpPr/>
          <p:nvPr/>
        </p:nvSpPr>
        <p:spPr>
          <a:xfrm>
            <a:off x="4626471" y="3065115"/>
            <a:ext cx="232544" cy="145331"/>
          </a:xfrm>
          <a:prstGeom prst="rect">
            <a:avLst/>
          </a:prstGeom>
          <a:noFill/>
          <a:ln/>
        </p:spPr>
        <p:txBody>
          <a:bodyPr wrap="none" lIns="0" tIns="0" rIns="0" bIns="0" rtlCol="0" anchor="ctr"/>
          <a:lstStyle/>
          <a:p>
            <a:pPr marL="0" indent="0" algn="l">
              <a:lnSpc>
                <a:spcPct val="100000"/>
              </a:lnSpc>
              <a:buNone/>
            </a:pPr>
            <a:r>
              <a:rPr lang="en-US" sz="900" dirty="0">
                <a:solidFill>
                  <a:srgbClr val="3D3E44"/>
                </a:solidFill>
                <a:latin typeface="Montserrat Light" pitchFamily="34" charset="0"/>
                <a:ea typeface="Montserrat Light" pitchFamily="34" charset="-122"/>
                <a:cs typeface="Montserrat Light" pitchFamily="34" charset="-120"/>
              </a:rPr>
              <a:t>06</a:t>
            </a:r>
            <a:endParaRPr lang="en-US" sz="900" dirty="0"/>
          </a:p>
        </p:txBody>
      </p:sp>
      <p:pic>
        <p:nvPicPr>
          <p:cNvPr id="24" name="Image 5" descr="preencoded.png"/>
          <p:cNvPicPr>
            <a:picLocks noChangeAspect="1"/>
          </p:cNvPicPr>
          <p:nvPr/>
        </p:nvPicPr>
        <p:blipFill>
          <a:blip r:embed="rId3"/>
          <a:stretch>
            <a:fillRect/>
          </a:stretch>
        </p:blipFill>
        <p:spPr>
          <a:xfrm>
            <a:off x="4626471" y="3225180"/>
            <a:ext cx="4052367" cy="14288"/>
          </a:xfrm>
          <a:prstGeom prst="rect">
            <a:avLst/>
          </a:prstGeom>
        </p:spPr>
      </p:pic>
      <p:sp>
        <p:nvSpPr>
          <p:cNvPr id="25" name="Text 17"/>
          <p:cNvSpPr/>
          <p:nvPr/>
        </p:nvSpPr>
        <p:spPr>
          <a:xfrm>
            <a:off x="4626471" y="3335089"/>
            <a:ext cx="1719709" cy="181645"/>
          </a:xfrm>
          <a:prstGeom prst="rect">
            <a:avLst/>
          </a:prstGeom>
          <a:noFill/>
          <a:ln/>
        </p:spPr>
        <p:txBody>
          <a:bodyPr wrap="none" lIns="0" tIns="0" rIns="0" bIns="0" rtlCol="0" anchor="t"/>
          <a:lstStyle/>
          <a:p>
            <a:pPr marL="0" indent="0" algn="l">
              <a:lnSpc>
                <a:spcPct val="104000"/>
              </a:lnSpc>
              <a:buNone/>
            </a:pPr>
            <a:r>
              <a:rPr lang="en-US" sz="1100" dirty="0">
                <a:solidFill>
                  <a:srgbClr val="3D3E44"/>
                </a:solidFill>
                <a:latin typeface="Montserrat Medium" pitchFamily="34" charset="0"/>
                <a:ea typeface="Montserrat Medium" pitchFamily="34" charset="-122"/>
                <a:cs typeface="Montserrat Medium" pitchFamily="34" charset="-120"/>
              </a:rPr>
              <a:t>Monitoring &amp; Feedback</a:t>
            </a:r>
            <a:endParaRPr lang="en-US" sz="1100" dirty="0"/>
          </a:p>
        </p:txBody>
      </p:sp>
      <p:sp>
        <p:nvSpPr>
          <p:cNvPr id="26" name="Text 18"/>
          <p:cNvSpPr/>
          <p:nvPr/>
        </p:nvSpPr>
        <p:spPr>
          <a:xfrm>
            <a:off x="4626471" y="3582144"/>
            <a:ext cx="4052367"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D3E44"/>
                </a:solidFill>
                <a:latin typeface="Inter Light" pitchFamily="34" charset="0"/>
                <a:ea typeface="Inter Light" pitchFamily="34" charset="-122"/>
                <a:cs typeface="Inter Light" pitchFamily="34" charset="-120"/>
              </a:rPr>
              <a:t>Track drift, bias, and performance. Tools: Prometheus, Grafana, Evidently AI.</a:t>
            </a:r>
            <a:endParaRPr lang="en-US" sz="900" dirty="0"/>
          </a:p>
        </p:txBody>
      </p:sp>
      <p:sp>
        <p:nvSpPr>
          <p:cNvPr id="27" name="Shape 19"/>
          <p:cNvSpPr/>
          <p:nvPr/>
        </p:nvSpPr>
        <p:spPr>
          <a:xfrm>
            <a:off x="465162" y="4117628"/>
            <a:ext cx="8213675" cy="654695"/>
          </a:xfrm>
          <a:prstGeom prst="roundRect">
            <a:avLst>
              <a:gd name="adj" fmla="val 15987"/>
            </a:avLst>
          </a:prstGeom>
          <a:solidFill>
            <a:srgbClr val="FCF2B5"/>
          </a:solidFill>
          <a:ln/>
        </p:spPr>
      </p:sp>
      <p:pic>
        <p:nvPicPr>
          <p:cNvPr id="28" name="Image 6" descr="preencoded.png"/>
          <p:cNvPicPr>
            <a:picLocks noChangeAspect="1"/>
          </p:cNvPicPr>
          <p:nvPr/>
        </p:nvPicPr>
        <p:blipFill>
          <a:blip r:embed="rId4"/>
          <a:stretch>
            <a:fillRect/>
          </a:stretch>
        </p:blipFill>
        <p:spPr>
          <a:xfrm>
            <a:off x="581397" y="4289747"/>
            <a:ext cx="145331" cy="116235"/>
          </a:xfrm>
          <a:prstGeom prst="rect">
            <a:avLst/>
          </a:prstGeom>
        </p:spPr>
      </p:pic>
      <p:sp>
        <p:nvSpPr>
          <p:cNvPr id="29" name="Text 20"/>
          <p:cNvSpPr/>
          <p:nvPr/>
        </p:nvSpPr>
        <p:spPr>
          <a:xfrm>
            <a:off x="842963" y="4290492"/>
            <a:ext cx="7719640"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latin typeface="Inter Light" pitchFamily="34" charset="0"/>
                <a:ea typeface="Inter Light" pitchFamily="34" charset="-122"/>
                <a:cs typeface="Inter Light" pitchFamily="34" charset="-120"/>
              </a:rPr>
              <a:t>Watch out for training–serving skew: always use a unified feature store to ensure the same features are used in both training and real-time inference.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349" y="326529"/>
            <a:ext cx="5363989" cy="357336"/>
          </a:xfrm>
          <a:prstGeom prst="rect">
            <a:avLst/>
          </a:prstGeom>
          <a:noFill/>
          <a:ln/>
        </p:spPr>
        <p:txBody>
          <a:bodyPr wrap="none" lIns="0" tIns="0" rIns="0" bIns="0" rtlCol="0" anchor="t"/>
          <a:lstStyle/>
          <a:p>
            <a:pPr marL="0" indent="0" algn="l">
              <a:lnSpc>
                <a:spcPct val="104000"/>
              </a:lnSpc>
              <a:buNone/>
            </a:pPr>
            <a:r>
              <a:rPr lang="en-US" sz="2250" dirty="0">
                <a:solidFill>
                  <a:srgbClr val="74767D"/>
                </a:solidFill>
                <a:latin typeface="Montserrat Medium" pitchFamily="34" charset="0"/>
                <a:ea typeface="Montserrat Medium" pitchFamily="34" charset="-122"/>
                <a:cs typeface="Montserrat Medium" pitchFamily="34" charset="-120"/>
              </a:rPr>
              <a:t>Agentic AI &amp; Multi-Agent Patterns</a:t>
            </a:r>
            <a:endParaRPr lang="en-US" sz="2250" dirty="0"/>
          </a:p>
        </p:txBody>
      </p:sp>
      <p:pic>
        <p:nvPicPr>
          <p:cNvPr id="3" name="Image 0" descr="preencoded.png"/>
          <p:cNvPicPr>
            <a:picLocks noChangeAspect="1"/>
          </p:cNvPicPr>
          <p:nvPr/>
        </p:nvPicPr>
        <p:blipFill>
          <a:blip r:embed="rId3"/>
          <a:stretch>
            <a:fillRect/>
          </a:stretch>
        </p:blipFill>
        <p:spPr>
          <a:xfrm>
            <a:off x="457349" y="894680"/>
            <a:ext cx="2657401" cy="2616026"/>
          </a:xfrm>
          <a:prstGeom prst="rect">
            <a:avLst/>
          </a:prstGeom>
        </p:spPr>
      </p:pic>
      <p:sp>
        <p:nvSpPr>
          <p:cNvPr id="4" name="Text 1"/>
          <p:cNvSpPr/>
          <p:nvPr/>
        </p:nvSpPr>
        <p:spPr>
          <a:xfrm>
            <a:off x="457349" y="3734619"/>
            <a:ext cx="2537222" cy="178668"/>
          </a:xfrm>
          <a:prstGeom prst="rect">
            <a:avLst/>
          </a:prstGeom>
          <a:noFill/>
          <a:ln/>
        </p:spPr>
        <p:txBody>
          <a:bodyPr wrap="none" lIns="0" tIns="0" rIns="0" bIns="0" rtlCol="0" anchor="t"/>
          <a:lstStyle/>
          <a:p>
            <a:pPr marL="0" indent="0" algn="l">
              <a:lnSpc>
                <a:spcPct val="104000"/>
              </a:lnSpc>
              <a:buNone/>
            </a:pPr>
            <a:r>
              <a:rPr lang="en-US" sz="1100" dirty="0">
                <a:solidFill>
                  <a:srgbClr val="74767D"/>
                </a:solidFill>
                <a:latin typeface="Montserrat Medium" pitchFamily="34" charset="0"/>
                <a:ea typeface="Montserrat Medium" pitchFamily="34" charset="-122"/>
                <a:cs typeface="Montserrat Medium" pitchFamily="34" charset="-120"/>
              </a:rPr>
              <a:t>Orchestrator-Worker Pattern</a:t>
            </a:r>
            <a:endParaRPr lang="en-US" sz="1100" dirty="0"/>
          </a:p>
        </p:txBody>
      </p:sp>
      <p:sp>
        <p:nvSpPr>
          <p:cNvPr id="5" name="Text 2"/>
          <p:cNvSpPr/>
          <p:nvPr/>
        </p:nvSpPr>
        <p:spPr>
          <a:xfrm>
            <a:off x="457349" y="4018657"/>
            <a:ext cx="3975199"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3D3E44"/>
                </a:solidFill>
                <a:latin typeface="Inter Light" pitchFamily="34" charset="0"/>
                <a:ea typeface="Inter Light" pitchFamily="34" charset="-122"/>
                <a:cs typeface="Inter Light" pitchFamily="34" charset="-120"/>
              </a:rPr>
              <a:t>A central Orchestrator LLM breaks complex queries into subtasks and delegates them to specialized Worker agents (e.g., Coder Agent, Search Agent), then synthesizes results — more reliable than a single monolithic model.</a:t>
            </a:r>
            <a:endParaRPr lang="en-US" sz="900" dirty="0"/>
          </a:p>
        </p:txBody>
      </p:sp>
      <p:sp>
        <p:nvSpPr>
          <p:cNvPr id="6" name="Text 3"/>
          <p:cNvSpPr/>
          <p:nvPr/>
        </p:nvSpPr>
        <p:spPr>
          <a:xfrm>
            <a:off x="4716214" y="3734619"/>
            <a:ext cx="2658517" cy="178668"/>
          </a:xfrm>
          <a:prstGeom prst="rect">
            <a:avLst/>
          </a:prstGeom>
          <a:noFill/>
          <a:ln/>
        </p:spPr>
        <p:txBody>
          <a:bodyPr wrap="none" lIns="0" tIns="0" rIns="0" bIns="0" rtlCol="0" anchor="t"/>
          <a:lstStyle/>
          <a:p>
            <a:pPr marL="0" indent="0" algn="l">
              <a:lnSpc>
                <a:spcPct val="104000"/>
              </a:lnSpc>
              <a:buNone/>
            </a:pPr>
            <a:r>
              <a:rPr lang="en-US" sz="1100" dirty="0">
                <a:solidFill>
                  <a:srgbClr val="74767D"/>
                </a:solidFill>
                <a:latin typeface="Montserrat Medium" pitchFamily="34" charset="0"/>
                <a:ea typeface="Montserrat Medium" pitchFamily="34" charset="-122"/>
                <a:cs typeface="Montserrat Medium" pitchFamily="34" charset="-120"/>
              </a:rPr>
              <a:t>Reasoning Patterns &amp; Memory</a:t>
            </a:r>
            <a:endParaRPr lang="en-US" sz="1100" dirty="0"/>
          </a:p>
        </p:txBody>
      </p:sp>
      <p:sp>
        <p:nvSpPr>
          <p:cNvPr id="7" name="Text 4"/>
          <p:cNvSpPr/>
          <p:nvPr/>
        </p:nvSpPr>
        <p:spPr>
          <a:xfrm>
            <a:off x="4716214" y="4018657"/>
            <a:ext cx="3975199" cy="703362"/>
          </a:xfrm>
          <a:prstGeom prst="rect">
            <a:avLst/>
          </a:prstGeom>
          <a:noFill/>
          <a:ln/>
        </p:spPr>
        <p:txBody>
          <a:bodyPr wrap="square" lIns="0" tIns="0" rIns="0" bIns="0" rtlCol="0" anchor="t">
            <a:normAutofit/>
          </a:bodyPr>
          <a:lstStyle/>
          <a:p>
            <a:pPr marL="0" indent="0" algn="l">
              <a:lnSpc>
                <a:spcPct val="128000"/>
              </a:lnSpc>
              <a:buNone/>
            </a:pPr>
            <a:r>
              <a:rPr lang="en-US" sz="900" b="1" dirty="0">
                <a:solidFill>
                  <a:srgbClr val="3D3E44"/>
                </a:solidFill>
                <a:latin typeface="Inter Light" pitchFamily="34" charset="0"/>
                <a:ea typeface="Inter Light" pitchFamily="34" charset="-122"/>
                <a:cs typeface="Inter Light" pitchFamily="34" charset="-120"/>
              </a:rPr>
              <a:t>ReAct loops</a:t>
            </a:r>
            <a:r>
              <a:rPr lang="en-US" sz="900" dirty="0">
                <a:solidFill>
                  <a:srgbClr val="3D3E44"/>
                </a:solidFill>
                <a:latin typeface="Inter Light" pitchFamily="34" charset="0"/>
                <a:ea typeface="Inter Light" pitchFamily="34" charset="-122"/>
                <a:cs typeface="Inter Light" pitchFamily="34" charset="-120"/>
              </a:rPr>
              <a:t> let models reason before acting. </a:t>
            </a:r>
            <a:r>
              <a:rPr lang="en-US" sz="900" b="1" dirty="0">
                <a:solidFill>
                  <a:srgbClr val="3D3E44"/>
                </a:solidFill>
                <a:latin typeface="Inter Light" pitchFamily="34" charset="0"/>
                <a:ea typeface="Inter Light" pitchFamily="34" charset="-122"/>
                <a:cs typeface="Inter Light" pitchFamily="34" charset="-120"/>
              </a:rPr>
              <a:t>Tree-of-Thought / Graph-of-Thought</a:t>
            </a:r>
            <a:r>
              <a:rPr lang="en-US" sz="900" dirty="0">
                <a:solidFill>
                  <a:srgbClr val="3D3E44"/>
                </a:solidFill>
                <a:latin typeface="Inter Light" pitchFamily="34" charset="0"/>
                <a:ea typeface="Inter Light" pitchFamily="34" charset="-122"/>
                <a:cs typeface="Inter Light" pitchFamily="34" charset="-120"/>
              </a:rPr>
              <a:t> explore multiple paths for complex challenges. Agents also need </a:t>
            </a:r>
            <a:r>
              <a:rPr lang="en-US" sz="900" b="1" dirty="0">
                <a:solidFill>
                  <a:srgbClr val="3D3E44"/>
                </a:solidFill>
                <a:latin typeface="Inter Light" pitchFamily="34" charset="0"/>
                <a:ea typeface="Inter Light" pitchFamily="34" charset="-122"/>
                <a:cs typeface="Inter Light" pitchFamily="34" charset="-120"/>
              </a:rPr>
              <a:t>short-term memory</a:t>
            </a:r>
            <a:r>
              <a:rPr lang="en-US" sz="900" dirty="0">
                <a:solidFill>
                  <a:srgbClr val="3D3E44"/>
                </a:solidFill>
                <a:latin typeface="Inter Light" pitchFamily="34" charset="0"/>
                <a:ea typeface="Inter Light" pitchFamily="34" charset="-122"/>
                <a:cs typeface="Inter Light" pitchFamily="34" charset="-120"/>
              </a:rPr>
              <a:t> (session context) and </a:t>
            </a:r>
            <a:r>
              <a:rPr lang="en-US" sz="900" b="1" dirty="0">
                <a:solidFill>
                  <a:srgbClr val="3D3E44"/>
                </a:solidFill>
                <a:latin typeface="Inter Light" pitchFamily="34" charset="0"/>
                <a:ea typeface="Inter Light" pitchFamily="34" charset="-122"/>
                <a:cs typeface="Inter Light" pitchFamily="34" charset="-120"/>
              </a:rPr>
              <a:t>long-term memory</a:t>
            </a:r>
            <a:r>
              <a:rPr lang="en-US" sz="900" dirty="0">
                <a:solidFill>
                  <a:srgbClr val="3D3E44"/>
                </a:solidFill>
                <a:latin typeface="Inter Light" pitchFamily="34" charset="0"/>
                <a:ea typeface="Inter Light" pitchFamily="34" charset="-122"/>
                <a:cs typeface="Inter Light" pitchFamily="34" charset="-120"/>
              </a:rPr>
              <a:t> in a vector database for personalized, coherent responses.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03759" y="257249"/>
            <a:ext cx="4049092" cy="290736"/>
          </a:xfrm>
          <a:prstGeom prst="rect">
            <a:avLst/>
          </a:prstGeom>
          <a:noFill/>
          <a:ln/>
        </p:spPr>
        <p:txBody>
          <a:bodyPr wrap="none" lIns="0" tIns="0" rIns="0" bIns="0" rtlCol="0" anchor="t"/>
          <a:lstStyle/>
          <a:p>
            <a:pPr marL="0" indent="0" algn="l">
              <a:lnSpc>
                <a:spcPct val="104000"/>
              </a:lnSpc>
              <a:buNone/>
            </a:pPr>
            <a:r>
              <a:rPr lang="en-US" sz="1800" dirty="0">
                <a:solidFill>
                  <a:srgbClr val="74767D"/>
                </a:solidFill>
                <a:latin typeface="Montserrat Medium" pitchFamily="34" charset="0"/>
                <a:ea typeface="Montserrat Medium" pitchFamily="34" charset="-122"/>
                <a:cs typeface="Montserrat Medium" pitchFamily="34" charset="-120"/>
              </a:rPr>
              <a:t>Offline vs. Online Components</a:t>
            </a:r>
            <a:endParaRPr lang="en-US" sz="1800" dirty="0"/>
          </a:p>
        </p:txBody>
      </p:sp>
      <p:pic>
        <p:nvPicPr>
          <p:cNvPr id="3" name="Image 0" descr="preencoded.png"/>
          <p:cNvPicPr>
            <a:picLocks noChangeAspect="1"/>
          </p:cNvPicPr>
          <p:nvPr/>
        </p:nvPicPr>
        <p:blipFill>
          <a:blip r:embed="rId3"/>
          <a:stretch>
            <a:fillRect/>
          </a:stretch>
        </p:blipFill>
        <p:spPr>
          <a:xfrm>
            <a:off x="903759" y="687512"/>
            <a:ext cx="6553200" cy="3657600"/>
          </a:xfrm>
          <a:prstGeom prst="rect">
            <a:avLst/>
          </a:prstGeom>
        </p:spPr>
      </p:pic>
      <p:pic>
        <p:nvPicPr>
          <p:cNvPr id="4" name="Image 1" descr="preencoded.png"/>
          <p:cNvPicPr>
            <a:picLocks noChangeAspect="1"/>
          </p:cNvPicPr>
          <p:nvPr/>
        </p:nvPicPr>
        <p:blipFill>
          <a:blip r:embed="rId4"/>
          <a:stretch>
            <a:fillRect/>
          </a:stretch>
        </p:blipFill>
        <p:spPr>
          <a:xfrm>
            <a:off x="903759" y="687512"/>
            <a:ext cx="6553200" cy="3657600"/>
          </a:xfrm>
          <a:prstGeom prst="rect">
            <a:avLst/>
          </a:prstGeom>
        </p:spPr>
      </p:pic>
      <p:sp>
        <p:nvSpPr>
          <p:cNvPr id="5" name="Shape 1"/>
          <p:cNvSpPr/>
          <p:nvPr/>
        </p:nvSpPr>
        <p:spPr>
          <a:xfrm>
            <a:off x="903759" y="4423544"/>
            <a:ext cx="7336408" cy="462632"/>
          </a:xfrm>
          <a:prstGeom prst="roundRect">
            <a:avLst>
              <a:gd name="adj" fmla="val 18099"/>
            </a:avLst>
          </a:prstGeom>
          <a:solidFill>
            <a:srgbClr val="B6D6FC"/>
          </a:solidFill>
          <a:ln/>
        </p:spPr>
      </p:sp>
      <p:pic>
        <p:nvPicPr>
          <p:cNvPr id="6" name="Image 2" descr="preencoded.png"/>
          <p:cNvPicPr>
            <a:picLocks noChangeAspect="1"/>
          </p:cNvPicPr>
          <p:nvPr/>
        </p:nvPicPr>
        <p:blipFill>
          <a:blip r:embed="rId5"/>
          <a:stretch>
            <a:fillRect/>
          </a:stretch>
        </p:blipFill>
        <p:spPr>
          <a:xfrm>
            <a:off x="996776" y="4553620"/>
            <a:ext cx="116235" cy="93018"/>
          </a:xfrm>
          <a:prstGeom prst="rect">
            <a:avLst/>
          </a:prstGeom>
        </p:spPr>
      </p:pic>
      <p:sp>
        <p:nvSpPr>
          <p:cNvPr id="7" name="Text 2"/>
          <p:cNvSpPr/>
          <p:nvPr/>
        </p:nvSpPr>
        <p:spPr>
          <a:xfrm>
            <a:off x="1206029" y="4516487"/>
            <a:ext cx="694112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Inter Light" pitchFamily="34" charset="0"/>
                <a:ea typeface="Inter Light" pitchFamily="34" charset="-122"/>
                <a:cs typeface="Inter Light" pitchFamily="34" charset="-120"/>
              </a:rPr>
              <a:t>Use batch–stream hybrid architectures (Lambda or Kappa-style) to merge batch and streaming views, giving your model access to both historical depth and real-time freshness.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780976"/>
            <a:ext cx="4478387"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Scalability &amp; Performance</a:t>
            </a:r>
            <a:endParaRPr lang="en-US" sz="24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354559"/>
            <a:ext cx="310083" cy="310083"/>
          </a:xfrm>
          <a:prstGeom prst="rect">
            <a:avLst/>
          </a:prstGeom>
        </p:spPr>
      </p:pic>
      <p:sp>
        <p:nvSpPr>
          <p:cNvPr id="5" name="Text 1"/>
          <p:cNvSpPr/>
          <p:nvPr/>
        </p:nvSpPr>
        <p:spPr>
          <a:xfrm>
            <a:off x="961206" y="135455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Data Sharding</a:t>
            </a:r>
            <a:endParaRPr lang="en-US" sz="1200" dirty="0"/>
          </a:p>
        </p:txBody>
      </p:sp>
      <p:sp>
        <p:nvSpPr>
          <p:cNvPr id="6" name="Text 2"/>
          <p:cNvSpPr/>
          <p:nvPr/>
        </p:nvSpPr>
        <p:spPr>
          <a:xfrm>
            <a:off x="961206" y="1622822"/>
            <a:ext cx="4257675"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Partition data across nodes so no single machine becomes a bottleneck.</a:t>
            </a:r>
            <a:endParaRPr lang="en-US" sz="9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069306"/>
            <a:ext cx="310083" cy="310083"/>
          </a:xfrm>
          <a:prstGeom prst="rect">
            <a:avLst/>
          </a:prstGeom>
        </p:spPr>
      </p:pic>
      <p:sp>
        <p:nvSpPr>
          <p:cNvPr id="8" name="Text 3"/>
          <p:cNvSpPr/>
          <p:nvPr/>
        </p:nvSpPr>
        <p:spPr>
          <a:xfrm>
            <a:off x="961206" y="2069306"/>
            <a:ext cx="1576239"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Distributed Training</a:t>
            </a:r>
            <a:endParaRPr lang="en-US" sz="1200" dirty="0"/>
          </a:p>
        </p:txBody>
      </p:sp>
      <p:sp>
        <p:nvSpPr>
          <p:cNvPr id="9" name="Text 4"/>
          <p:cNvSpPr/>
          <p:nvPr/>
        </p:nvSpPr>
        <p:spPr>
          <a:xfrm>
            <a:off x="961206" y="2337569"/>
            <a:ext cx="4257675"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Spread computation across GPU clusters using data or model parallelism.</a:t>
            </a:r>
            <a:endParaRPr lang="en-US" sz="9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2784053"/>
            <a:ext cx="310083" cy="310083"/>
          </a:xfrm>
          <a:prstGeom prst="rect">
            <a:avLst/>
          </a:prstGeom>
        </p:spPr>
      </p:pic>
      <p:sp>
        <p:nvSpPr>
          <p:cNvPr id="11" name="Text 5"/>
          <p:cNvSpPr/>
          <p:nvPr/>
        </p:nvSpPr>
        <p:spPr>
          <a:xfrm>
            <a:off x="961206" y="2784053"/>
            <a:ext cx="1566193"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Model Compression</a:t>
            </a:r>
            <a:endParaRPr lang="en-US" sz="1200" dirty="0"/>
          </a:p>
        </p:txBody>
      </p:sp>
      <p:sp>
        <p:nvSpPr>
          <p:cNvPr id="12" name="Text 6"/>
          <p:cNvSpPr/>
          <p:nvPr/>
        </p:nvSpPr>
        <p:spPr>
          <a:xfrm>
            <a:off x="961206" y="3052316"/>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Quantization (FP16 → INT8) reduces memory usage and speeds up inference.</a:t>
            </a:r>
            <a:endParaRPr lang="en-US" sz="9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697263"/>
            <a:ext cx="310083" cy="310083"/>
          </a:xfrm>
          <a:prstGeom prst="rect">
            <a:avLst/>
          </a:prstGeom>
        </p:spPr>
      </p:pic>
      <p:sp>
        <p:nvSpPr>
          <p:cNvPr id="14" name="Text 7"/>
          <p:cNvSpPr/>
          <p:nvPr/>
        </p:nvSpPr>
        <p:spPr>
          <a:xfrm>
            <a:off x="961206" y="3697263"/>
            <a:ext cx="2064097"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Caching &amp; Load Balancing</a:t>
            </a:r>
            <a:endParaRPr lang="en-US" sz="1200" dirty="0"/>
          </a:p>
        </p:txBody>
      </p:sp>
      <p:sp>
        <p:nvSpPr>
          <p:cNvPr id="15" name="Text 8"/>
          <p:cNvSpPr/>
          <p:nvPr/>
        </p:nvSpPr>
        <p:spPr>
          <a:xfrm>
            <a:off x="961206" y="3965525"/>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Cache frequent predictions; distribute inference traffic across replicas for consistent response times.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574104"/>
            <a:ext cx="3945062"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Caching in AI Systems</a:t>
            </a:r>
            <a:endParaRPr lang="en-US" sz="2400" dirty="0"/>
          </a:p>
        </p:txBody>
      </p:sp>
      <p:sp>
        <p:nvSpPr>
          <p:cNvPr id="3" name="Text 1"/>
          <p:cNvSpPr/>
          <p:nvPr/>
        </p:nvSpPr>
        <p:spPr>
          <a:xfrm>
            <a:off x="496119" y="1271662"/>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74767D"/>
                </a:solidFill>
                <a:latin typeface="Montserrat Medium" pitchFamily="34" charset="0"/>
                <a:ea typeface="Montserrat Medium" pitchFamily="34" charset="-122"/>
                <a:cs typeface="Montserrat Medium" pitchFamily="34" charset="-120"/>
              </a:rPr>
              <a:t>Cache Types</a:t>
            </a:r>
            <a:endParaRPr lang="en-US" sz="1200" dirty="0"/>
          </a:p>
        </p:txBody>
      </p:sp>
      <p:sp>
        <p:nvSpPr>
          <p:cNvPr id="4" name="Shape 2"/>
          <p:cNvSpPr/>
          <p:nvPr/>
        </p:nvSpPr>
        <p:spPr>
          <a:xfrm>
            <a:off x="496119" y="1605037"/>
            <a:ext cx="3924598" cy="792807"/>
          </a:xfrm>
          <a:prstGeom prst="roundRect">
            <a:avLst>
              <a:gd name="adj" fmla="val 8650"/>
            </a:avLst>
          </a:prstGeom>
          <a:solidFill>
            <a:srgbClr val="FFFFFF"/>
          </a:solidFill>
          <a:ln w="14288">
            <a:solidFill>
              <a:srgbClr val="C5C7D2"/>
            </a:solidFill>
            <a:prstDash val="solid"/>
          </a:ln>
        </p:spPr>
      </p:sp>
      <p:pic>
        <p:nvPicPr>
          <p:cNvPr id="5" name="Image 0" descr="preencoded.png"/>
          <p:cNvPicPr>
            <a:picLocks noChangeAspect="1"/>
          </p:cNvPicPr>
          <p:nvPr/>
        </p:nvPicPr>
        <p:blipFill>
          <a:blip r:embed="rId3"/>
          <a:stretch>
            <a:fillRect/>
          </a:stretch>
        </p:blipFill>
        <p:spPr>
          <a:xfrm>
            <a:off x="481831" y="1605037"/>
            <a:ext cx="57150" cy="792807"/>
          </a:xfrm>
          <a:prstGeom prst="rect">
            <a:avLst/>
          </a:prstGeom>
        </p:spPr>
      </p:pic>
      <p:sp>
        <p:nvSpPr>
          <p:cNvPr id="6" name="Text 3"/>
          <p:cNvSpPr/>
          <p:nvPr/>
        </p:nvSpPr>
        <p:spPr>
          <a:xfrm>
            <a:off x="677242" y="1743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Feature Cache</a:t>
            </a:r>
            <a:endParaRPr lang="en-US" sz="1200" dirty="0"/>
          </a:p>
        </p:txBody>
      </p:sp>
      <p:sp>
        <p:nvSpPr>
          <p:cNvPr id="7" name="Text 4"/>
          <p:cNvSpPr/>
          <p:nvPr/>
        </p:nvSpPr>
        <p:spPr>
          <a:xfrm>
            <a:off x="677242" y="2061121"/>
            <a:ext cx="360521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Stores computed features for reuse across sessions.</a:t>
            </a:r>
            <a:endParaRPr lang="en-US" sz="950" dirty="0"/>
          </a:p>
        </p:txBody>
      </p:sp>
      <p:sp>
        <p:nvSpPr>
          <p:cNvPr id="8" name="Shape 5"/>
          <p:cNvSpPr/>
          <p:nvPr/>
        </p:nvSpPr>
        <p:spPr>
          <a:xfrm>
            <a:off x="496119" y="2521818"/>
            <a:ext cx="3924598" cy="991270"/>
          </a:xfrm>
          <a:prstGeom prst="roundRect">
            <a:avLst>
              <a:gd name="adj" fmla="val 6918"/>
            </a:avLst>
          </a:prstGeom>
          <a:solidFill>
            <a:srgbClr val="FFFFFF"/>
          </a:solidFill>
          <a:ln w="14288">
            <a:solidFill>
              <a:srgbClr val="C5C7D2"/>
            </a:solidFill>
            <a:prstDash val="solid"/>
          </a:ln>
        </p:spPr>
      </p:sp>
      <p:pic>
        <p:nvPicPr>
          <p:cNvPr id="9" name="Image 1" descr="preencoded.png"/>
          <p:cNvPicPr>
            <a:picLocks noChangeAspect="1"/>
          </p:cNvPicPr>
          <p:nvPr/>
        </p:nvPicPr>
        <p:blipFill>
          <a:blip r:embed="rId4"/>
          <a:stretch>
            <a:fillRect/>
          </a:stretch>
        </p:blipFill>
        <p:spPr>
          <a:xfrm>
            <a:off x="481831" y="2521818"/>
            <a:ext cx="57150" cy="991270"/>
          </a:xfrm>
          <a:prstGeom prst="rect">
            <a:avLst/>
          </a:prstGeom>
        </p:spPr>
      </p:pic>
      <p:sp>
        <p:nvSpPr>
          <p:cNvPr id="10" name="Text 6"/>
          <p:cNvSpPr/>
          <p:nvPr/>
        </p:nvSpPr>
        <p:spPr>
          <a:xfrm>
            <a:off x="677242" y="266007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Model Cache</a:t>
            </a:r>
            <a:endParaRPr lang="en-US" sz="1200" dirty="0"/>
          </a:p>
        </p:txBody>
      </p:sp>
      <p:sp>
        <p:nvSpPr>
          <p:cNvPr id="11" name="Text 7"/>
          <p:cNvSpPr/>
          <p:nvPr/>
        </p:nvSpPr>
        <p:spPr>
          <a:xfrm>
            <a:off x="677242" y="2977902"/>
            <a:ext cx="360521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Keeps model weights resident in GPU memory to avoid cold starts.</a:t>
            </a:r>
            <a:endParaRPr lang="en-US" sz="950" dirty="0"/>
          </a:p>
        </p:txBody>
      </p:sp>
      <p:sp>
        <p:nvSpPr>
          <p:cNvPr id="12" name="Shape 8"/>
          <p:cNvSpPr/>
          <p:nvPr/>
        </p:nvSpPr>
        <p:spPr>
          <a:xfrm>
            <a:off x="496119" y="3637062"/>
            <a:ext cx="3924598" cy="792807"/>
          </a:xfrm>
          <a:prstGeom prst="roundRect">
            <a:avLst>
              <a:gd name="adj" fmla="val 8650"/>
            </a:avLst>
          </a:prstGeom>
          <a:solidFill>
            <a:srgbClr val="FFFFFF"/>
          </a:solidFill>
          <a:ln w="14288">
            <a:solidFill>
              <a:srgbClr val="C5C7D2"/>
            </a:solidFill>
            <a:prstDash val="solid"/>
          </a:ln>
        </p:spPr>
      </p:sp>
      <p:pic>
        <p:nvPicPr>
          <p:cNvPr id="13" name="Image 2" descr="preencoded.png"/>
          <p:cNvPicPr>
            <a:picLocks noChangeAspect="1"/>
          </p:cNvPicPr>
          <p:nvPr/>
        </p:nvPicPr>
        <p:blipFill>
          <a:blip r:embed="rId3"/>
          <a:stretch>
            <a:fillRect/>
          </a:stretch>
        </p:blipFill>
        <p:spPr>
          <a:xfrm>
            <a:off x="481831" y="3637062"/>
            <a:ext cx="57150" cy="792807"/>
          </a:xfrm>
          <a:prstGeom prst="rect">
            <a:avLst/>
          </a:prstGeom>
        </p:spPr>
      </p:pic>
      <p:sp>
        <p:nvSpPr>
          <p:cNvPr id="14" name="Text 9"/>
          <p:cNvSpPr/>
          <p:nvPr/>
        </p:nvSpPr>
        <p:spPr>
          <a:xfrm>
            <a:off x="677242" y="377532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Prediction Cache</a:t>
            </a:r>
            <a:endParaRPr lang="en-US" sz="1200" dirty="0"/>
          </a:p>
        </p:txBody>
      </p:sp>
      <p:sp>
        <p:nvSpPr>
          <p:cNvPr id="15" name="Text 10"/>
          <p:cNvSpPr/>
          <p:nvPr/>
        </p:nvSpPr>
        <p:spPr>
          <a:xfrm>
            <a:off x="677242" y="4093146"/>
            <a:ext cx="360521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Stores outputs for frequently repeated queries.</a:t>
            </a:r>
            <a:endParaRPr lang="en-US" sz="950" dirty="0"/>
          </a:p>
        </p:txBody>
      </p:sp>
      <p:sp>
        <p:nvSpPr>
          <p:cNvPr id="16" name="Shape 11"/>
          <p:cNvSpPr/>
          <p:nvPr/>
        </p:nvSpPr>
        <p:spPr>
          <a:xfrm>
            <a:off x="4638749" y="1147688"/>
            <a:ext cx="4103191" cy="3421707"/>
          </a:xfrm>
          <a:prstGeom prst="roundRect">
            <a:avLst>
              <a:gd name="adj" fmla="val 5220"/>
            </a:avLst>
          </a:prstGeom>
          <a:solidFill>
            <a:srgbClr val="F2F2F3"/>
          </a:solidFill>
          <a:ln/>
        </p:spPr>
      </p:sp>
      <p:sp>
        <p:nvSpPr>
          <p:cNvPr id="17" name="Text 12"/>
          <p:cNvSpPr/>
          <p:nvPr/>
        </p:nvSpPr>
        <p:spPr>
          <a:xfrm>
            <a:off x="4762723" y="1271662"/>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Montserrat Medium" pitchFamily="34" charset="0"/>
                <a:ea typeface="Montserrat Medium" pitchFamily="34" charset="-122"/>
                <a:cs typeface="Montserrat Medium" pitchFamily="34" charset="-120"/>
              </a:rPr>
              <a:t>Semantic Caching</a:t>
            </a:r>
            <a:endParaRPr lang="en-US" sz="1200" dirty="0"/>
          </a:p>
        </p:txBody>
      </p:sp>
      <p:sp>
        <p:nvSpPr>
          <p:cNvPr id="18" name="Text 13"/>
          <p:cNvSpPr/>
          <p:nvPr/>
        </p:nvSpPr>
        <p:spPr>
          <a:xfrm>
            <a:off x="4762723" y="1589484"/>
            <a:ext cx="3855244"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Instead of exact query matches, the system embeds incoming queries and searches a vector database for semantically similar past requests. "Shoe store" and "footwear shop" can share a cached response.</a:t>
            </a:r>
            <a:endParaRPr lang="en-US" sz="950" dirty="0"/>
          </a:p>
        </p:txBody>
      </p:sp>
      <p:sp>
        <p:nvSpPr>
          <p:cNvPr id="19" name="Shape 14"/>
          <p:cNvSpPr/>
          <p:nvPr/>
        </p:nvSpPr>
        <p:spPr>
          <a:xfrm>
            <a:off x="4762723" y="2522860"/>
            <a:ext cx="3855244" cy="923925"/>
          </a:xfrm>
          <a:prstGeom prst="roundRect">
            <a:avLst>
              <a:gd name="adj" fmla="val 12083"/>
            </a:avLst>
          </a:prstGeom>
          <a:solidFill>
            <a:srgbClr val="B6FCB8"/>
          </a:solidFill>
          <a:ln/>
        </p:spPr>
      </p:sp>
      <p:pic>
        <p:nvPicPr>
          <p:cNvPr id="20" name="Image 3" descr="preencoded.png"/>
          <p:cNvPicPr>
            <a:picLocks noChangeAspect="1"/>
          </p:cNvPicPr>
          <p:nvPr/>
        </p:nvPicPr>
        <p:blipFill>
          <a:blip r:embed="rId5"/>
          <a:stretch>
            <a:fillRect/>
          </a:stretch>
        </p:blipFill>
        <p:spPr>
          <a:xfrm>
            <a:off x="4886697" y="2712169"/>
            <a:ext cx="155004" cy="123974"/>
          </a:xfrm>
          <a:prstGeom prst="rect">
            <a:avLst/>
          </a:prstGeom>
        </p:spPr>
      </p:pic>
      <p:sp>
        <p:nvSpPr>
          <p:cNvPr id="21" name="Text 15"/>
          <p:cNvSpPr/>
          <p:nvPr/>
        </p:nvSpPr>
        <p:spPr>
          <a:xfrm>
            <a:off x="5165675" y="2677790"/>
            <a:ext cx="332831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Light" pitchFamily="34" charset="0"/>
                <a:ea typeface="Inter Light" pitchFamily="34" charset="-122"/>
                <a:cs typeface="Inter Light" pitchFamily="34" charset="-120"/>
              </a:rPr>
              <a:t>Large-scale LLM systems use semantic caching to reduce repeated GPU computation for frequently repeated prompts — saving significant compute cost.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958453"/>
            <a:ext cx="3603650"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Indexing &amp; Retrieval</a:t>
            </a:r>
            <a:endParaRPr lang="en-US" sz="2400" dirty="0"/>
          </a:p>
        </p:txBody>
      </p:sp>
      <p:sp>
        <p:nvSpPr>
          <p:cNvPr id="3" name="Text 1"/>
          <p:cNvSpPr/>
          <p:nvPr/>
        </p:nvSpPr>
        <p:spPr>
          <a:xfrm>
            <a:off x="496119" y="1594024"/>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Efficient indexing is critical for recommendation and RAG (retrieval augmented generation) systems. Without it, even accurate models fail to respond within acceptable latency bounds.</a:t>
            </a:r>
            <a:endParaRPr lang="en-US" sz="950" dirty="0"/>
          </a:p>
        </p:txBody>
      </p:sp>
      <p:sp>
        <p:nvSpPr>
          <p:cNvPr id="4" name="Shape 2"/>
          <p:cNvSpPr/>
          <p:nvPr/>
        </p:nvSpPr>
        <p:spPr>
          <a:xfrm>
            <a:off x="496119" y="2130475"/>
            <a:ext cx="2634555" cy="1518047"/>
          </a:xfrm>
          <a:prstGeom prst="roundRect">
            <a:avLst>
              <a:gd name="adj" fmla="val 7354"/>
            </a:avLst>
          </a:prstGeom>
          <a:solidFill>
            <a:srgbClr val="EFF0F6"/>
          </a:solidFill>
          <a:ln w="4763">
            <a:solidFill>
              <a:srgbClr val="C5C7D2"/>
            </a:solidFill>
            <a:prstDash val="solid"/>
          </a:ln>
        </p:spPr>
      </p:sp>
      <p:sp>
        <p:nvSpPr>
          <p:cNvPr id="5" name="Text 3"/>
          <p:cNvSpPr/>
          <p:nvPr/>
        </p:nvSpPr>
        <p:spPr>
          <a:xfrm>
            <a:off x="624855" y="225921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Vector Indexing</a:t>
            </a:r>
            <a:endParaRPr lang="en-US" sz="1200" dirty="0"/>
          </a:p>
        </p:txBody>
      </p:sp>
      <p:sp>
        <p:nvSpPr>
          <p:cNvPr id="6" name="Text 4"/>
          <p:cNvSpPr/>
          <p:nvPr/>
        </p:nvSpPr>
        <p:spPr>
          <a:xfrm>
            <a:off x="624855" y="2527474"/>
            <a:ext cx="237708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Standard for semantic search. Embeddings stored in Pinecone or Milvus. HNSW algorithms enable approximate nearest-neighbor searches balancing recall and performance.</a:t>
            </a:r>
            <a:endParaRPr lang="en-US" sz="950" dirty="0"/>
          </a:p>
        </p:txBody>
      </p:sp>
      <p:sp>
        <p:nvSpPr>
          <p:cNvPr id="7" name="Shape 5"/>
          <p:cNvSpPr/>
          <p:nvPr/>
        </p:nvSpPr>
        <p:spPr>
          <a:xfrm>
            <a:off x="3254648" y="2130475"/>
            <a:ext cx="2634630" cy="1518047"/>
          </a:xfrm>
          <a:prstGeom prst="roundRect">
            <a:avLst>
              <a:gd name="adj" fmla="val 7354"/>
            </a:avLst>
          </a:prstGeom>
          <a:solidFill>
            <a:srgbClr val="EFF0F6"/>
          </a:solidFill>
          <a:ln w="4763">
            <a:solidFill>
              <a:srgbClr val="C5C7D2"/>
            </a:solidFill>
            <a:prstDash val="solid"/>
          </a:ln>
        </p:spPr>
      </p:sp>
      <p:sp>
        <p:nvSpPr>
          <p:cNvPr id="8" name="Text 6"/>
          <p:cNvSpPr/>
          <p:nvPr/>
        </p:nvSpPr>
        <p:spPr>
          <a:xfrm>
            <a:off x="3383384" y="225921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Inverted Indexes</a:t>
            </a:r>
            <a:endParaRPr lang="en-US" sz="1200" dirty="0"/>
          </a:p>
        </p:txBody>
      </p:sp>
      <p:sp>
        <p:nvSpPr>
          <p:cNvPr id="9" name="Text 7"/>
          <p:cNvSpPr/>
          <p:nvPr/>
        </p:nvSpPr>
        <p:spPr>
          <a:xfrm>
            <a:off x="3383384" y="2527474"/>
            <a:ext cx="237715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Remain effective for keyword-based retrieval in traditional search scenarios.</a:t>
            </a:r>
            <a:endParaRPr lang="en-US" sz="950" dirty="0"/>
          </a:p>
        </p:txBody>
      </p:sp>
      <p:sp>
        <p:nvSpPr>
          <p:cNvPr id="10" name="Shape 8"/>
          <p:cNvSpPr/>
          <p:nvPr/>
        </p:nvSpPr>
        <p:spPr>
          <a:xfrm>
            <a:off x="6013252" y="2130475"/>
            <a:ext cx="2634555" cy="1518047"/>
          </a:xfrm>
          <a:prstGeom prst="roundRect">
            <a:avLst>
              <a:gd name="adj" fmla="val 7354"/>
            </a:avLst>
          </a:prstGeom>
          <a:solidFill>
            <a:srgbClr val="EFF0F6"/>
          </a:solidFill>
          <a:ln w="4763">
            <a:solidFill>
              <a:srgbClr val="C5C7D2"/>
            </a:solidFill>
            <a:prstDash val="solid"/>
          </a:ln>
        </p:spPr>
      </p:sp>
      <p:sp>
        <p:nvSpPr>
          <p:cNvPr id="11" name="Text 9"/>
          <p:cNvSpPr/>
          <p:nvPr/>
        </p:nvSpPr>
        <p:spPr>
          <a:xfrm>
            <a:off x="6141988" y="2259211"/>
            <a:ext cx="170229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Trie-Based Structures</a:t>
            </a:r>
            <a:endParaRPr lang="en-US" sz="1200" dirty="0"/>
          </a:p>
        </p:txBody>
      </p:sp>
      <p:sp>
        <p:nvSpPr>
          <p:cNvPr id="12" name="Text 10"/>
          <p:cNvSpPr/>
          <p:nvPr/>
        </p:nvSpPr>
        <p:spPr>
          <a:xfrm>
            <a:off x="6141988" y="2527474"/>
            <a:ext cx="237708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Well-suited for prefix searches in autocomplete and typeahead scenarios.</a:t>
            </a:r>
            <a:endParaRPr lang="en-US" sz="950" dirty="0"/>
          </a:p>
        </p:txBody>
      </p:sp>
      <p:sp>
        <p:nvSpPr>
          <p:cNvPr id="13" name="Text 11"/>
          <p:cNvSpPr/>
          <p:nvPr/>
        </p:nvSpPr>
        <p:spPr>
          <a:xfrm>
            <a:off x="496119" y="378804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These approaches often coexist: a typeahead system uses Trie-based indexing for fast prefix lookups while an AI retrieval layer uses vector databases for semantic results.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795412"/>
            <a:ext cx="4979491"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Real-Time Inference Pipeline</a:t>
            </a:r>
            <a:endParaRPr lang="en-US" sz="2400" dirty="0"/>
          </a:p>
        </p:txBody>
      </p:sp>
      <p:sp>
        <p:nvSpPr>
          <p:cNvPr id="3" name="Text 1"/>
          <p:cNvSpPr/>
          <p:nvPr/>
        </p:nvSpPr>
        <p:spPr>
          <a:xfrm>
            <a:off x="496119" y="143098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The inference pipeline is the "hot path" of your architecture — handling requests that need immediate responses. Micro-batching processes multiple requests simultaneously for efficiency without added latency.</a:t>
            </a:r>
            <a:endParaRPr lang="en-US" sz="950" dirty="0"/>
          </a:p>
        </p:txBody>
      </p:sp>
      <p:pic>
        <p:nvPicPr>
          <p:cNvPr id="4" name="Image 0" descr="preencoded.png"/>
          <p:cNvPicPr>
            <a:picLocks noChangeAspect="1"/>
          </p:cNvPicPr>
          <p:nvPr/>
        </p:nvPicPr>
        <p:blipFill>
          <a:blip r:embed="rId3"/>
          <a:stretch>
            <a:fillRect/>
          </a:stretch>
        </p:blipFill>
        <p:spPr>
          <a:xfrm>
            <a:off x="496119" y="1967433"/>
            <a:ext cx="6796906" cy="1515591"/>
          </a:xfrm>
          <a:prstGeom prst="rect">
            <a:avLst/>
          </a:prstGeom>
        </p:spPr>
      </p:pic>
      <p:sp>
        <p:nvSpPr>
          <p:cNvPr id="5" name="Shape 2"/>
          <p:cNvSpPr/>
          <p:nvPr/>
        </p:nvSpPr>
        <p:spPr>
          <a:xfrm>
            <a:off x="496119" y="3622551"/>
            <a:ext cx="8151763" cy="725463"/>
          </a:xfrm>
          <a:prstGeom prst="roundRect">
            <a:avLst>
              <a:gd name="adj" fmla="val 15389"/>
            </a:avLst>
          </a:prstGeom>
          <a:solidFill>
            <a:srgbClr val="B6D6FC"/>
          </a:solidFill>
          <a:ln/>
        </p:spPr>
      </p:sp>
      <p:pic>
        <p:nvPicPr>
          <p:cNvPr id="6" name="Image 1" descr="preencoded.png"/>
          <p:cNvPicPr>
            <a:picLocks noChangeAspect="1"/>
          </p:cNvPicPr>
          <p:nvPr/>
        </p:nvPicPr>
        <p:blipFill>
          <a:blip r:embed="rId4"/>
          <a:stretch>
            <a:fillRect/>
          </a:stretch>
        </p:blipFill>
        <p:spPr>
          <a:xfrm>
            <a:off x="620092" y="3811860"/>
            <a:ext cx="155004" cy="123974"/>
          </a:xfrm>
          <a:prstGeom prst="rect">
            <a:avLst/>
          </a:prstGeom>
        </p:spPr>
      </p:pic>
      <p:sp>
        <p:nvSpPr>
          <p:cNvPr id="7" name="Text 3"/>
          <p:cNvSpPr/>
          <p:nvPr/>
        </p:nvSpPr>
        <p:spPr>
          <a:xfrm>
            <a:off x="899071" y="3777481"/>
            <a:ext cx="7624837"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000000"/>
                </a:solidFill>
                <a:latin typeface="Inter Light" pitchFamily="34" charset="0"/>
                <a:ea typeface="Inter Light" pitchFamily="34" charset="-122"/>
                <a:cs typeface="Inter Light" pitchFamily="34" charset="-120"/>
              </a:rPr>
              <a:t>Example:</a:t>
            </a:r>
            <a:r>
              <a:rPr lang="en-US" sz="950" dirty="0">
                <a:solidFill>
                  <a:srgbClr val="000000"/>
                </a:solidFill>
                <a:latin typeface="Inter Light" pitchFamily="34" charset="0"/>
                <a:ea typeface="Inter Light" pitchFamily="34" charset="-122"/>
                <a:cs typeface="Inter Light" pitchFamily="34" charset="-120"/>
              </a:rPr>
              <a:t> A fraud detection system receives a payment transaction, retrieves the customer's historical data, and runs an ML model to approve or flag the transaction within milliseconds.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1403598"/>
            <a:ext cx="6285235"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Data Freshness &amp; Model Deployment</a:t>
            </a:r>
            <a:endParaRPr lang="en-US" sz="2400" dirty="0"/>
          </a:p>
        </p:txBody>
      </p:sp>
      <p:sp>
        <p:nvSpPr>
          <p:cNvPr id="3" name="Text 1"/>
          <p:cNvSpPr/>
          <p:nvPr/>
        </p:nvSpPr>
        <p:spPr>
          <a:xfrm>
            <a:off x="496119" y="2101155"/>
            <a:ext cx="2010817" cy="193849"/>
          </a:xfrm>
          <a:prstGeom prst="rect">
            <a:avLst/>
          </a:prstGeom>
          <a:noFill/>
          <a:ln/>
        </p:spPr>
        <p:txBody>
          <a:bodyPr wrap="none" lIns="0" tIns="0" rIns="0" bIns="0" rtlCol="0" anchor="t"/>
          <a:lstStyle/>
          <a:p>
            <a:pPr marL="0" indent="0" algn="l">
              <a:lnSpc>
                <a:spcPct val="104000"/>
              </a:lnSpc>
              <a:buNone/>
            </a:pPr>
            <a:r>
              <a:rPr lang="en-US" sz="1200" dirty="0">
                <a:solidFill>
                  <a:srgbClr val="74767D"/>
                </a:solidFill>
                <a:latin typeface="Montserrat Medium" pitchFamily="34" charset="0"/>
                <a:ea typeface="Montserrat Medium" pitchFamily="34" charset="-122"/>
                <a:cs typeface="Montserrat Medium" pitchFamily="34" charset="-120"/>
              </a:rPr>
              <a:t>Keeping Data Fresh</a:t>
            </a:r>
            <a:endParaRPr lang="en-US" sz="1200" dirty="0"/>
          </a:p>
        </p:txBody>
      </p:sp>
      <p:sp>
        <p:nvSpPr>
          <p:cNvPr id="4" name="Text 2"/>
          <p:cNvSpPr/>
          <p:nvPr/>
        </p:nvSpPr>
        <p:spPr>
          <a:xfrm>
            <a:off x="496119" y="2418978"/>
            <a:ext cx="3924598" cy="793849"/>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Streaming updates</a:t>
            </a:r>
            <a:r>
              <a:rPr lang="en-US" sz="950" dirty="0">
                <a:solidFill>
                  <a:srgbClr val="3D3E44"/>
                </a:solidFill>
                <a:latin typeface="Inter Light" pitchFamily="34" charset="0"/>
                <a:ea typeface="Inter Light" pitchFamily="34" charset="-122"/>
                <a:cs typeface="Inter Light" pitchFamily="34" charset="-120"/>
              </a:rPr>
              <a:t> refresh features immediately after events. </a:t>
            </a:r>
            <a:r>
              <a:rPr lang="en-US" sz="950" b="1" dirty="0">
                <a:solidFill>
                  <a:srgbClr val="3D3E44"/>
                </a:solidFill>
                <a:latin typeface="Inter Light" pitchFamily="34" charset="0"/>
                <a:ea typeface="Inter Light" pitchFamily="34" charset="-122"/>
                <a:cs typeface="Inter Light" pitchFamily="34" charset="-120"/>
              </a:rPr>
              <a:t>Micro-batching</a:t>
            </a:r>
            <a:r>
              <a:rPr lang="en-US" sz="950" dirty="0">
                <a:solidFill>
                  <a:srgbClr val="3D3E44"/>
                </a:solidFill>
                <a:latin typeface="Inter Light" pitchFamily="34" charset="0"/>
                <a:ea typeface="Inter Light" pitchFamily="34" charset="-122"/>
                <a:cs typeface="Inter Light" pitchFamily="34" charset="-120"/>
              </a:rPr>
              <a:t> offers near-real-time updates when full streaming is impractical. </a:t>
            </a:r>
            <a:r>
              <a:rPr lang="en-US" sz="950" b="1" dirty="0">
                <a:solidFill>
                  <a:srgbClr val="3D3E44"/>
                </a:solidFill>
                <a:latin typeface="Inter Light" pitchFamily="34" charset="0"/>
                <a:ea typeface="Inter Light" pitchFamily="34" charset="-122"/>
                <a:cs typeface="Inter Light" pitchFamily="34" charset="-120"/>
              </a:rPr>
              <a:t>Versioned datasets</a:t>
            </a:r>
            <a:r>
              <a:rPr lang="en-US" sz="950" dirty="0">
                <a:solidFill>
                  <a:srgbClr val="3D3E44"/>
                </a:solidFill>
                <a:latin typeface="Inter Light" pitchFamily="34" charset="0"/>
                <a:ea typeface="Inter Light" pitchFamily="34" charset="-122"/>
                <a:cs typeface="Inter Light" pitchFamily="34" charset="-120"/>
              </a:rPr>
              <a:t> help recover from corruption or unexpected errors.</a:t>
            </a:r>
            <a:endParaRPr lang="en-US" sz="950" dirty="0"/>
          </a:p>
        </p:txBody>
      </p:sp>
      <p:sp>
        <p:nvSpPr>
          <p:cNvPr id="5" name="Shape 3"/>
          <p:cNvSpPr/>
          <p:nvPr/>
        </p:nvSpPr>
        <p:spPr>
          <a:xfrm>
            <a:off x="4638749" y="1977182"/>
            <a:ext cx="4103191" cy="1762720"/>
          </a:xfrm>
          <a:prstGeom prst="roundRect">
            <a:avLst>
              <a:gd name="adj" fmla="val 10134"/>
            </a:avLst>
          </a:prstGeom>
          <a:solidFill>
            <a:srgbClr val="F2F2F3"/>
          </a:solidFill>
          <a:ln/>
        </p:spPr>
      </p:sp>
      <p:sp>
        <p:nvSpPr>
          <p:cNvPr id="6" name="Text 4"/>
          <p:cNvSpPr/>
          <p:nvPr/>
        </p:nvSpPr>
        <p:spPr>
          <a:xfrm>
            <a:off x="4762723" y="2101155"/>
            <a:ext cx="2270968"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Montserrat Medium" pitchFamily="34" charset="0"/>
                <a:ea typeface="Montserrat Medium" pitchFamily="34" charset="-122"/>
                <a:cs typeface="Montserrat Medium" pitchFamily="34" charset="-120"/>
              </a:rPr>
              <a:t>Deployment Strategies</a:t>
            </a:r>
            <a:endParaRPr lang="en-US" sz="1200" dirty="0"/>
          </a:p>
        </p:txBody>
      </p:sp>
      <p:sp>
        <p:nvSpPr>
          <p:cNvPr id="7" name="Text 5"/>
          <p:cNvSpPr/>
          <p:nvPr/>
        </p:nvSpPr>
        <p:spPr>
          <a:xfrm>
            <a:off x="4762723" y="2418978"/>
            <a:ext cx="3855244" cy="1277541"/>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Canary deployment:</a:t>
            </a:r>
            <a:r>
              <a:rPr lang="en-US" sz="950" dirty="0">
                <a:solidFill>
                  <a:srgbClr val="3D3E44"/>
                </a:solidFill>
                <a:latin typeface="Inter Light" pitchFamily="34" charset="0"/>
                <a:ea typeface="Inter Light" pitchFamily="34" charset="-122"/>
                <a:cs typeface="Inter Light" pitchFamily="34" charset="-120"/>
              </a:rPr>
              <a:t> Roll out to a small user subset first to test stability.</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Shadow deployment:</a:t>
            </a:r>
            <a:r>
              <a:rPr lang="en-US" sz="950" dirty="0">
                <a:solidFill>
                  <a:srgbClr val="3D3E44"/>
                </a:solidFill>
                <a:latin typeface="Inter Light" pitchFamily="34" charset="0"/>
                <a:ea typeface="Inter Light" pitchFamily="34" charset="-122"/>
                <a:cs typeface="Inter Light" pitchFamily="34" charset="-120"/>
              </a:rPr>
              <a:t> Run new model alongside old on real traffic without affecting users.</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A/B testing:</a:t>
            </a:r>
            <a:r>
              <a:rPr lang="en-US" sz="950" dirty="0">
                <a:solidFill>
                  <a:srgbClr val="3D3E44"/>
                </a:solidFill>
                <a:latin typeface="Inter Light" pitchFamily="34" charset="0"/>
                <a:ea typeface="Inter Light" pitchFamily="34" charset="-122"/>
                <a:cs typeface="Inter Light" pitchFamily="34" charset="-120"/>
              </a:rPr>
              <a:t> Compare models using user feedback or business metrics.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82513"/>
            <a:ext cx="4767114"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Fault Tolerance &amp; Reliability</a:t>
            </a:r>
            <a:endParaRPr lang="en-US" sz="24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156097"/>
            <a:ext cx="310083" cy="310083"/>
          </a:xfrm>
          <a:prstGeom prst="rect">
            <a:avLst/>
          </a:prstGeom>
        </p:spPr>
      </p:pic>
      <p:sp>
        <p:nvSpPr>
          <p:cNvPr id="5" name="Text 1"/>
          <p:cNvSpPr/>
          <p:nvPr/>
        </p:nvSpPr>
        <p:spPr>
          <a:xfrm>
            <a:off x="961206" y="115609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Redundancy</a:t>
            </a:r>
            <a:endParaRPr lang="en-US" sz="1200" dirty="0"/>
          </a:p>
        </p:txBody>
      </p:sp>
      <p:sp>
        <p:nvSpPr>
          <p:cNvPr id="6" name="Text 2"/>
          <p:cNvSpPr/>
          <p:nvPr/>
        </p:nvSpPr>
        <p:spPr>
          <a:xfrm>
            <a:off x="961206" y="1424360"/>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Replicate critical services across multiple nodes to prevent single points of failure.</a:t>
            </a:r>
            <a:endParaRPr lang="en-US" sz="9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069306"/>
            <a:ext cx="310083" cy="310083"/>
          </a:xfrm>
          <a:prstGeom prst="rect">
            <a:avLst/>
          </a:prstGeom>
        </p:spPr>
      </p:pic>
      <p:sp>
        <p:nvSpPr>
          <p:cNvPr id="8" name="Text 3"/>
          <p:cNvSpPr/>
          <p:nvPr/>
        </p:nvSpPr>
        <p:spPr>
          <a:xfrm>
            <a:off x="961206" y="206930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Retry Logic</a:t>
            </a:r>
            <a:endParaRPr lang="en-US" sz="1200" dirty="0"/>
          </a:p>
        </p:txBody>
      </p:sp>
      <p:sp>
        <p:nvSpPr>
          <p:cNvPr id="9" name="Text 4"/>
          <p:cNvSpPr/>
          <p:nvPr/>
        </p:nvSpPr>
        <p:spPr>
          <a:xfrm>
            <a:off x="961206" y="2337569"/>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Automatically reattempt failed inferences to handle transient network issues.</a:t>
            </a:r>
            <a:endParaRPr lang="en-US" sz="9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2982516"/>
            <a:ext cx="310083" cy="310083"/>
          </a:xfrm>
          <a:prstGeom prst="rect">
            <a:avLst/>
          </a:prstGeom>
        </p:spPr>
      </p:pic>
      <p:sp>
        <p:nvSpPr>
          <p:cNvPr id="11" name="Text 5"/>
          <p:cNvSpPr/>
          <p:nvPr/>
        </p:nvSpPr>
        <p:spPr>
          <a:xfrm>
            <a:off x="961206" y="298251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Circuit Breakers</a:t>
            </a:r>
            <a:endParaRPr lang="en-US" sz="1200" dirty="0"/>
          </a:p>
        </p:txBody>
      </p:sp>
      <p:sp>
        <p:nvSpPr>
          <p:cNvPr id="12" name="Text 6"/>
          <p:cNvSpPr/>
          <p:nvPr/>
        </p:nvSpPr>
        <p:spPr>
          <a:xfrm>
            <a:off x="961206" y="3250778"/>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Isolate failing components to prevent cascading outages across the system.</a:t>
            </a:r>
            <a:endParaRPr lang="en-US" sz="9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895725"/>
            <a:ext cx="310083" cy="310083"/>
          </a:xfrm>
          <a:prstGeom prst="rect">
            <a:avLst/>
          </a:prstGeom>
        </p:spPr>
      </p:pic>
      <p:sp>
        <p:nvSpPr>
          <p:cNvPr id="14" name="Text 7"/>
          <p:cNvSpPr/>
          <p:nvPr/>
        </p:nvSpPr>
        <p:spPr>
          <a:xfrm>
            <a:off x="961206" y="389572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Fallback Models</a:t>
            </a:r>
            <a:endParaRPr lang="en-US" sz="1200" dirty="0"/>
          </a:p>
        </p:txBody>
      </p:sp>
      <p:sp>
        <p:nvSpPr>
          <p:cNvPr id="15" name="Text 8"/>
          <p:cNvSpPr/>
          <p:nvPr/>
        </p:nvSpPr>
        <p:spPr>
          <a:xfrm>
            <a:off x="961206" y="4163988"/>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If a large frontier model (e.g., GPT-4–scale) is unavailable, automatically switch to a smaller 7–8B parameter model to maintain service.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1360215"/>
            <a:ext cx="5137621"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Monitoring, Privacy &amp; Security</a:t>
            </a:r>
            <a:endParaRPr lang="en-US" sz="2400" dirty="0"/>
          </a:p>
        </p:txBody>
      </p:sp>
      <p:sp>
        <p:nvSpPr>
          <p:cNvPr id="3" name="Text 1"/>
          <p:cNvSpPr/>
          <p:nvPr/>
        </p:nvSpPr>
        <p:spPr>
          <a:xfrm>
            <a:off x="496119" y="2057772"/>
            <a:ext cx="2108002" cy="193849"/>
          </a:xfrm>
          <a:prstGeom prst="rect">
            <a:avLst/>
          </a:prstGeom>
          <a:noFill/>
          <a:ln/>
        </p:spPr>
        <p:txBody>
          <a:bodyPr wrap="none" lIns="0" tIns="0" rIns="0" bIns="0" rtlCol="0" anchor="t"/>
          <a:lstStyle/>
          <a:p>
            <a:pPr marL="0" indent="0" algn="l">
              <a:lnSpc>
                <a:spcPct val="104000"/>
              </a:lnSpc>
              <a:buNone/>
            </a:pPr>
            <a:r>
              <a:rPr lang="en-US" sz="1200" dirty="0">
                <a:solidFill>
                  <a:srgbClr val="74767D"/>
                </a:solidFill>
                <a:latin typeface="Montserrat Medium" pitchFamily="34" charset="0"/>
                <a:ea typeface="Montserrat Medium" pitchFamily="34" charset="-122"/>
                <a:cs typeface="Montserrat Medium" pitchFamily="34" charset="-120"/>
              </a:rPr>
              <a:t>Observability Metrics</a:t>
            </a:r>
            <a:endParaRPr lang="en-US" sz="1200" dirty="0"/>
          </a:p>
        </p:txBody>
      </p:sp>
      <p:sp>
        <p:nvSpPr>
          <p:cNvPr id="4" name="Text 2"/>
          <p:cNvSpPr/>
          <p:nvPr/>
        </p:nvSpPr>
        <p:spPr>
          <a:xfrm>
            <a:off x="496119" y="2375595"/>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Latency:</a:t>
            </a:r>
            <a:r>
              <a:rPr lang="en-US" sz="950" dirty="0">
                <a:solidFill>
                  <a:srgbClr val="3D3E44"/>
                </a:solidFill>
                <a:latin typeface="Inter Light" pitchFamily="34" charset="0"/>
                <a:ea typeface="Inter Light" pitchFamily="34" charset="-122"/>
                <a:cs typeface="Inter Light" pitchFamily="34" charset="-120"/>
              </a:rPr>
              <a:t> p95 and p99 response times</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Throughput:</a:t>
            </a:r>
            <a:r>
              <a:rPr lang="en-US" sz="950" dirty="0">
                <a:solidFill>
                  <a:srgbClr val="3D3E44"/>
                </a:solidFill>
                <a:latin typeface="Inter Light" pitchFamily="34" charset="0"/>
                <a:ea typeface="Inter Light" pitchFamily="34" charset="-122"/>
                <a:cs typeface="Inter Light" pitchFamily="34" charset="-120"/>
              </a:rPr>
              <a:t> Requests per second</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Model performance:</a:t>
            </a:r>
            <a:r>
              <a:rPr lang="en-US" sz="950" dirty="0">
                <a:solidFill>
                  <a:srgbClr val="3D3E44"/>
                </a:solidFill>
                <a:latin typeface="Inter Light" pitchFamily="34" charset="0"/>
                <a:ea typeface="Inter Light" pitchFamily="34" charset="-122"/>
                <a:cs typeface="Inter Light" pitchFamily="34" charset="-120"/>
              </a:rPr>
              <a:t> Precision, recall</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Data/feature drift:</a:t>
            </a:r>
            <a:r>
              <a:rPr lang="en-US" sz="950" dirty="0">
                <a:solidFill>
                  <a:srgbClr val="3D3E44"/>
                </a:solidFill>
                <a:latin typeface="Inter Light" pitchFamily="34" charset="0"/>
                <a:ea typeface="Inter Light" pitchFamily="34" charset="-122"/>
                <a:cs typeface="Inter Light" pitchFamily="34" charset="-120"/>
              </a:rPr>
              <a:t> Input distribution changes over time</a:t>
            </a:r>
            <a:endParaRPr lang="en-US" sz="950" dirty="0"/>
          </a:p>
        </p:txBody>
      </p:sp>
      <p:sp>
        <p:nvSpPr>
          <p:cNvPr id="5" name="Text 3"/>
          <p:cNvSpPr/>
          <p:nvPr/>
        </p:nvSpPr>
        <p:spPr>
          <a:xfrm>
            <a:off x="496119" y="3411215"/>
            <a:ext cx="4381798"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Tools: Prometheus, Grafana, ELK Stack.</a:t>
            </a:r>
            <a:endParaRPr lang="en-US" sz="950" dirty="0"/>
          </a:p>
        </p:txBody>
      </p:sp>
      <p:sp>
        <p:nvSpPr>
          <p:cNvPr id="6" name="Text 4"/>
          <p:cNvSpPr/>
          <p:nvPr/>
        </p:nvSpPr>
        <p:spPr>
          <a:xfrm>
            <a:off x="4728046" y="2057772"/>
            <a:ext cx="2687910" cy="193849"/>
          </a:xfrm>
          <a:prstGeom prst="rect">
            <a:avLst/>
          </a:prstGeom>
          <a:noFill/>
          <a:ln/>
        </p:spPr>
        <p:txBody>
          <a:bodyPr wrap="none" lIns="0" tIns="0" rIns="0" bIns="0" rtlCol="0" anchor="t"/>
          <a:lstStyle/>
          <a:p>
            <a:pPr marL="0" indent="0" algn="l">
              <a:lnSpc>
                <a:spcPct val="104000"/>
              </a:lnSpc>
              <a:buNone/>
            </a:pPr>
            <a:r>
              <a:rPr lang="en-US" sz="1200" dirty="0">
                <a:solidFill>
                  <a:srgbClr val="74767D"/>
                </a:solidFill>
                <a:latin typeface="Montserrat Medium" pitchFamily="34" charset="0"/>
                <a:ea typeface="Montserrat Medium" pitchFamily="34" charset="-122"/>
                <a:cs typeface="Montserrat Medium" pitchFamily="34" charset="-120"/>
              </a:rPr>
              <a:t>Privacy &amp; Security (AI TRiSM)</a:t>
            </a:r>
            <a:endParaRPr lang="en-US" sz="1200" dirty="0"/>
          </a:p>
        </p:txBody>
      </p:sp>
      <p:sp>
        <p:nvSpPr>
          <p:cNvPr id="7" name="Text 5"/>
          <p:cNvSpPr/>
          <p:nvPr/>
        </p:nvSpPr>
        <p:spPr>
          <a:xfrm>
            <a:off x="4728046" y="2375595"/>
            <a:ext cx="3924598" cy="136430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3D3E44"/>
                </a:solidFill>
                <a:latin typeface="Inter Light" pitchFamily="34" charset="0"/>
                <a:ea typeface="Inter Light" pitchFamily="34" charset="-122"/>
                <a:cs typeface="Inter Light" pitchFamily="34" charset="-120"/>
              </a:rPr>
              <a:t>Anonymize/pseudonymize user data; encrypt at rest and in transit</a:t>
            </a:r>
            <a:endParaRPr lang="en-US" sz="950" dirty="0"/>
          </a:p>
          <a:p>
            <a:pPr marL="342900" indent="-342900" algn="l">
              <a:lnSpc>
                <a:spcPct val="133000"/>
              </a:lnSpc>
              <a:buSzPct val="100000"/>
              <a:buChar char="•"/>
            </a:pPr>
            <a:r>
              <a:rPr lang="en-US" sz="950" dirty="0">
                <a:solidFill>
                  <a:srgbClr val="3D3E44"/>
                </a:solidFill>
                <a:latin typeface="Inter Light" pitchFamily="34" charset="0"/>
                <a:ea typeface="Inter Light" pitchFamily="34" charset="-122"/>
                <a:cs typeface="Inter Light" pitchFamily="34" charset="-120"/>
              </a:rPr>
              <a:t>GDPR and CCPA compliance, including "right to be forgotten"</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Input validation</a:t>
            </a:r>
            <a:r>
              <a:rPr lang="en-US" sz="950" dirty="0">
                <a:solidFill>
                  <a:srgbClr val="3D3E44"/>
                </a:solidFill>
                <a:latin typeface="Inter Light" pitchFamily="34" charset="0"/>
                <a:ea typeface="Inter Light" pitchFamily="34" charset="-122"/>
                <a:cs typeface="Inter Light" pitchFamily="34" charset="-120"/>
              </a:rPr>
              <a:t> to block prompt injection attacks</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Differential privacy</a:t>
            </a:r>
            <a:r>
              <a:rPr lang="en-US" sz="950" dirty="0">
                <a:solidFill>
                  <a:srgbClr val="3D3E44"/>
                </a:solidFill>
                <a:latin typeface="Inter Light" pitchFamily="34" charset="0"/>
                <a:ea typeface="Inter Light" pitchFamily="34" charset="-122"/>
                <a:cs typeface="Inter Light" pitchFamily="34" charset="-120"/>
              </a:rPr>
              <a:t> during training to prevent PII leakage</a:t>
            </a:r>
            <a:endParaRPr lang="en-US" sz="950" dirty="0"/>
          </a:p>
          <a:p>
            <a:pPr marL="342900" indent="-342900" algn="l">
              <a:lnSpc>
                <a:spcPct val="133000"/>
              </a:lnSpc>
              <a:buSzPct val="100000"/>
              <a:buChar char="•"/>
            </a:pPr>
            <a:r>
              <a:rPr lang="en-US" sz="950" b="1" dirty="0">
                <a:solidFill>
                  <a:srgbClr val="3D3E44"/>
                </a:solidFill>
                <a:latin typeface="Inter Light" pitchFamily="34" charset="0"/>
                <a:ea typeface="Inter Light" pitchFamily="34" charset="-122"/>
                <a:cs typeface="Inter Light" pitchFamily="34" charset="-120"/>
              </a:rPr>
              <a:t>Role-based access control</a:t>
            </a:r>
            <a:r>
              <a:rPr lang="en-US" sz="950" dirty="0">
                <a:solidFill>
                  <a:srgbClr val="3D3E44"/>
                </a:solidFill>
                <a:latin typeface="Inter Light" pitchFamily="34" charset="0"/>
                <a:ea typeface="Inter Light" pitchFamily="34" charset="-122"/>
                <a:cs typeface="Inter Light" pitchFamily="34" charset="-120"/>
              </a:rPr>
              <a:t> to limit API access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96119" y="1013743"/>
            <a:ext cx="7977113"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Example: AI-Powered Recommendation Engine</a:t>
            </a:r>
            <a:endParaRPr lang="en-US" sz="2400" dirty="0"/>
          </a:p>
        </p:txBody>
      </p:sp>
      <p:sp>
        <p:nvSpPr>
          <p:cNvPr id="3" name="Shape 1"/>
          <p:cNvSpPr/>
          <p:nvPr/>
        </p:nvSpPr>
        <p:spPr>
          <a:xfrm>
            <a:off x="496119" y="1649313"/>
            <a:ext cx="1088678" cy="233214"/>
          </a:xfrm>
          <a:prstGeom prst="roundRect">
            <a:avLst>
              <a:gd name="adj" fmla="val 38297"/>
            </a:avLst>
          </a:prstGeom>
          <a:solidFill>
            <a:srgbClr val="DFE1EC"/>
          </a:solidFill>
          <a:ln/>
        </p:spPr>
      </p:sp>
      <p:sp>
        <p:nvSpPr>
          <p:cNvPr id="4" name="Text 2"/>
          <p:cNvSpPr/>
          <p:nvPr/>
        </p:nvSpPr>
        <p:spPr>
          <a:xfrm>
            <a:off x="570533" y="1686520"/>
            <a:ext cx="1397050" cy="158800"/>
          </a:xfrm>
          <a:prstGeom prst="rect">
            <a:avLst/>
          </a:prstGeom>
          <a:noFill/>
          <a:ln/>
        </p:spPr>
        <p:txBody>
          <a:bodyPr wrap="none" lIns="0" tIns="0" rIns="0" bIns="0" rtlCol="0" anchor="t"/>
          <a:lstStyle/>
          <a:p>
            <a:pPr marL="0" indent="0" algn="l">
              <a:lnSpc>
                <a:spcPct val="133000"/>
              </a:lnSpc>
              <a:buNone/>
            </a:pPr>
            <a:r>
              <a:rPr lang="en-US" sz="750" dirty="0">
                <a:solidFill>
                  <a:srgbClr val="3D3E44"/>
                </a:solidFill>
                <a:latin typeface="Inter Light" pitchFamily="34" charset="0"/>
                <a:ea typeface="Inter Light" pitchFamily="34" charset="-122"/>
                <a:cs typeface="Inter Light" pitchFamily="34" charset="-120"/>
              </a:rPr>
              <a:t>PRACTICAL DESIGN</a:t>
            </a:r>
            <a:endParaRPr lang="en-US" sz="750" dirty="0"/>
          </a:p>
        </p:txBody>
      </p:sp>
      <p:sp>
        <p:nvSpPr>
          <p:cNvPr id="5" name="Shape 3"/>
          <p:cNvSpPr/>
          <p:nvPr/>
        </p:nvSpPr>
        <p:spPr>
          <a:xfrm>
            <a:off x="496119" y="2022053"/>
            <a:ext cx="2634555" cy="2107629"/>
          </a:xfrm>
          <a:prstGeom prst="roundRect">
            <a:avLst>
              <a:gd name="adj" fmla="val 5297"/>
            </a:avLst>
          </a:prstGeom>
          <a:solidFill>
            <a:srgbClr val="FFFFFF"/>
          </a:solidFill>
          <a:ln w="14288">
            <a:solidFill>
              <a:srgbClr val="C5C7D2"/>
            </a:solidFill>
            <a:prstDash val="solid"/>
          </a:ln>
        </p:spPr>
      </p:sp>
      <p:sp>
        <p:nvSpPr>
          <p:cNvPr id="6" name="Shape 4"/>
          <p:cNvSpPr/>
          <p:nvPr/>
        </p:nvSpPr>
        <p:spPr>
          <a:xfrm>
            <a:off x="510406" y="2036341"/>
            <a:ext cx="2605980" cy="372070"/>
          </a:xfrm>
          <a:prstGeom prst="roundRect">
            <a:avLst>
              <a:gd name="adj" fmla="val 25398"/>
            </a:avLst>
          </a:prstGeom>
          <a:solidFill>
            <a:srgbClr val="EFF0F6"/>
          </a:solidFill>
          <a:ln/>
        </p:spPr>
      </p:sp>
      <p:sp>
        <p:nvSpPr>
          <p:cNvPr id="7" name="Text 5"/>
          <p:cNvSpPr/>
          <p:nvPr/>
        </p:nvSpPr>
        <p:spPr>
          <a:xfrm>
            <a:off x="1720379" y="2103686"/>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3D3E44"/>
                </a:solidFill>
                <a:latin typeface="Montserrat Medium" pitchFamily="34" charset="0"/>
                <a:ea typeface="Montserrat Medium" pitchFamily="34" charset="-122"/>
                <a:cs typeface="Montserrat Medium" pitchFamily="34" charset="-120"/>
              </a:rPr>
              <a:t>1</a:t>
            </a:r>
            <a:endParaRPr lang="en-US" sz="1450" dirty="0"/>
          </a:p>
        </p:txBody>
      </p:sp>
      <p:sp>
        <p:nvSpPr>
          <p:cNvPr id="8" name="Text 6"/>
          <p:cNvSpPr/>
          <p:nvPr/>
        </p:nvSpPr>
        <p:spPr>
          <a:xfrm>
            <a:off x="634380" y="2532385"/>
            <a:ext cx="168711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Define Requirements</a:t>
            </a:r>
            <a:endParaRPr lang="en-US" sz="1200" dirty="0"/>
          </a:p>
        </p:txBody>
      </p:sp>
      <p:sp>
        <p:nvSpPr>
          <p:cNvPr id="9" name="Text 7"/>
          <p:cNvSpPr/>
          <p:nvPr/>
        </p:nvSpPr>
        <p:spPr>
          <a:xfrm>
            <a:off x="634380" y="2800648"/>
            <a:ext cx="235803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Personalized recommendations updating in near real-time. Predictions served under 200ms with accuracy, scalability, and reliability.</a:t>
            </a:r>
            <a:endParaRPr lang="en-US" sz="950" dirty="0"/>
          </a:p>
        </p:txBody>
      </p:sp>
      <p:sp>
        <p:nvSpPr>
          <p:cNvPr id="10" name="Shape 8"/>
          <p:cNvSpPr/>
          <p:nvPr/>
        </p:nvSpPr>
        <p:spPr>
          <a:xfrm>
            <a:off x="3254648" y="2022053"/>
            <a:ext cx="2634630" cy="2107629"/>
          </a:xfrm>
          <a:prstGeom prst="roundRect">
            <a:avLst>
              <a:gd name="adj" fmla="val 5297"/>
            </a:avLst>
          </a:prstGeom>
          <a:solidFill>
            <a:srgbClr val="FFFFFF"/>
          </a:solidFill>
          <a:ln w="14288">
            <a:solidFill>
              <a:srgbClr val="C5C7D2"/>
            </a:solidFill>
            <a:prstDash val="solid"/>
          </a:ln>
        </p:spPr>
      </p:sp>
      <p:sp>
        <p:nvSpPr>
          <p:cNvPr id="11" name="Shape 9"/>
          <p:cNvSpPr/>
          <p:nvPr/>
        </p:nvSpPr>
        <p:spPr>
          <a:xfrm>
            <a:off x="3268935" y="2036341"/>
            <a:ext cx="2606055" cy="372070"/>
          </a:xfrm>
          <a:prstGeom prst="roundRect">
            <a:avLst>
              <a:gd name="adj" fmla="val 25398"/>
            </a:avLst>
          </a:prstGeom>
          <a:solidFill>
            <a:srgbClr val="EFF0F6"/>
          </a:solidFill>
          <a:ln/>
        </p:spPr>
      </p:sp>
      <p:sp>
        <p:nvSpPr>
          <p:cNvPr id="12" name="Text 10"/>
          <p:cNvSpPr/>
          <p:nvPr/>
        </p:nvSpPr>
        <p:spPr>
          <a:xfrm>
            <a:off x="4478908" y="2103686"/>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3D3E44"/>
                </a:solidFill>
                <a:latin typeface="Montserrat Medium" pitchFamily="34" charset="0"/>
                <a:ea typeface="Montserrat Medium" pitchFamily="34" charset="-122"/>
                <a:cs typeface="Montserrat Medium" pitchFamily="34" charset="-120"/>
              </a:rPr>
              <a:t>2</a:t>
            </a:r>
            <a:endParaRPr lang="en-US" sz="1450" dirty="0"/>
          </a:p>
        </p:txBody>
      </p:sp>
      <p:sp>
        <p:nvSpPr>
          <p:cNvPr id="13" name="Text 11"/>
          <p:cNvSpPr/>
          <p:nvPr/>
        </p:nvSpPr>
        <p:spPr>
          <a:xfrm>
            <a:off x="3392909" y="2532385"/>
            <a:ext cx="1580480"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Design Architecture</a:t>
            </a:r>
            <a:endParaRPr lang="en-US" sz="1200" dirty="0"/>
          </a:p>
        </p:txBody>
      </p:sp>
      <p:sp>
        <p:nvSpPr>
          <p:cNvPr id="14" name="Text 12"/>
          <p:cNvSpPr/>
          <p:nvPr/>
        </p:nvSpPr>
        <p:spPr>
          <a:xfrm>
            <a:off x="3392909" y="2800648"/>
            <a:ext cx="2358107"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Kafka for clickstream ingestion → S3 + Cassandra for storage → Two-Tower model for retrieval → XGBoost/deep learning for ranking → TensorFlow Serving/FastAPI → Redis cache.</a:t>
            </a:r>
            <a:endParaRPr lang="en-US" sz="950" dirty="0"/>
          </a:p>
        </p:txBody>
      </p:sp>
      <p:sp>
        <p:nvSpPr>
          <p:cNvPr id="15" name="Shape 13"/>
          <p:cNvSpPr/>
          <p:nvPr/>
        </p:nvSpPr>
        <p:spPr>
          <a:xfrm>
            <a:off x="6013252" y="2022053"/>
            <a:ext cx="2634555" cy="2107629"/>
          </a:xfrm>
          <a:prstGeom prst="roundRect">
            <a:avLst>
              <a:gd name="adj" fmla="val 5297"/>
            </a:avLst>
          </a:prstGeom>
          <a:solidFill>
            <a:srgbClr val="FFFFFF"/>
          </a:solidFill>
          <a:ln w="14288">
            <a:solidFill>
              <a:srgbClr val="C5C7D2"/>
            </a:solidFill>
            <a:prstDash val="solid"/>
          </a:ln>
        </p:spPr>
      </p:sp>
      <p:sp>
        <p:nvSpPr>
          <p:cNvPr id="16" name="Shape 14"/>
          <p:cNvSpPr/>
          <p:nvPr/>
        </p:nvSpPr>
        <p:spPr>
          <a:xfrm>
            <a:off x="6027539" y="2036341"/>
            <a:ext cx="2605980" cy="372070"/>
          </a:xfrm>
          <a:prstGeom prst="roundRect">
            <a:avLst>
              <a:gd name="adj" fmla="val 25398"/>
            </a:avLst>
          </a:prstGeom>
          <a:solidFill>
            <a:srgbClr val="EFF0F6"/>
          </a:solidFill>
          <a:ln/>
        </p:spPr>
      </p:sp>
      <p:sp>
        <p:nvSpPr>
          <p:cNvPr id="17" name="Text 15"/>
          <p:cNvSpPr/>
          <p:nvPr/>
        </p:nvSpPr>
        <p:spPr>
          <a:xfrm>
            <a:off x="7237512" y="2103686"/>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3D3E44"/>
                </a:solidFill>
                <a:latin typeface="Montserrat Medium" pitchFamily="34" charset="0"/>
                <a:ea typeface="Montserrat Medium" pitchFamily="34" charset="-122"/>
                <a:cs typeface="Montserrat Medium" pitchFamily="34" charset="-120"/>
              </a:rPr>
              <a:t>3</a:t>
            </a:r>
            <a:endParaRPr lang="en-US" sz="1450" dirty="0"/>
          </a:p>
        </p:txBody>
      </p:sp>
      <p:sp>
        <p:nvSpPr>
          <p:cNvPr id="18" name="Text 16"/>
          <p:cNvSpPr/>
          <p:nvPr/>
        </p:nvSpPr>
        <p:spPr>
          <a:xfrm>
            <a:off x="6151513" y="253238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Define Workflow</a:t>
            </a:r>
            <a:endParaRPr lang="en-US" sz="1200" dirty="0"/>
          </a:p>
        </p:txBody>
      </p:sp>
      <p:sp>
        <p:nvSpPr>
          <p:cNvPr id="19" name="Text 17"/>
          <p:cNvSpPr/>
          <p:nvPr/>
        </p:nvSpPr>
        <p:spPr>
          <a:xfrm>
            <a:off x="6151513" y="2800648"/>
            <a:ext cx="2358033"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User logs in → fetch cached recommendations (or vector search for 1,000 candidates on cache miss) → ranking model scores and returns top N → user feedback streamed via Kafka to asynchronously update features.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6119" y="980182"/>
            <a:ext cx="5983263"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Key Trade-Offs in AI System Design</a:t>
            </a:r>
            <a:endParaRPr lang="en-US" sz="2400" dirty="0"/>
          </a:p>
        </p:txBody>
      </p:sp>
      <p:sp>
        <p:nvSpPr>
          <p:cNvPr id="3" name="Text 1"/>
          <p:cNvSpPr/>
          <p:nvPr/>
        </p:nvSpPr>
        <p:spPr>
          <a:xfrm>
            <a:off x="496119" y="1615753"/>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Every AI system requires balancing multiple dimensions. In 2026, managing the trade-off between agent autonomy and operational cost is among the most pressing challenges.</a:t>
            </a:r>
            <a:endParaRPr lang="en-US" sz="950" dirty="0"/>
          </a:p>
        </p:txBody>
      </p:sp>
      <p:sp>
        <p:nvSpPr>
          <p:cNvPr id="4" name="Shape 2"/>
          <p:cNvSpPr/>
          <p:nvPr/>
        </p:nvSpPr>
        <p:spPr>
          <a:xfrm>
            <a:off x="496119" y="2152204"/>
            <a:ext cx="8151763" cy="2011114"/>
          </a:xfrm>
          <a:prstGeom prst="roundRect">
            <a:avLst>
              <a:gd name="adj" fmla="val 5551"/>
            </a:avLst>
          </a:prstGeom>
          <a:noFill/>
          <a:ln w="4763">
            <a:solidFill>
              <a:srgbClr val="000000">
                <a:alpha val="8000"/>
              </a:srgbClr>
            </a:solidFill>
            <a:prstDash val="solid"/>
          </a:ln>
        </p:spPr>
      </p:sp>
      <p:sp>
        <p:nvSpPr>
          <p:cNvPr id="5" name="Text 3"/>
          <p:cNvSpPr/>
          <p:nvPr/>
        </p:nvSpPr>
        <p:spPr>
          <a:xfrm>
            <a:off x="624929" y="2236143"/>
            <a:ext cx="2649513" cy="198462"/>
          </a:xfrm>
          <a:prstGeom prst="rect">
            <a:avLst/>
          </a:prstGeom>
          <a:noFill/>
          <a:ln/>
        </p:spPr>
        <p:txBody>
          <a:bodyPr wrap="none" lIns="0" tIns="0" rIns="0" bIns="0" rtlCol="0" anchor="t"/>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Accuracy vs. Latency</a:t>
            </a:r>
            <a:endParaRPr lang="en-US" sz="950" dirty="0"/>
          </a:p>
        </p:txBody>
      </p:sp>
      <p:sp>
        <p:nvSpPr>
          <p:cNvPr id="6" name="Text 4"/>
          <p:cNvSpPr/>
          <p:nvPr/>
        </p:nvSpPr>
        <p:spPr>
          <a:xfrm>
            <a:off x="3069952" y="2236143"/>
            <a:ext cx="590639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High-accuracy models (e.g., large transformers) are slower and more expensive to run.</a:t>
            </a:r>
            <a:endParaRPr lang="en-US" sz="950" dirty="0"/>
          </a:p>
        </p:txBody>
      </p:sp>
      <p:sp>
        <p:nvSpPr>
          <p:cNvPr id="7" name="Text 5"/>
          <p:cNvSpPr/>
          <p:nvPr/>
        </p:nvSpPr>
        <p:spPr>
          <a:xfrm>
            <a:off x="624929" y="2597721"/>
            <a:ext cx="2649513" cy="198462"/>
          </a:xfrm>
          <a:prstGeom prst="rect">
            <a:avLst/>
          </a:prstGeom>
          <a:noFill/>
          <a:ln/>
        </p:spPr>
        <p:txBody>
          <a:bodyPr wrap="none" lIns="0" tIns="0" rIns="0" bIns="0" rtlCol="0" anchor="t"/>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Batch vs. Real-time</a:t>
            </a:r>
            <a:endParaRPr lang="en-US" sz="950" dirty="0"/>
          </a:p>
        </p:txBody>
      </p:sp>
      <p:sp>
        <p:nvSpPr>
          <p:cNvPr id="8" name="Text 6"/>
          <p:cNvSpPr/>
          <p:nvPr/>
        </p:nvSpPr>
        <p:spPr>
          <a:xfrm>
            <a:off x="3069952" y="2597721"/>
            <a:ext cx="590639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Batch processing is cheaper and easier to manage but suffers from data staleness.</a:t>
            </a:r>
            <a:endParaRPr lang="en-US" sz="950" dirty="0"/>
          </a:p>
        </p:txBody>
      </p:sp>
      <p:sp>
        <p:nvSpPr>
          <p:cNvPr id="9" name="Text 7"/>
          <p:cNvSpPr/>
          <p:nvPr/>
        </p:nvSpPr>
        <p:spPr>
          <a:xfrm>
            <a:off x="624929" y="2959298"/>
            <a:ext cx="2649513" cy="198462"/>
          </a:xfrm>
          <a:prstGeom prst="rect">
            <a:avLst/>
          </a:prstGeom>
          <a:noFill/>
          <a:ln/>
        </p:spPr>
        <p:txBody>
          <a:bodyPr wrap="none" lIns="0" tIns="0" rIns="0" bIns="0" rtlCol="0" anchor="t"/>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Complexity vs. Maintainability</a:t>
            </a:r>
            <a:endParaRPr lang="en-US" sz="950" dirty="0"/>
          </a:p>
        </p:txBody>
      </p:sp>
      <p:sp>
        <p:nvSpPr>
          <p:cNvPr id="10" name="Text 8"/>
          <p:cNvSpPr/>
          <p:nvPr/>
        </p:nvSpPr>
        <p:spPr>
          <a:xfrm>
            <a:off x="3069952" y="2959298"/>
            <a:ext cx="590639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Microservice agent architectures are flexible but harder to debug than monoliths.</a:t>
            </a:r>
            <a:endParaRPr lang="en-US" sz="950" dirty="0"/>
          </a:p>
        </p:txBody>
      </p:sp>
      <p:sp>
        <p:nvSpPr>
          <p:cNvPr id="11" name="Text 9"/>
          <p:cNvSpPr/>
          <p:nvPr/>
        </p:nvSpPr>
        <p:spPr>
          <a:xfrm>
            <a:off x="624929" y="3320876"/>
            <a:ext cx="2649513" cy="198462"/>
          </a:xfrm>
          <a:prstGeom prst="rect">
            <a:avLst/>
          </a:prstGeom>
          <a:noFill/>
          <a:ln/>
        </p:spPr>
        <p:txBody>
          <a:bodyPr wrap="none" lIns="0" tIns="0" rIns="0" bIns="0" rtlCol="0" anchor="t"/>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Cost vs. Redundancy</a:t>
            </a:r>
            <a:endParaRPr lang="en-US" sz="950" dirty="0"/>
          </a:p>
        </p:txBody>
      </p:sp>
      <p:sp>
        <p:nvSpPr>
          <p:cNvPr id="12" name="Text 10"/>
          <p:cNvSpPr/>
          <p:nvPr/>
        </p:nvSpPr>
        <p:spPr>
          <a:xfrm>
            <a:off x="3069952" y="3320876"/>
            <a:ext cx="5906393" cy="198462"/>
          </a:xfrm>
          <a:prstGeom prst="rect">
            <a:avLst/>
          </a:prstGeom>
          <a:noFill/>
          <a:ln/>
        </p:spPr>
        <p:txBody>
          <a:bodyPr wrap="none" lIns="0" tIns="0" rIns="0" bIns="0" rtlCol="0" anchor="t"/>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More replicas improve reliability but linearly increase infrastructure costs.</a:t>
            </a:r>
            <a:endParaRPr lang="en-US" sz="950" dirty="0"/>
          </a:p>
        </p:txBody>
      </p:sp>
      <p:sp>
        <p:nvSpPr>
          <p:cNvPr id="13" name="Text 11"/>
          <p:cNvSpPr/>
          <p:nvPr/>
        </p:nvSpPr>
        <p:spPr>
          <a:xfrm>
            <a:off x="624929" y="3682454"/>
            <a:ext cx="2649513" cy="198462"/>
          </a:xfrm>
          <a:prstGeom prst="rect">
            <a:avLst/>
          </a:prstGeom>
          <a:noFill/>
          <a:ln/>
        </p:spPr>
        <p:txBody>
          <a:bodyPr wrap="none" lIns="0" tIns="0" rIns="0" bIns="0" rtlCol="0" anchor="t"/>
          <a:lstStyle/>
          <a:p>
            <a:pPr marL="0" indent="0" algn="l">
              <a:lnSpc>
                <a:spcPct val="133000"/>
              </a:lnSpc>
              <a:buNone/>
            </a:pPr>
            <a:r>
              <a:rPr lang="en-US" sz="950" b="1" dirty="0">
                <a:solidFill>
                  <a:srgbClr val="3D3E44"/>
                </a:solidFill>
                <a:latin typeface="Inter Light" pitchFamily="34" charset="0"/>
                <a:ea typeface="Inter Light" pitchFamily="34" charset="-122"/>
                <a:cs typeface="Inter Light" pitchFamily="34" charset="-120"/>
              </a:rPr>
              <a:t>Autonomy vs. Control</a:t>
            </a:r>
            <a:endParaRPr lang="en-US" sz="950" dirty="0"/>
          </a:p>
        </p:txBody>
      </p:sp>
      <p:sp>
        <p:nvSpPr>
          <p:cNvPr id="14" name="Text 12"/>
          <p:cNvSpPr/>
          <p:nvPr/>
        </p:nvSpPr>
        <p:spPr>
          <a:xfrm>
            <a:off x="3069952" y="3682454"/>
            <a:ext cx="544919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Agentic systems are powerful but harder to predict; strict guardrails reduce capability but increase safety.</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98066" y="313730"/>
            <a:ext cx="4873675" cy="314920"/>
          </a:xfrm>
          <a:prstGeom prst="rect">
            <a:avLst/>
          </a:prstGeom>
          <a:noFill/>
          <a:ln/>
        </p:spPr>
        <p:txBody>
          <a:bodyPr wrap="none" lIns="0" tIns="0" rIns="0" bIns="0" rtlCol="0" anchor="t"/>
          <a:lstStyle/>
          <a:p>
            <a:pPr marL="0" indent="0" algn="l">
              <a:lnSpc>
                <a:spcPct val="104000"/>
              </a:lnSpc>
              <a:buNone/>
            </a:pPr>
            <a:r>
              <a:rPr lang="en-US" sz="1950" dirty="0">
                <a:solidFill>
                  <a:srgbClr val="74767D"/>
                </a:solidFill>
                <a:latin typeface="Montserrat Medium" pitchFamily="34" charset="0"/>
                <a:ea typeface="Montserrat Medium" pitchFamily="34" charset="-122"/>
                <a:cs typeface="Montserrat Medium" pitchFamily="34" charset="-120"/>
              </a:rPr>
              <a:t>Structuring Your AI System</a:t>
            </a:r>
            <a:endParaRPr lang="en-US" sz="1950" dirty="0"/>
          </a:p>
        </p:txBody>
      </p:sp>
      <p:sp>
        <p:nvSpPr>
          <p:cNvPr id="3" name="Shape 1"/>
          <p:cNvSpPr/>
          <p:nvPr/>
        </p:nvSpPr>
        <p:spPr>
          <a:xfrm>
            <a:off x="598066" y="792361"/>
            <a:ext cx="403101" cy="604689"/>
          </a:xfrm>
          <a:prstGeom prst="roundRect">
            <a:avLst>
              <a:gd name="adj" fmla="val 360044"/>
            </a:avLst>
          </a:prstGeom>
          <a:solidFill>
            <a:srgbClr val="EFF0F6"/>
          </a:solidFill>
          <a:ln w="4763">
            <a:solidFill>
              <a:srgbClr val="C5C7D2"/>
            </a:solidFill>
            <a:prstDash val="solid"/>
          </a:ln>
        </p:spPr>
      </p:sp>
      <p:sp>
        <p:nvSpPr>
          <p:cNvPr id="4" name="Text 2"/>
          <p:cNvSpPr/>
          <p:nvPr/>
        </p:nvSpPr>
        <p:spPr>
          <a:xfrm>
            <a:off x="724049" y="1000199"/>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1</a:t>
            </a:r>
            <a:endParaRPr lang="en-US" sz="1150" dirty="0"/>
          </a:p>
        </p:txBody>
      </p:sp>
      <p:sp>
        <p:nvSpPr>
          <p:cNvPr id="5" name="Text 3"/>
          <p:cNvSpPr/>
          <p:nvPr/>
        </p:nvSpPr>
        <p:spPr>
          <a:xfrm>
            <a:off x="1083022" y="893118"/>
            <a:ext cx="1259830"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Clarify the Problem</a:t>
            </a:r>
            <a:endParaRPr lang="en-US" sz="950" dirty="0"/>
          </a:p>
        </p:txBody>
      </p:sp>
      <p:sp>
        <p:nvSpPr>
          <p:cNvPr id="6" name="Text 4"/>
          <p:cNvSpPr/>
          <p:nvPr/>
        </p:nvSpPr>
        <p:spPr>
          <a:xfrm>
            <a:off x="1083022" y="1099691"/>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Ask about data types, latency requirements, and scale.</a:t>
            </a:r>
            <a:endParaRPr lang="en-US" sz="750" dirty="0"/>
          </a:p>
        </p:txBody>
      </p:sp>
      <p:sp>
        <p:nvSpPr>
          <p:cNvPr id="7" name="Shape 5"/>
          <p:cNvSpPr/>
          <p:nvPr/>
        </p:nvSpPr>
        <p:spPr>
          <a:xfrm>
            <a:off x="598066" y="1478905"/>
            <a:ext cx="403101" cy="604689"/>
          </a:xfrm>
          <a:prstGeom prst="roundRect">
            <a:avLst>
              <a:gd name="adj" fmla="val 360044"/>
            </a:avLst>
          </a:prstGeom>
          <a:solidFill>
            <a:srgbClr val="EFF0F6"/>
          </a:solidFill>
          <a:ln w="4763">
            <a:solidFill>
              <a:srgbClr val="C5C7D2"/>
            </a:solidFill>
            <a:prstDash val="solid"/>
          </a:ln>
        </p:spPr>
      </p:sp>
      <p:sp>
        <p:nvSpPr>
          <p:cNvPr id="8" name="Text 6"/>
          <p:cNvSpPr/>
          <p:nvPr/>
        </p:nvSpPr>
        <p:spPr>
          <a:xfrm>
            <a:off x="724049" y="1686744"/>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2</a:t>
            </a:r>
            <a:endParaRPr lang="en-US" sz="1150" dirty="0"/>
          </a:p>
        </p:txBody>
      </p:sp>
      <p:sp>
        <p:nvSpPr>
          <p:cNvPr id="9" name="Text 7"/>
          <p:cNvSpPr/>
          <p:nvPr/>
        </p:nvSpPr>
        <p:spPr>
          <a:xfrm>
            <a:off x="1083022" y="1579662"/>
            <a:ext cx="1259830"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Estimate Scale</a:t>
            </a:r>
            <a:endParaRPr lang="en-US" sz="950" dirty="0"/>
          </a:p>
        </p:txBody>
      </p:sp>
      <p:sp>
        <p:nvSpPr>
          <p:cNvPr id="10" name="Text 8"/>
          <p:cNvSpPr/>
          <p:nvPr/>
        </p:nvSpPr>
        <p:spPr>
          <a:xfrm>
            <a:off x="1083022" y="1786235"/>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Approximate user count, request volume, and storage needs.</a:t>
            </a:r>
            <a:endParaRPr lang="en-US" sz="750" dirty="0"/>
          </a:p>
        </p:txBody>
      </p:sp>
      <p:sp>
        <p:nvSpPr>
          <p:cNvPr id="11" name="Shape 9"/>
          <p:cNvSpPr/>
          <p:nvPr/>
        </p:nvSpPr>
        <p:spPr>
          <a:xfrm>
            <a:off x="598066" y="2165449"/>
            <a:ext cx="403101" cy="604689"/>
          </a:xfrm>
          <a:prstGeom prst="roundRect">
            <a:avLst>
              <a:gd name="adj" fmla="val 360044"/>
            </a:avLst>
          </a:prstGeom>
          <a:solidFill>
            <a:srgbClr val="EFF0F6"/>
          </a:solidFill>
          <a:ln w="4763">
            <a:solidFill>
              <a:srgbClr val="C5C7D2"/>
            </a:solidFill>
            <a:prstDash val="solid"/>
          </a:ln>
        </p:spPr>
      </p:sp>
      <p:sp>
        <p:nvSpPr>
          <p:cNvPr id="12" name="Text 10"/>
          <p:cNvSpPr/>
          <p:nvPr/>
        </p:nvSpPr>
        <p:spPr>
          <a:xfrm>
            <a:off x="724049" y="2373288"/>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3</a:t>
            </a:r>
            <a:endParaRPr lang="en-US" sz="1150" dirty="0"/>
          </a:p>
        </p:txBody>
      </p:sp>
      <p:sp>
        <p:nvSpPr>
          <p:cNvPr id="13" name="Text 11"/>
          <p:cNvSpPr/>
          <p:nvPr/>
        </p:nvSpPr>
        <p:spPr>
          <a:xfrm>
            <a:off x="1083022" y="2266206"/>
            <a:ext cx="1356420"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Propose Architecture</a:t>
            </a:r>
            <a:endParaRPr lang="en-US" sz="950" dirty="0"/>
          </a:p>
        </p:txBody>
      </p:sp>
      <p:sp>
        <p:nvSpPr>
          <p:cNvPr id="14" name="Text 12"/>
          <p:cNvSpPr/>
          <p:nvPr/>
        </p:nvSpPr>
        <p:spPr>
          <a:xfrm>
            <a:off x="1083022" y="2472779"/>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Include data, model, and serving layers at a high level.</a:t>
            </a:r>
            <a:endParaRPr lang="en-US" sz="750" dirty="0"/>
          </a:p>
        </p:txBody>
      </p:sp>
      <p:sp>
        <p:nvSpPr>
          <p:cNvPr id="15" name="Shape 13"/>
          <p:cNvSpPr/>
          <p:nvPr/>
        </p:nvSpPr>
        <p:spPr>
          <a:xfrm>
            <a:off x="598066" y="2851993"/>
            <a:ext cx="403101" cy="604689"/>
          </a:xfrm>
          <a:prstGeom prst="roundRect">
            <a:avLst>
              <a:gd name="adj" fmla="val 360044"/>
            </a:avLst>
          </a:prstGeom>
          <a:solidFill>
            <a:srgbClr val="EFF0F6"/>
          </a:solidFill>
          <a:ln w="4763">
            <a:solidFill>
              <a:srgbClr val="C5C7D2"/>
            </a:solidFill>
            <a:prstDash val="solid"/>
          </a:ln>
        </p:spPr>
      </p:sp>
      <p:sp>
        <p:nvSpPr>
          <p:cNvPr id="16" name="Text 14"/>
          <p:cNvSpPr/>
          <p:nvPr/>
        </p:nvSpPr>
        <p:spPr>
          <a:xfrm>
            <a:off x="724049" y="3059832"/>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4</a:t>
            </a:r>
            <a:endParaRPr lang="en-US" sz="1150" dirty="0"/>
          </a:p>
        </p:txBody>
      </p:sp>
      <p:sp>
        <p:nvSpPr>
          <p:cNvPr id="17" name="Text 15"/>
          <p:cNvSpPr/>
          <p:nvPr/>
        </p:nvSpPr>
        <p:spPr>
          <a:xfrm>
            <a:off x="1083022" y="2952750"/>
            <a:ext cx="1259830"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Dive Into Specifics</a:t>
            </a:r>
            <a:endParaRPr lang="en-US" sz="950" dirty="0"/>
          </a:p>
        </p:txBody>
      </p:sp>
      <p:sp>
        <p:nvSpPr>
          <p:cNvPr id="18" name="Text 16"/>
          <p:cNvSpPr/>
          <p:nvPr/>
        </p:nvSpPr>
        <p:spPr>
          <a:xfrm>
            <a:off x="1083022" y="3159323"/>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Discuss caching, indexing, and fault tolerance in detail.</a:t>
            </a:r>
            <a:endParaRPr lang="en-US" sz="750" dirty="0"/>
          </a:p>
        </p:txBody>
      </p:sp>
      <p:sp>
        <p:nvSpPr>
          <p:cNvPr id="19" name="Shape 17"/>
          <p:cNvSpPr/>
          <p:nvPr/>
        </p:nvSpPr>
        <p:spPr>
          <a:xfrm>
            <a:off x="598066" y="3538537"/>
            <a:ext cx="403101" cy="604689"/>
          </a:xfrm>
          <a:prstGeom prst="roundRect">
            <a:avLst>
              <a:gd name="adj" fmla="val 360044"/>
            </a:avLst>
          </a:prstGeom>
          <a:solidFill>
            <a:srgbClr val="EFF0F6"/>
          </a:solidFill>
          <a:ln w="4763">
            <a:solidFill>
              <a:srgbClr val="C5C7D2"/>
            </a:solidFill>
            <a:prstDash val="solid"/>
          </a:ln>
        </p:spPr>
      </p:sp>
      <p:sp>
        <p:nvSpPr>
          <p:cNvPr id="20" name="Text 18"/>
          <p:cNvSpPr/>
          <p:nvPr/>
        </p:nvSpPr>
        <p:spPr>
          <a:xfrm>
            <a:off x="724049" y="3746376"/>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5</a:t>
            </a:r>
            <a:endParaRPr lang="en-US" sz="1150" dirty="0"/>
          </a:p>
        </p:txBody>
      </p:sp>
      <p:sp>
        <p:nvSpPr>
          <p:cNvPr id="21" name="Text 19"/>
          <p:cNvSpPr/>
          <p:nvPr/>
        </p:nvSpPr>
        <p:spPr>
          <a:xfrm>
            <a:off x="1083022" y="3639294"/>
            <a:ext cx="1259830"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Discuss Trade-Offs</a:t>
            </a:r>
            <a:endParaRPr lang="en-US" sz="950" dirty="0"/>
          </a:p>
        </p:txBody>
      </p:sp>
      <p:sp>
        <p:nvSpPr>
          <p:cNvPr id="22" name="Text 20"/>
          <p:cNvSpPr/>
          <p:nvPr/>
        </p:nvSpPr>
        <p:spPr>
          <a:xfrm>
            <a:off x="1083022" y="3845868"/>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Highlight scalability vs. cost, accuracy vs. latency.</a:t>
            </a:r>
            <a:endParaRPr lang="en-US" sz="750" dirty="0"/>
          </a:p>
        </p:txBody>
      </p:sp>
      <p:sp>
        <p:nvSpPr>
          <p:cNvPr id="23" name="Shape 21"/>
          <p:cNvSpPr/>
          <p:nvPr/>
        </p:nvSpPr>
        <p:spPr>
          <a:xfrm>
            <a:off x="598066" y="4225082"/>
            <a:ext cx="403101" cy="604689"/>
          </a:xfrm>
          <a:prstGeom prst="roundRect">
            <a:avLst>
              <a:gd name="adj" fmla="val 360044"/>
            </a:avLst>
          </a:prstGeom>
          <a:solidFill>
            <a:srgbClr val="EFF0F6"/>
          </a:solidFill>
          <a:ln w="4763">
            <a:solidFill>
              <a:srgbClr val="C5C7D2"/>
            </a:solidFill>
            <a:prstDash val="solid"/>
          </a:ln>
        </p:spPr>
      </p:sp>
      <p:sp>
        <p:nvSpPr>
          <p:cNvPr id="24" name="Text 22"/>
          <p:cNvSpPr/>
          <p:nvPr/>
        </p:nvSpPr>
        <p:spPr>
          <a:xfrm>
            <a:off x="724049" y="4432920"/>
            <a:ext cx="151135" cy="188937"/>
          </a:xfrm>
          <a:prstGeom prst="rect">
            <a:avLst/>
          </a:prstGeom>
          <a:noFill/>
          <a:ln/>
        </p:spPr>
        <p:txBody>
          <a:bodyPr wrap="none" lIns="0" tIns="0" rIns="0" bIns="0" rtlCol="0" anchor="ctr"/>
          <a:lstStyle/>
          <a:p>
            <a:pPr marL="0" indent="0" algn="ctr">
              <a:lnSpc>
                <a:spcPct val="100000"/>
              </a:lnSpc>
              <a:buNone/>
            </a:pPr>
            <a:r>
              <a:rPr lang="en-US" sz="1150" dirty="0">
                <a:solidFill>
                  <a:srgbClr val="3D3E44"/>
                </a:solidFill>
                <a:latin typeface="Montserrat Medium" pitchFamily="34" charset="0"/>
                <a:ea typeface="Montserrat Medium" pitchFamily="34" charset="-122"/>
                <a:cs typeface="Montserrat Medium" pitchFamily="34" charset="-120"/>
              </a:rPr>
              <a:t>6</a:t>
            </a:r>
            <a:endParaRPr lang="en-US" sz="1150" dirty="0"/>
          </a:p>
        </p:txBody>
      </p:sp>
      <p:sp>
        <p:nvSpPr>
          <p:cNvPr id="25" name="Text 23"/>
          <p:cNvSpPr/>
          <p:nvPr/>
        </p:nvSpPr>
        <p:spPr>
          <a:xfrm>
            <a:off x="1083022" y="4325838"/>
            <a:ext cx="1811015" cy="157460"/>
          </a:xfrm>
          <a:prstGeom prst="rect">
            <a:avLst/>
          </a:prstGeom>
          <a:noFill/>
          <a:ln/>
        </p:spPr>
        <p:txBody>
          <a:bodyPr wrap="none" lIns="0" tIns="0" rIns="0" bIns="0" rtlCol="0" anchor="t"/>
          <a:lstStyle/>
          <a:p>
            <a:pPr marL="0" indent="0" algn="l">
              <a:lnSpc>
                <a:spcPct val="104000"/>
              </a:lnSpc>
              <a:buNone/>
            </a:pPr>
            <a:r>
              <a:rPr lang="en-US" sz="950" dirty="0">
                <a:solidFill>
                  <a:srgbClr val="3D3E44"/>
                </a:solidFill>
                <a:latin typeface="Montserrat Medium" pitchFamily="34" charset="0"/>
                <a:ea typeface="Montserrat Medium" pitchFamily="34" charset="-122"/>
                <a:cs typeface="Montserrat Medium" pitchFamily="34" charset="-120"/>
              </a:rPr>
              <a:t>Recommend Improvements</a:t>
            </a:r>
            <a:endParaRPr lang="en-US" sz="950" dirty="0"/>
          </a:p>
        </p:txBody>
      </p:sp>
      <p:sp>
        <p:nvSpPr>
          <p:cNvPr id="26" name="Text 24"/>
          <p:cNvSpPr/>
          <p:nvPr/>
        </p:nvSpPr>
        <p:spPr>
          <a:xfrm>
            <a:off x="1083022" y="4532412"/>
            <a:ext cx="7462837" cy="146075"/>
          </a:xfrm>
          <a:prstGeom prst="rect">
            <a:avLst/>
          </a:prstGeom>
          <a:noFill/>
          <a:ln/>
        </p:spPr>
        <p:txBody>
          <a:bodyPr wrap="none" lIns="0" tIns="0" rIns="0" bIns="0" rtlCol="0" anchor="t"/>
          <a:lstStyle/>
          <a:p>
            <a:pPr marL="0" indent="0" algn="l">
              <a:lnSpc>
                <a:spcPct val="121000"/>
              </a:lnSpc>
              <a:buNone/>
            </a:pPr>
            <a:r>
              <a:rPr lang="en-US" sz="750" dirty="0">
                <a:solidFill>
                  <a:srgbClr val="3D3E44"/>
                </a:solidFill>
                <a:latin typeface="Inter Light" pitchFamily="34" charset="0"/>
                <a:ea typeface="Inter Light" pitchFamily="34" charset="-122"/>
                <a:cs typeface="Inter Light" pitchFamily="34" charset="-120"/>
              </a:rPr>
              <a:t>Suggest evolving the system with agentic capabilities or better MLOps.</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936054"/>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Key Takeaways</a:t>
            </a:r>
            <a:endParaRPr lang="en-US" sz="2400" dirty="0"/>
          </a:p>
        </p:txBody>
      </p:sp>
      <p:sp>
        <p:nvSpPr>
          <p:cNvPr id="3" name="Shape 1"/>
          <p:cNvSpPr/>
          <p:nvPr/>
        </p:nvSpPr>
        <p:spPr>
          <a:xfrm>
            <a:off x="496119" y="1571625"/>
            <a:ext cx="4013895" cy="922660"/>
          </a:xfrm>
          <a:prstGeom prst="roundRect">
            <a:avLst>
              <a:gd name="adj" fmla="val 32267"/>
            </a:avLst>
          </a:prstGeom>
          <a:solidFill>
            <a:srgbClr val="EFF0F6"/>
          </a:solidFill>
          <a:ln w="4763">
            <a:solidFill>
              <a:srgbClr val="C5C7D2"/>
            </a:solidFill>
            <a:prstDash val="solid"/>
          </a:ln>
        </p:spPr>
      </p:sp>
      <p:sp>
        <p:nvSpPr>
          <p:cNvPr id="4" name="Text 2"/>
          <p:cNvSpPr/>
          <p:nvPr/>
        </p:nvSpPr>
        <p:spPr>
          <a:xfrm>
            <a:off x="624855" y="1700361"/>
            <a:ext cx="1631454"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Hybrid Architectures</a:t>
            </a:r>
            <a:endParaRPr lang="en-US" sz="1200" dirty="0"/>
          </a:p>
        </p:txBody>
      </p:sp>
      <p:sp>
        <p:nvSpPr>
          <p:cNvPr id="5" name="Text 3"/>
          <p:cNvSpPr/>
          <p:nvPr/>
        </p:nvSpPr>
        <p:spPr>
          <a:xfrm>
            <a:off x="624855" y="1968624"/>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AI System Design combines traditional distributed systems with ML workflows and modern agentic patterns.</a:t>
            </a:r>
            <a:endParaRPr lang="en-US" sz="950" dirty="0"/>
          </a:p>
        </p:txBody>
      </p:sp>
      <p:sp>
        <p:nvSpPr>
          <p:cNvPr id="6" name="Shape 4"/>
          <p:cNvSpPr/>
          <p:nvPr/>
        </p:nvSpPr>
        <p:spPr>
          <a:xfrm>
            <a:off x="4633987" y="1571625"/>
            <a:ext cx="4013895" cy="922660"/>
          </a:xfrm>
          <a:prstGeom prst="roundRect">
            <a:avLst>
              <a:gd name="adj" fmla="val 32267"/>
            </a:avLst>
          </a:prstGeom>
          <a:solidFill>
            <a:srgbClr val="EFF0F6"/>
          </a:solidFill>
          <a:ln w="4763">
            <a:solidFill>
              <a:srgbClr val="C5C7D2"/>
            </a:solidFill>
            <a:prstDash val="solid"/>
          </a:ln>
        </p:spPr>
      </p:sp>
      <p:sp>
        <p:nvSpPr>
          <p:cNvPr id="7" name="Text 5"/>
          <p:cNvSpPr/>
          <p:nvPr/>
        </p:nvSpPr>
        <p:spPr>
          <a:xfrm>
            <a:off x="4762723" y="1700361"/>
            <a:ext cx="1792635"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Lifecycle Management</a:t>
            </a:r>
            <a:endParaRPr lang="en-US" sz="1200" dirty="0"/>
          </a:p>
        </p:txBody>
      </p:sp>
      <p:sp>
        <p:nvSpPr>
          <p:cNvPr id="8" name="Text 6"/>
          <p:cNvSpPr/>
          <p:nvPr/>
        </p:nvSpPr>
        <p:spPr>
          <a:xfrm>
            <a:off x="4762723" y="1968624"/>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Architecture must include data ingestion, training, serving, and continuous feedback loops.</a:t>
            </a:r>
            <a:endParaRPr lang="en-US" sz="950" dirty="0"/>
          </a:p>
        </p:txBody>
      </p:sp>
      <p:sp>
        <p:nvSpPr>
          <p:cNvPr id="9" name="Shape 7"/>
          <p:cNvSpPr/>
          <p:nvPr/>
        </p:nvSpPr>
        <p:spPr>
          <a:xfrm>
            <a:off x="496119" y="2618259"/>
            <a:ext cx="4013895" cy="922660"/>
          </a:xfrm>
          <a:prstGeom prst="roundRect">
            <a:avLst>
              <a:gd name="adj" fmla="val 32267"/>
            </a:avLst>
          </a:prstGeom>
          <a:solidFill>
            <a:srgbClr val="EFF0F6"/>
          </a:solidFill>
          <a:ln w="4763">
            <a:solidFill>
              <a:srgbClr val="C5C7D2"/>
            </a:solidFill>
            <a:prstDash val="solid"/>
          </a:ln>
        </p:spPr>
      </p:sp>
      <p:sp>
        <p:nvSpPr>
          <p:cNvPr id="10" name="Text 8"/>
          <p:cNvSpPr/>
          <p:nvPr/>
        </p:nvSpPr>
        <p:spPr>
          <a:xfrm>
            <a:off x="624855" y="2746995"/>
            <a:ext cx="2104058"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Performance Optimization</a:t>
            </a:r>
            <a:endParaRPr lang="en-US" sz="1200" dirty="0"/>
          </a:p>
        </p:txBody>
      </p:sp>
      <p:sp>
        <p:nvSpPr>
          <p:cNvPr id="11" name="Text 9"/>
          <p:cNvSpPr/>
          <p:nvPr/>
        </p:nvSpPr>
        <p:spPr>
          <a:xfrm>
            <a:off x="624855" y="3015258"/>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Semantic and feature caching plus vector indexing are crucial for latency and scalability.</a:t>
            </a:r>
            <a:endParaRPr lang="en-US" sz="950" dirty="0"/>
          </a:p>
        </p:txBody>
      </p:sp>
      <p:sp>
        <p:nvSpPr>
          <p:cNvPr id="12" name="Shape 10"/>
          <p:cNvSpPr/>
          <p:nvPr/>
        </p:nvSpPr>
        <p:spPr>
          <a:xfrm>
            <a:off x="4633987" y="2618259"/>
            <a:ext cx="4013895" cy="922660"/>
          </a:xfrm>
          <a:prstGeom prst="roundRect">
            <a:avLst>
              <a:gd name="adj" fmla="val 32267"/>
            </a:avLst>
          </a:prstGeom>
          <a:solidFill>
            <a:srgbClr val="EFF0F6"/>
          </a:solidFill>
          <a:ln w="4763">
            <a:solidFill>
              <a:srgbClr val="C5C7D2"/>
            </a:solidFill>
            <a:prstDash val="solid"/>
          </a:ln>
        </p:spPr>
      </p:sp>
      <p:sp>
        <p:nvSpPr>
          <p:cNvPr id="13" name="Text 11"/>
          <p:cNvSpPr/>
          <p:nvPr/>
        </p:nvSpPr>
        <p:spPr>
          <a:xfrm>
            <a:off x="4762723" y="2746995"/>
            <a:ext cx="1725067" cy="193849"/>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Production Readiness</a:t>
            </a:r>
            <a:endParaRPr lang="en-US" sz="1200" dirty="0"/>
          </a:p>
        </p:txBody>
      </p:sp>
      <p:sp>
        <p:nvSpPr>
          <p:cNvPr id="14" name="Text 12"/>
          <p:cNvSpPr/>
          <p:nvPr/>
        </p:nvSpPr>
        <p:spPr>
          <a:xfrm>
            <a:off x="4762723" y="3015258"/>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D3E44"/>
                </a:solidFill>
                <a:latin typeface="Inter Light" pitchFamily="34" charset="0"/>
                <a:ea typeface="Inter Light" pitchFamily="34" charset="-122"/>
                <a:cs typeface="Inter Light" pitchFamily="34" charset="-120"/>
              </a:rPr>
              <a:t>Fault tolerance, monitoring, governance (AI TRiSM), and privacy are required for all production systems.</a:t>
            </a:r>
            <a:endParaRPr lang="en-US" sz="950" dirty="0"/>
          </a:p>
        </p:txBody>
      </p:sp>
      <p:sp>
        <p:nvSpPr>
          <p:cNvPr id="15" name="Shape 13"/>
          <p:cNvSpPr/>
          <p:nvPr/>
        </p:nvSpPr>
        <p:spPr>
          <a:xfrm>
            <a:off x="496119" y="3680445"/>
            <a:ext cx="8151763" cy="527000"/>
          </a:xfrm>
          <a:prstGeom prst="roundRect">
            <a:avLst>
              <a:gd name="adj" fmla="val 21184"/>
            </a:avLst>
          </a:prstGeom>
          <a:solidFill>
            <a:srgbClr val="B6FCB8"/>
          </a:solidFill>
          <a:ln/>
        </p:spPr>
      </p:sp>
      <p:pic>
        <p:nvPicPr>
          <p:cNvPr id="16" name="Image 0" descr="preencoded.png"/>
          <p:cNvPicPr>
            <a:picLocks noChangeAspect="1"/>
          </p:cNvPicPr>
          <p:nvPr/>
        </p:nvPicPr>
        <p:blipFill>
          <a:blip r:embed="rId3"/>
          <a:stretch>
            <a:fillRect/>
          </a:stretch>
        </p:blipFill>
        <p:spPr>
          <a:xfrm>
            <a:off x="620092" y="3869754"/>
            <a:ext cx="155004" cy="123974"/>
          </a:xfrm>
          <a:prstGeom prst="rect">
            <a:avLst/>
          </a:prstGeom>
        </p:spPr>
      </p:pic>
      <p:sp>
        <p:nvSpPr>
          <p:cNvPr id="17" name="Text 14"/>
          <p:cNvSpPr/>
          <p:nvPr/>
        </p:nvSpPr>
        <p:spPr>
          <a:xfrm>
            <a:off x="899071" y="3835375"/>
            <a:ext cx="8082037"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Inter Light" pitchFamily="34" charset="0"/>
                <a:ea typeface="Inter Light" pitchFamily="34" charset="-122"/>
                <a:cs typeface="Inter Light" pitchFamily="34" charset="-120"/>
              </a:rPr>
              <a:t>Mastering AI System Design prepares you to address machine learning and distributed systems challenges in any interview setting.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1691</Words>
  <Application>Microsoft Office PowerPoint</Application>
  <PresentationFormat>On-screen Show (16:9)</PresentationFormat>
  <Paragraphs>198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Montserrat Light</vt:lpstr>
      <vt:lpstr>Montserrat Medium</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harish kumar</cp:lastModifiedBy>
  <cp:revision>2</cp:revision>
  <dcterms:created xsi:type="dcterms:W3CDTF">2026-05-25T18:34:37Z</dcterms:created>
  <dcterms:modified xsi:type="dcterms:W3CDTF">2026-05-26T03:02:05Z</dcterms:modified>
</cp:coreProperties>
</file>
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embeddedFontLst>
    <p:embeddedFont>
      <p:font typeface="Playfair Display SemiBold" panose="020B0604020202020204" charset="0"/>
      <p:regular r:id="rId16"/>
    </p:embeddedFont>
    <p:embeddedFont>
      <p:font typeface="Public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8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3453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ML System Design: Core Concepts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754585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practical guide to model selection, training architecture, evaluation, and production trade-offs — the systematic decisions that separate a prototype from a production-grade machine learning system.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96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156"/>
            <a:ext cx="420305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 Selection Strategies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6672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 selection is not just about picking the algorithm with the highest accuracy — it is a systematic process of balancing complexity, interpretability, and operational constraints.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03177"/>
            <a:ext cx="2634555" cy="1909167"/>
          </a:xfrm>
          <a:prstGeom prst="roundRect">
            <a:avLst>
              <a:gd name="adj" fmla="val 2729"/>
            </a:avLst>
          </a:prstGeom>
          <a:solidFill>
            <a:srgbClr val="FFFAF6"/>
          </a:solidFill>
          <a:ln w="14288">
            <a:solidFill>
              <a:srgbClr val="E1C2C2"/>
            </a:solidFill>
            <a:prstDash val="solid"/>
          </a:ln>
          <a:effectLst>
            <a:outerShdw dist="1524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0406" y="2217465"/>
            <a:ext cx="2605980" cy="372070"/>
          </a:xfrm>
          <a:prstGeom prst="roundRect">
            <a:avLst>
              <a:gd name="adj" fmla="val 9395"/>
            </a:avLst>
          </a:prstGeom>
          <a:solidFill>
            <a:srgbClr val="E1C2C2">
              <a:alpha val="50000"/>
            </a:srgbClr>
          </a:solidFill>
          <a:ln/>
          <a:effectLst>
            <a:outerShdw dist="1524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20379" y="228480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4380" y="2713509"/>
            <a:ext cx="17587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Heuristic / Baseline First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380" y="2981771"/>
            <a:ext cx="23580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Always start with a simple, interpretable baseline (e.g., Logistic Regression). This sets a performance floor and quantifies the ROI of more complex models.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4648" y="2203177"/>
            <a:ext cx="2634630" cy="1909167"/>
          </a:xfrm>
          <a:prstGeom prst="roundRect">
            <a:avLst>
              <a:gd name="adj" fmla="val 2729"/>
            </a:avLst>
          </a:prstGeom>
          <a:solidFill>
            <a:srgbClr val="FFFAF6"/>
          </a:solidFill>
          <a:ln w="14288">
            <a:solidFill>
              <a:srgbClr val="CCC4EC"/>
            </a:solidFill>
            <a:prstDash val="solid"/>
          </a:ln>
          <a:effectLst>
            <a:outerShdw dist="1524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8935" y="2217465"/>
            <a:ext cx="2606055" cy="372070"/>
          </a:xfrm>
          <a:prstGeom prst="roundRect">
            <a:avLst>
              <a:gd name="adj" fmla="val 9395"/>
            </a:avLst>
          </a:prstGeom>
          <a:solidFill>
            <a:srgbClr val="CCC4EC">
              <a:alpha val="50000"/>
            </a:srgbClr>
          </a:solidFill>
          <a:ln/>
          <a:effectLst>
            <a:outerShdw dist="1524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78908" y="228480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92909" y="2713509"/>
            <a:ext cx="164633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Validation Frameworks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2909" y="2981771"/>
            <a:ext cx="235810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K-Fold Cross-Validation: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Best for static, tabular datasets.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Time-Series Split (Rolling Window):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Crucial for temporal data to prevent future data leakage.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13252" y="2203177"/>
            <a:ext cx="2634555" cy="1909167"/>
          </a:xfrm>
          <a:prstGeom prst="roundRect">
            <a:avLst>
              <a:gd name="adj" fmla="val 2729"/>
            </a:avLst>
          </a:prstGeom>
          <a:solidFill>
            <a:srgbClr val="FFFAF6"/>
          </a:solidFill>
          <a:ln w="14288">
            <a:solidFill>
              <a:srgbClr val="B4DAE4"/>
            </a:solidFill>
            <a:prstDash val="solid"/>
          </a:ln>
          <a:effectLst>
            <a:outerShdw dist="1524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7539" y="2217465"/>
            <a:ext cx="2605980" cy="372070"/>
          </a:xfrm>
          <a:prstGeom prst="roundRect">
            <a:avLst>
              <a:gd name="adj" fmla="val 9395"/>
            </a:avLst>
          </a:prstGeom>
          <a:solidFill>
            <a:srgbClr val="B4DAE4">
              <a:alpha val="50000"/>
            </a:srgbClr>
          </a:solidFill>
          <a:ln/>
          <a:effectLst>
            <a:outerShdw dist="15240" dir="2700000" algn="bl" rotWithShape="0">
              <a:srgbClr val="9AC0CA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7512" y="228480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51513" y="2713509"/>
            <a:ext cx="21531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Hyperparameter Optimization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51513" y="2981771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Grid Search: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Exhaustive but expensive.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Random Search: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More efficient.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Bayesian Optimization: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Builds a probability model iteratively, drastically reducing search time.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188021"/>
            <a:ext cx="434913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Bias-Variance Tradeoff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76160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core concept defines a model's ability to generalize to unseen data. Every model lives somewhere on the spectrum between underfitting and overfitting.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35822" y="2298055"/>
            <a:ext cx="2388691" cy="1657350"/>
          </a:xfrm>
          <a:prstGeom prst="roundRect">
            <a:avLst>
              <a:gd name="adj" fmla="val 5389"/>
            </a:avLst>
          </a:prstGeom>
          <a:solidFill>
            <a:srgbClr val="F2F2F3"/>
          </a:solidFill>
          <a:ln/>
        </p:spPr>
      </p:sp>
      <p:sp>
        <p:nvSpPr>
          <p:cNvPr id="6" name="Text 3"/>
          <p:cNvSpPr/>
          <p:nvPr/>
        </p:nvSpPr>
        <p:spPr>
          <a:xfrm>
            <a:off x="3959796" y="242202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Bias (Underfitting)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59796" y="2739851"/>
            <a:ext cx="2140744" cy="110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model is too simple, missing relevant relations between features and targets.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Fixes:</a:t>
            </a: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Increase complexity, add features, reduce regularization.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42546" y="242202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Variance (Overfitting)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2546" y="2739851"/>
            <a:ext cx="2210098" cy="110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model is too sensitive to training noise, failing to generalize.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Fixes: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Add data, simplify architecture, increase regularization (L1/L2, dropout), use ensembles.</a:t>
            </a:r>
            <a:endParaRPr lang="en-US" sz="950" dirty="0"/>
          </a:p>
        </p:txBody>
      </p:sp>
      <p:pic>
        <p:nvPicPr>
          <p:cNvPr id="1028" name="Picture 4" descr="Bias-Variance Tradeoff | How to get ...">
            <a:extLst>
              <a:ext uri="{FF2B5EF4-FFF2-40B4-BE49-F238E27FC236}">
                <a16:creationId xmlns:a16="http://schemas.microsoft.com/office/drawing/2014/main" id="{A7AB8F52-6765-315B-DAB5-6688268B3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14" y="861333"/>
            <a:ext cx="3541908" cy="356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6170"/>
            <a:ext cx="438447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Diagnosing Bias &amp; Variance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6174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training vs. validation error as your diagnostic signal to identify where your model sits on the bias-variance spectrum.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99729"/>
            <a:ext cx="8151763" cy="1451074"/>
          </a:xfrm>
          <a:prstGeom prst="roundRect">
            <a:avLst>
              <a:gd name="adj" fmla="val 359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929" y="2083668"/>
            <a:ext cx="26495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Metric State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69952" y="2083668"/>
            <a:ext cx="305425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Cause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19713" y="2083668"/>
            <a:ext cx="305663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Diagnosis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4929" y="2445246"/>
            <a:ext cx="26495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 Bias, Low Variance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69952" y="2445246"/>
            <a:ext cx="305425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 is too simple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19713" y="2445246"/>
            <a:ext cx="305663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 training error, High validation error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4929" y="2806824"/>
            <a:ext cx="26495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Low Bias, High Variance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69952" y="2806824"/>
            <a:ext cx="305425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 is too complex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19713" y="2806824"/>
            <a:ext cx="305663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Low training error, High validation error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4929" y="3168402"/>
            <a:ext cx="26495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Low Bias, Low Variance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69952" y="3168402"/>
            <a:ext cx="305425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Ideal Scenario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19713" y="3168402"/>
            <a:ext cx="305663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Low training error, Low validation error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6119" y="3590330"/>
            <a:ext cx="8151763" cy="527000"/>
          </a:xfrm>
          <a:prstGeom prst="roundRect">
            <a:avLst>
              <a:gd name="adj" fmla="val 9886"/>
            </a:avLst>
          </a:prstGeom>
          <a:solidFill>
            <a:srgbClr val="B6FCB8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79639"/>
            <a:ext cx="155004" cy="1239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99071" y="3745260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goal is always to reach Low Bias + Low Variance — low error on both training and held-out validation data.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7971"/>
            <a:ext cx="540335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Training vs. Inference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2354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Designing an ML system requires separating the heavy, throughput-oriented training phase from the SLA-driven, low-latency inference phase.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361530"/>
            <a:ext cx="8151763" cy="1393999"/>
          </a:xfrm>
          <a:prstGeom prst="roundRect">
            <a:avLst>
              <a:gd name="adj" fmla="val 3737"/>
            </a:avLst>
          </a:prstGeom>
          <a:solidFill>
            <a:srgbClr val="F0DEDC"/>
          </a:solidFill>
          <a:ln w="4763">
            <a:solidFill>
              <a:srgbClr val="C7A8A8"/>
            </a:solidFill>
            <a:prstDash val="solid"/>
          </a:ln>
          <a:effectLst>
            <a:outerShdw dist="1524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0881" y="2366293"/>
            <a:ext cx="4071119" cy="1384474"/>
          </a:xfrm>
          <a:prstGeom prst="roundRect">
            <a:avLst>
              <a:gd name="adj" fmla="val 3763"/>
            </a:avLst>
          </a:prstGeom>
          <a:solidFill>
            <a:srgbClr val="F0DEDC"/>
          </a:solidFill>
          <a:ln/>
        </p:spPr>
      </p:sp>
      <p:sp>
        <p:nvSpPr>
          <p:cNvPr id="6" name="Text 4"/>
          <p:cNvSpPr/>
          <p:nvPr/>
        </p:nvSpPr>
        <p:spPr>
          <a:xfrm>
            <a:off x="624855" y="249026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Training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758529"/>
            <a:ext cx="3823171" cy="66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Goal:</a:t>
            </a: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Maximize throughput and resource utilization (GPUs/TPUs).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Batch processing, distributed computing, stateful checkpoints, and high storage bandwidth to ingest massive datasets.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2366293"/>
            <a:ext cx="4071119" cy="1384474"/>
          </a:xfrm>
          <a:prstGeom prst="rect">
            <a:avLst/>
          </a:prstGeom>
          <a:solidFill>
            <a:srgbClr val="F0DED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366293"/>
            <a:ext cx="14288" cy="1384474"/>
          </a:xfrm>
          <a:prstGeom prst="roundRect">
            <a:avLst>
              <a:gd name="adj" fmla="val 364638"/>
            </a:avLst>
          </a:prstGeom>
          <a:solidFill>
            <a:srgbClr val="B2AAD2"/>
          </a:solidFill>
          <a:ln/>
        </p:spPr>
      </p:sp>
      <p:sp>
        <p:nvSpPr>
          <p:cNvPr id="10" name="Text 8"/>
          <p:cNvSpPr/>
          <p:nvPr/>
        </p:nvSpPr>
        <p:spPr>
          <a:xfrm>
            <a:off x="4695974" y="2490267"/>
            <a:ext cx="15962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Inference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5974" y="2758529"/>
            <a:ext cx="3823171" cy="86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Goal:</a:t>
            </a: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Minimize latency and maximize availability.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Often stateless and lightweight, scaled horizontally. Features served via low-latency NoSQL databases or computed on-the-fly using feature stores.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63178"/>
            <a:ext cx="42790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Offline vs. Online Learning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23676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and when does the model learn from new data? The answer shapes your entire data pipeline and monitoring strategy.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73213"/>
            <a:ext cx="310083" cy="3100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2238301"/>
            <a:ext cx="17098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Offline (Batch) Learning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96119" y="2506563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Trained periodically (nightly/weekly) on accumulated data. Easy to implement and stable, but cannot adapt quickly to sudden data distribution shifts (Data Drift).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51510"/>
            <a:ext cx="310083" cy="3100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3616598"/>
            <a:ext cx="19939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Online (Continual) Learning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96119" y="3884861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Updates weights incrementally as new data arrives in real-time. Highly responsive to trends, but susceptible to "catastrophic forgetting" and corruption by bad data. Requires complex rollback monitoring.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6385"/>
            <a:ext cx="564527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Evaluation Metrics: Business-Driven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5195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Statistical metrics (AUC-ROC, MSE, F1-Score) must map directly to business KPIs to justify value. The translation layer is critical.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89944"/>
            <a:ext cx="2634555" cy="1537097"/>
          </a:xfrm>
          <a:prstGeom prst="roundRect">
            <a:avLst>
              <a:gd name="adj" fmla="val 4462"/>
            </a:avLst>
          </a:prstGeom>
          <a:solidFill>
            <a:srgbClr val="FFFAF6"/>
          </a:solidFill>
          <a:ln w="14288">
            <a:solidFill>
              <a:srgbClr val="E1C2C2"/>
            </a:solidFill>
            <a:prstDash val="solid"/>
          </a:ln>
          <a:effectLst>
            <a:outerShdw dist="1524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1831" y="2289944"/>
            <a:ext cx="57150" cy="1537097"/>
          </a:xfrm>
          <a:prstGeom prst="roundRect">
            <a:avLst>
              <a:gd name="adj" fmla="val 91163"/>
            </a:avLst>
          </a:prstGeom>
          <a:solidFill>
            <a:srgbClr val="E1C2C2"/>
          </a:solidFill>
          <a:ln/>
        </p:spPr>
      </p:sp>
      <p:sp>
        <p:nvSpPr>
          <p:cNvPr id="6" name="Text 4"/>
          <p:cNvSpPr/>
          <p:nvPr/>
        </p:nvSpPr>
        <p:spPr>
          <a:xfrm>
            <a:off x="677242" y="242820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7242" y="2696468"/>
            <a:ext cx="2315170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Don't just maximize F1-Score. Minimize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False Negatives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(missed fraud = high financial cost) while keeping False Positives (blocked cards = user friction) at an acceptable threshold.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2289944"/>
            <a:ext cx="2634630" cy="1537097"/>
          </a:xfrm>
          <a:prstGeom prst="roundRect">
            <a:avLst>
              <a:gd name="adj" fmla="val 4462"/>
            </a:avLst>
          </a:prstGeom>
          <a:solidFill>
            <a:srgbClr val="FFFAF6"/>
          </a:solidFill>
          <a:ln w="14288">
            <a:solidFill>
              <a:srgbClr val="CCC4EC"/>
            </a:solidFill>
            <a:prstDash val="solid"/>
          </a:ln>
          <a:effectLst>
            <a:outerShdw dist="1524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0360" y="2289944"/>
            <a:ext cx="57150" cy="1537097"/>
          </a:xfrm>
          <a:prstGeom prst="roundRect">
            <a:avLst>
              <a:gd name="adj" fmla="val 91163"/>
            </a:avLst>
          </a:prstGeom>
          <a:solidFill>
            <a:srgbClr val="CCC4EC"/>
          </a:solidFill>
          <a:ln/>
        </p:spPr>
      </p:sp>
      <p:sp>
        <p:nvSpPr>
          <p:cNvPr id="10" name="Text 8"/>
          <p:cNvSpPr/>
          <p:nvPr/>
        </p:nvSpPr>
        <p:spPr>
          <a:xfrm>
            <a:off x="3435772" y="2428205"/>
            <a:ext cx="22032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E-commerce Recommendation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35772" y="2696468"/>
            <a:ext cx="23152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Don't just optimize NDCG. Measure the lift in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Click-Through Rate (CTR)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or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Order Value (AOV)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via A/B testing.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13252" y="2289944"/>
            <a:ext cx="2634555" cy="1537097"/>
          </a:xfrm>
          <a:prstGeom prst="roundRect">
            <a:avLst>
              <a:gd name="adj" fmla="val 4462"/>
            </a:avLst>
          </a:prstGeom>
          <a:solidFill>
            <a:srgbClr val="FFFAF6"/>
          </a:solidFill>
          <a:ln w="14288">
            <a:solidFill>
              <a:srgbClr val="B4DAE4"/>
            </a:solidFill>
            <a:prstDash val="solid"/>
          </a:ln>
          <a:effectLst>
            <a:outerShdw dist="1524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98964" y="2289944"/>
            <a:ext cx="57150" cy="1537097"/>
          </a:xfrm>
          <a:prstGeom prst="roundRect">
            <a:avLst>
              <a:gd name="adj" fmla="val 91163"/>
            </a:avLst>
          </a:prstGeom>
          <a:solidFill>
            <a:srgbClr val="B4DAE4"/>
          </a:solidFill>
          <a:ln/>
        </p:spPr>
      </p:sp>
      <p:sp>
        <p:nvSpPr>
          <p:cNvPr id="14" name="Text 12"/>
          <p:cNvSpPr/>
          <p:nvPr/>
        </p:nvSpPr>
        <p:spPr>
          <a:xfrm>
            <a:off x="6194375" y="2428205"/>
            <a:ext cx="20170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Confusion Matrix Alignment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4375" y="2696468"/>
            <a:ext cx="231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 FP cost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(e.g., spam filtering): Optimize for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Precision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 FN cost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(e.g., cancer detection): Optimize for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Recall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7888"/>
            <a:ext cx="556490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 Versioning &amp; Reproducibility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13458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 ML model is a combination of </a:t>
            </a: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+ Data + Hyperparameters</a:t>
            </a: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Versioning git code alone is insufficient for true reproducibility.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51447"/>
            <a:ext cx="2634555" cy="2014091"/>
          </a:xfrm>
          <a:prstGeom prst="roundRect">
            <a:avLst>
              <a:gd name="adj" fmla="val 2587"/>
            </a:avLst>
          </a:prstGeom>
          <a:solidFill>
            <a:srgbClr val="F0DEDC"/>
          </a:solidFill>
          <a:ln w="4763">
            <a:solidFill>
              <a:srgbClr val="E1C2C2"/>
            </a:solidFill>
            <a:prstDash val="solid"/>
          </a:ln>
          <a:effectLst>
            <a:outerShdw dist="1524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855" y="2180183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1C2C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174" y="2282428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855" y="26762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Versioning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55" y="2944490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Tools like </a:t>
            </a:r>
            <a:r>
              <a:rPr lang="en-US" sz="9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DVC</a:t>
            </a: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or </a:t>
            </a:r>
            <a:r>
              <a:rPr lang="en-US" sz="9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Delta Lake</a:t>
            </a: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track dataset hashes, ensuring you can retrain on the exact same data split.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54648" y="2051447"/>
            <a:ext cx="2634630" cy="2014091"/>
          </a:xfrm>
          <a:prstGeom prst="roundRect">
            <a:avLst>
              <a:gd name="adj" fmla="val 2587"/>
            </a:avLst>
          </a:prstGeom>
          <a:solidFill>
            <a:srgbClr val="F0DEDC"/>
          </a:solidFill>
          <a:ln w="4763">
            <a:solidFill>
              <a:srgbClr val="CCC4EC"/>
            </a:solidFill>
            <a:prstDash val="solid"/>
          </a:ln>
          <a:effectLst>
            <a:outerShdw dist="1524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384" y="2180183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CCC4E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704" y="2282428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384" y="26762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Experiment Tracking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384" y="2944490"/>
            <a:ext cx="23771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Tools like </a:t>
            </a:r>
            <a:r>
              <a:rPr lang="en-US" sz="9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MLflow</a:t>
            </a: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or </a:t>
            </a:r>
            <a:r>
              <a:rPr lang="en-US" sz="9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Weights &amp; Biases</a:t>
            </a: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log hyperparameters, artifacts, dependencies, and metrics for every run.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13252" y="2051447"/>
            <a:ext cx="2634555" cy="2014091"/>
          </a:xfrm>
          <a:prstGeom prst="roundRect">
            <a:avLst>
              <a:gd name="adj" fmla="val 2587"/>
            </a:avLst>
          </a:prstGeom>
          <a:solidFill>
            <a:srgbClr val="F0DEDC"/>
          </a:solidFill>
          <a:ln w="4763">
            <a:solidFill>
              <a:srgbClr val="B4DAE4"/>
            </a:solidFill>
            <a:prstDash val="solid"/>
          </a:ln>
          <a:effectLst>
            <a:outerShdw dist="1524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1988" y="2180183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B4DAE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4307" y="2282428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1988" y="26762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 Registry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41988" y="2944490"/>
            <a:ext cx="23770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centralized hub managing model states (Staging, Production, Archived). Models are packaged with Docker or compiled to </a:t>
            </a:r>
            <a:r>
              <a:rPr lang="en-US" sz="9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ONNX/TensorRT</a:t>
            </a:r>
            <a:r>
              <a:rPr lang="en-US" sz="9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for immutable deployments.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9265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Trade-offs: Accuracy vs. Latency vs. Cost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753791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production engineering, you rarely get to maximize all three. You must design your system around the bottleneck.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2290242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dist="1524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328145" y="233288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Accuracy vs. Latency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28145" y="2601144"/>
            <a:ext cx="431973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Complex models yield higher accuracy but longer inference times. A tight SLA (e.g., ad bidding) may require sacrificing 2% accuracy for a lighter, faster distilled model.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25119" y="3444553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dist="1524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28145" y="348719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Accuracy vs. Cost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28145" y="3755454"/>
            <a:ext cx="431973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State-of-the-art models require expensive GPU/TPU infrastructure. The key question: does a 1% accuracy gain generate enough revenue to offset an extra $10,000/month in cloud costs?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7132"/>
            <a:ext cx="556900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Mitigation Strategies for Production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4270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Three proven techniques to reduce latency and cost without sacrificing meaningful accuracy in production deployments.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80692"/>
            <a:ext cx="1516038" cy="9369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17264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Quantization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3440906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Converting weights from FP32 to INT8 to decrease latency and memory footprint with minimal loss in accuracy.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991" y="2080692"/>
            <a:ext cx="1516038" cy="9369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991" y="3172644"/>
            <a:ext cx="16122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Knowledge Distillation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4991" y="3440906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Training a smaller "student" model to mimic a large, accurate "teacher" model — capturing performance at a fraction of the cost.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939" y="2080692"/>
            <a:ext cx="1516038" cy="9369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3939" y="317264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Caching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3939" y="3440906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Using a cache (e.g., Redis) for frequent or predictable queries to completely bypass model inference costs and latency.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03684"/>
            <a:ext cx="4901654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End-to-End ML System: At a Glance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32" y="832768"/>
            <a:ext cx="8275737" cy="3574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08953" y="3236540"/>
            <a:ext cx="1228789" cy="447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Train &amp; Validate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408953" y="3747799"/>
            <a:ext cx="1228789" cy="335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Fit models and evaluate metrics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64166" y="3012739"/>
            <a:ext cx="1228789" cy="671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Deploy (Train/Inference)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64166" y="3747799"/>
            <a:ext cx="1228789" cy="335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Release pipelines for use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6663" y="1155320"/>
            <a:ext cx="1457389" cy="22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Select Model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5263" y="1442779"/>
            <a:ext cx="1228789" cy="503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Choose architecture and features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90983" y="1155320"/>
            <a:ext cx="1228789" cy="447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Monitor &amp; Iterate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90983" y="1666579"/>
            <a:ext cx="1228789" cy="503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Observe performance and improve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06142" y="1155320"/>
            <a:ext cx="1228789" cy="447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Version &amp; Track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06142" y="1666579"/>
            <a:ext cx="1228789" cy="335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artifacts and experiments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4132" y="4514180"/>
            <a:ext cx="827573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production ML system is a continuous loop — not a one-time deployment. Each stage feeds back into the next, requiring disciplined versioning, monitoring, and iteration to maintain performance over time.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82513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Takeaways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1159892"/>
            <a:ext cx="186035" cy="1860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99145" y="115609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Start Simple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99145" y="1424360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Always establish a baseline before reaching for complex models. Quantify the ROI of added complexity.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627" y="2073101"/>
            <a:ext cx="186035" cy="186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9145" y="2069306"/>
            <a:ext cx="2156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Separate Training &amp; Inference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99145" y="2337569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Design each phase for its own goal — throughput for training, low latency for inference.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627" y="2986311"/>
            <a:ext cx="186035" cy="186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9145" y="298251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Version Everything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99145" y="3250778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Code, data, and hyperparameters must all be versioned together for true reproducibility.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3899520"/>
            <a:ext cx="186035" cy="1860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99145" y="3895725"/>
            <a:ext cx="17889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Align Metrics to Business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899145" y="4163988"/>
            <a:ext cx="431973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Statistical performance only matters if it maps to real business KPIs. Design your evaluation strategy accordingly.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1142</Words>
  <Application>Microsoft Office PowerPoint</Application>
  <PresentationFormat>On-screen Show (16:9)</PresentationFormat>
  <Paragraphs>113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Playfair Display SemiBold</vt:lpstr>
      <vt:lpstr>Arial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harish kumar</cp:lastModifiedBy>
  <cp:revision>2</cp:revision>
  <dcterms:created xsi:type="dcterms:W3CDTF">2026-05-25T18:47:47Z</dcterms:created>
  <dcterms:modified xsi:type="dcterms:W3CDTF">2026-05-26T06:20:02Z</dcterms:modified>
</cp:coreProperties>
</file>
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3" r:id="rId2"/>
    <p:sldId id="284" r:id="rId3"/>
    <p:sldId id="265" r:id="rId4"/>
    <p:sldId id="267" r:id="rId5"/>
    <p:sldId id="264" r:id="rId6"/>
    <p:sldId id="268" r:id="rId7"/>
    <p:sldId id="269" r:id="rId8"/>
    <p:sldId id="272" r:id="rId9"/>
    <p:sldId id="273" r:id="rId10"/>
    <p:sldId id="270" r:id="rId11"/>
    <p:sldId id="271" r:id="rId12"/>
    <p:sldId id="256" r:id="rId13"/>
    <p:sldId id="257" r:id="rId14"/>
    <p:sldId id="258" r:id="rId15"/>
    <p:sldId id="259" r:id="rId16"/>
    <p:sldId id="260" r:id="rId17"/>
    <p:sldId id="261" r:id="rId18"/>
    <p:sldId id="262" r:id="rId19"/>
    <p:sldId id="277" r:id="rId20"/>
    <p:sldId id="274" r:id="rId21"/>
    <p:sldId id="275" r:id="rId22"/>
    <p:sldId id="276"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626198-1718-426B-BA9F-50410CBB5672}" v="96" dt="2022-07-08T03:04:52.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78" d="100"/>
          <a:sy n="78" d="100"/>
        </p:scale>
        <p:origin x="-2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7/18/2022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ws.amazon.com/api-gateway" TargetMode="External"/><Relationship Id="rId2" Type="http://schemas.openxmlformats.org/officeDocument/2006/relationships/hyperlink" Target="http://aws.amazon.com/sn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vc.org/doc/user-guide/dvc-files-and-directori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12" y="207264"/>
            <a:ext cx="10998460" cy="60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5772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 y="316992"/>
            <a:ext cx="10863072" cy="5869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6351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598343"/>
            <a:ext cx="3594100" cy="694207"/>
          </a:xfrm>
          <a:prstGeom prst="rect">
            <a:avLst/>
          </a:prstGeom>
        </p:spPr>
        <p:txBody>
          <a:bodyPr vert="horz" wrap="square" lIns="0" tIns="16933" rIns="0" bIns="0" rtlCol="0">
            <a:spAutoFit/>
          </a:bodyPr>
          <a:lstStyle/>
          <a:p>
            <a:pPr marL="16933">
              <a:lnSpc>
                <a:spcPct val="100000"/>
              </a:lnSpc>
              <a:spcBef>
                <a:spcPts val="133"/>
              </a:spcBef>
            </a:pPr>
            <a:r>
              <a:rPr spc="-13" dirty="0"/>
              <a:t>What</a:t>
            </a:r>
            <a:r>
              <a:rPr spc="-53" dirty="0"/>
              <a:t> </a:t>
            </a:r>
            <a:r>
              <a:rPr spc="-40" dirty="0"/>
              <a:t>is</a:t>
            </a:r>
            <a:r>
              <a:rPr spc="-53" dirty="0"/>
              <a:t> </a:t>
            </a:r>
            <a:r>
              <a:rPr spc="-140" dirty="0" smtClean="0"/>
              <a:t>ML-O</a:t>
            </a:r>
            <a:r>
              <a:rPr lang="en-IN" spc="-140" dirty="0" smtClean="0"/>
              <a:t>P</a:t>
            </a:r>
            <a:r>
              <a:rPr spc="-140" dirty="0" smtClean="0"/>
              <a:t>s</a:t>
            </a:r>
            <a:endParaRPr spc="-140" dirty="0"/>
          </a:p>
        </p:txBody>
      </p:sp>
      <p:sp>
        <p:nvSpPr>
          <p:cNvPr id="3" name="object 3"/>
          <p:cNvSpPr txBox="1"/>
          <p:nvPr/>
        </p:nvSpPr>
        <p:spPr>
          <a:xfrm>
            <a:off x="614567" y="1819545"/>
            <a:ext cx="5620173" cy="592667"/>
          </a:xfrm>
          <a:prstGeom prst="rect">
            <a:avLst/>
          </a:prstGeom>
        </p:spPr>
        <p:txBody>
          <a:bodyPr vert="horz" wrap="square" lIns="0" tIns="16933" rIns="0" bIns="0" rtlCol="0">
            <a:spAutoFit/>
          </a:bodyPr>
          <a:lstStyle/>
          <a:p>
            <a:pPr marL="524920" marR="6773" indent="-507987">
              <a:lnSpc>
                <a:spcPct val="114599"/>
              </a:lnSpc>
              <a:spcBef>
                <a:spcPts val="133"/>
              </a:spcBef>
              <a:tabLst>
                <a:tab pos="524074" algn="l"/>
              </a:tabLst>
            </a:pPr>
            <a:r>
              <a:rPr sz="1600" dirty="0">
                <a:solidFill>
                  <a:srgbClr val="2A3890"/>
                </a:solidFill>
                <a:latin typeface="MS PGothic"/>
                <a:cs typeface="MS PGothic"/>
              </a:rPr>
              <a:t>★	</a:t>
            </a:r>
            <a:r>
              <a:rPr sz="1600" spc="-20" dirty="0">
                <a:solidFill>
                  <a:srgbClr val="2A3890"/>
                </a:solidFill>
                <a:latin typeface="Roboto"/>
                <a:cs typeface="Roboto"/>
              </a:rPr>
              <a:t>MLOps</a:t>
            </a:r>
            <a:r>
              <a:rPr sz="1600" spc="-7" dirty="0">
                <a:solidFill>
                  <a:srgbClr val="2A3890"/>
                </a:solidFill>
                <a:latin typeface="Roboto"/>
                <a:cs typeface="Roboto"/>
              </a:rPr>
              <a:t> </a:t>
            </a:r>
            <a:r>
              <a:rPr sz="1600" spc="-20" dirty="0">
                <a:solidFill>
                  <a:srgbClr val="2A3890"/>
                </a:solidFill>
                <a:latin typeface="Roboto"/>
                <a:cs typeface="Roboto"/>
              </a:rPr>
              <a:t>is</a:t>
            </a:r>
            <a:r>
              <a:rPr sz="1600" dirty="0">
                <a:solidFill>
                  <a:srgbClr val="2A3890"/>
                </a:solidFill>
                <a:latin typeface="Roboto"/>
                <a:cs typeface="Roboto"/>
              </a:rPr>
              <a:t> </a:t>
            </a:r>
            <a:r>
              <a:rPr sz="1600" spc="-20" dirty="0">
                <a:solidFill>
                  <a:srgbClr val="2A3890"/>
                </a:solidFill>
                <a:latin typeface="Roboto"/>
                <a:cs typeface="Roboto"/>
              </a:rPr>
              <a:t>about</a:t>
            </a:r>
            <a:r>
              <a:rPr sz="1600" dirty="0">
                <a:solidFill>
                  <a:srgbClr val="2A3890"/>
                </a:solidFill>
                <a:latin typeface="Roboto"/>
                <a:cs typeface="Roboto"/>
              </a:rPr>
              <a:t> </a:t>
            </a:r>
            <a:r>
              <a:rPr sz="1600" spc="-27" dirty="0">
                <a:solidFill>
                  <a:srgbClr val="2A3890"/>
                </a:solidFill>
                <a:latin typeface="Roboto"/>
                <a:cs typeface="Roboto"/>
              </a:rPr>
              <a:t>building</a:t>
            </a:r>
            <a:r>
              <a:rPr sz="1600" spc="-7" dirty="0">
                <a:solidFill>
                  <a:srgbClr val="2A3890"/>
                </a:solidFill>
                <a:latin typeface="Roboto"/>
                <a:cs typeface="Roboto"/>
              </a:rPr>
              <a:t> </a:t>
            </a:r>
            <a:r>
              <a:rPr sz="1600" spc="-13" dirty="0">
                <a:solidFill>
                  <a:srgbClr val="2A3890"/>
                </a:solidFill>
                <a:latin typeface="Roboto"/>
                <a:cs typeface="Roboto"/>
              </a:rPr>
              <a:t>a</a:t>
            </a:r>
            <a:r>
              <a:rPr sz="1600" dirty="0">
                <a:solidFill>
                  <a:srgbClr val="2A3890"/>
                </a:solidFill>
                <a:latin typeface="Roboto"/>
                <a:cs typeface="Roboto"/>
              </a:rPr>
              <a:t> </a:t>
            </a:r>
            <a:r>
              <a:rPr sz="1600" spc="-20" dirty="0">
                <a:solidFill>
                  <a:srgbClr val="2A3890"/>
                </a:solidFill>
                <a:latin typeface="Roboto"/>
                <a:cs typeface="Roboto"/>
              </a:rPr>
              <a:t>scalable</a:t>
            </a:r>
            <a:r>
              <a:rPr sz="1600" dirty="0">
                <a:solidFill>
                  <a:srgbClr val="2A3890"/>
                </a:solidFill>
                <a:latin typeface="Roboto"/>
                <a:cs typeface="Roboto"/>
              </a:rPr>
              <a:t> </a:t>
            </a:r>
            <a:r>
              <a:rPr sz="1600" spc="-13" dirty="0">
                <a:solidFill>
                  <a:srgbClr val="2A3890"/>
                </a:solidFill>
                <a:latin typeface="Roboto"/>
                <a:cs typeface="Roboto"/>
              </a:rPr>
              <a:t>team</a:t>
            </a:r>
            <a:r>
              <a:rPr sz="1600" spc="-7" dirty="0">
                <a:solidFill>
                  <a:srgbClr val="2A3890"/>
                </a:solidFill>
                <a:latin typeface="Roboto"/>
                <a:cs typeface="Roboto"/>
              </a:rPr>
              <a:t> </a:t>
            </a:r>
            <a:r>
              <a:rPr sz="1600" spc="-13" dirty="0">
                <a:solidFill>
                  <a:srgbClr val="2A3890"/>
                </a:solidFill>
                <a:latin typeface="Roboto"/>
                <a:cs typeface="Roboto"/>
              </a:rPr>
              <a:t>ML</a:t>
            </a:r>
            <a:r>
              <a:rPr sz="1600" dirty="0">
                <a:solidFill>
                  <a:srgbClr val="2A3890"/>
                </a:solidFill>
                <a:latin typeface="Roboto"/>
                <a:cs typeface="Roboto"/>
              </a:rPr>
              <a:t> </a:t>
            </a:r>
            <a:r>
              <a:rPr sz="1600" spc="-27" dirty="0">
                <a:solidFill>
                  <a:srgbClr val="2A3890"/>
                </a:solidFill>
                <a:latin typeface="Roboto"/>
                <a:cs typeface="Roboto"/>
              </a:rPr>
              <a:t>Researcher, </a:t>
            </a:r>
            <a:r>
              <a:rPr sz="1600" spc="-380" dirty="0">
                <a:solidFill>
                  <a:srgbClr val="2A3890"/>
                </a:solidFill>
                <a:latin typeface="Roboto"/>
                <a:cs typeface="Roboto"/>
              </a:rPr>
              <a:t> </a:t>
            </a:r>
            <a:r>
              <a:rPr sz="1600" spc="-27" dirty="0">
                <a:solidFill>
                  <a:srgbClr val="2A3890"/>
                </a:solidFill>
                <a:latin typeface="Roboto"/>
                <a:cs typeface="Roboto"/>
              </a:rPr>
              <a:t>Data</a:t>
            </a:r>
            <a:r>
              <a:rPr sz="1600" spc="-13" dirty="0">
                <a:solidFill>
                  <a:srgbClr val="2A3890"/>
                </a:solidFill>
                <a:latin typeface="Roboto"/>
                <a:cs typeface="Roboto"/>
              </a:rPr>
              <a:t> Engineer</a:t>
            </a:r>
            <a:r>
              <a:rPr sz="1600" spc="-7" dirty="0">
                <a:solidFill>
                  <a:srgbClr val="2A3890"/>
                </a:solidFill>
                <a:latin typeface="Roboto"/>
                <a:cs typeface="Roboto"/>
              </a:rPr>
              <a:t> , </a:t>
            </a:r>
            <a:r>
              <a:rPr sz="1600" spc="-20" dirty="0">
                <a:solidFill>
                  <a:srgbClr val="2A3890"/>
                </a:solidFill>
                <a:latin typeface="Roboto"/>
                <a:cs typeface="Roboto"/>
              </a:rPr>
              <a:t>Product</a:t>
            </a:r>
            <a:r>
              <a:rPr sz="1600" spc="-7" dirty="0">
                <a:solidFill>
                  <a:srgbClr val="2A3890"/>
                </a:solidFill>
                <a:latin typeface="Roboto"/>
                <a:cs typeface="Roboto"/>
              </a:rPr>
              <a:t> </a:t>
            </a:r>
            <a:r>
              <a:rPr sz="1600" spc="-20" dirty="0">
                <a:solidFill>
                  <a:srgbClr val="2A3890"/>
                </a:solidFill>
                <a:latin typeface="Roboto"/>
                <a:cs typeface="Roboto"/>
              </a:rPr>
              <a:t>Managers,</a:t>
            </a:r>
            <a:r>
              <a:rPr sz="1600" spc="-7" dirty="0">
                <a:solidFill>
                  <a:srgbClr val="2A3890"/>
                </a:solidFill>
                <a:latin typeface="Roboto"/>
                <a:cs typeface="Roboto"/>
              </a:rPr>
              <a:t> </a:t>
            </a:r>
            <a:r>
              <a:rPr sz="1600" spc="-20" dirty="0">
                <a:solidFill>
                  <a:srgbClr val="2A3890"/>
                </a:solidFill>
                <a:latin typeface="Roboto"/>
                <a:cs typeface="Roboto"/>
              </a:rPr>
              <a:t>DevOps.</a:t>
            </a:r>
            <a:endParaRPr sz="1600">
              <a:latin typeface="Roboto"/>
              <a:cs typeface="Roboto"/>
            </a:endParaRPr>
          </a:p>
        </p:txBody>
      </p:sp>
      <p:sp>
        <p:nvSpPr>
          <p:cNvPr id="4" name="object 4"/>
          <p:cNvSpPr txBox="1"/>
          <p:nvPr/>
        </p:nvSpPr>
        <p:spPr>
          <a:xfrm>
            <a:off x="614567" y="2667906"/>
            <a:ext cx="4859020" cy="263320"/>
          </a:xfrm>
          <a:prstGeom prst="rect">
            <a:avLst/>
          </a:prstGeom>
        </p:spPr>
        <p:txBody>
          <a:bodyPr vert="horz" wrap="square" lIns="0" tIns="16933" rIns="0" bIns="0" rtlCol="0">
            <a:spAutoFit/>
          </a:bodyPr>
          <a:lstStyle/>
          <a:p>
            <a:pPr marL="16933">
              <a:spcBef>
                <a:spcPts val="133"/>
              </a:spcBef>
              <a:tabLst>
                <a:tab pos="524074" algn="l"/>
              </a:tabLst>
            </a:pPr>
            <a:r>
              <a:rPr sz="1600" dirty="0">
                <a:solidFill>
                  <a:srgbClr val="2A3890"/>
                </a:solidFill>
                <a:latin typeface="MS PGothic"/>
                <a:cs typeface="MS PGothic"/>
              </a:rPr>
              <a:t>★	</a:t>
            </a:r>
            <a:r>
              <a:rPr sz="1600" spc="-20" dirty="0">
                <a:solidFill>
                  <a:srgbClr val="2A3890"/>
                </a:solidFill>
                <a:latin typeface="Roboto"/>
                <a:cs typeface="Roboto"/>
              </a:rPr>
              <a:t>Extension</a:t>
            </a:r>
            <a:r>
              <a:rPr sz="1600" spc="-7" dirty="0">
                <a:solidFill>
                  <a:srgbClr val="2A3890"/>
                </a:solidFill>
                <a:latin typeface="Roboto"/>
                <a:cs typeface="Roboto"/>
              </a:rPr>
              <a:t> </a:t>
            </a:r>
            <a:r>
              <a:rPr sz="1600" spc="7" dirty="0">
                <a:solidFill>
                  <a:srgbClr val="2A3890"/>
                </a:solidFill>
                <a:latin typeface="Roboto"/>
                <a:cs typeface="Roboto"/>
              </a:rPr>
              <a:t>of</a:t>
            </a:r>
            <a:r>
              <a:rPr sz="1600" dirty="0">
                <a:solidFill>
                  <a:srgbClr val="2A3890"/>
                </a:solidFill>
                <a:latin typeface="Roboto"/>
                <a:cs typeface="Roboto"/>
              </a:rPr>
              <a:t> </a:t>
            </a:r>
            <a:r>
              <a:rPr sz="1600" spc="-20" dirty="0">
                <a:solidFill>
                  <a:srgbClr val="2A3890"/>
                </a:solidFill>
                <a:latin typeface="Roboto"/>
                <a:cs typeface="Roboto"/>
              </a:rPr>
              <a:t>DevOps</a:t>
            </a:r>
            <a:r>
              <a:rPr sz="1600" spc="-7" dirty="0">
                <a:solidFill>
                  <a:srgbClr val="2A3890"/>
                </a:solidFill>
                <a:latin typeface="Roboto"/>
                <a:cs typeface="Roboto"/>
              </a:rPr>
              <a:t> </a:t>
            </a:r>
            <a:r>
              <a:rPr sz="1600" spc="-20" dirty="0">
                <a:solidFill>
                  <a:srgbClr val="2A3890"/>
                </a:solidFill>
                <a:latin typeface="Roboto"/>
                <a:cs typeface="Roboto"/>
              </a:rPr>
              <a:t>to</a:t>
            </a:r>
            <a:r>
              <a:rPr sz="1600" dirty="0">
                <a:solidFill>
                  <a:srgbClr val="2A3890"/>
                </a:solidFill>
                <a:latin typeface="Roboto"/>
                <a:cs typeface="Roboto"/>
              </a:rPr>
              <a:t> </a:t>
            </a:r>
            <a:r>
              <a:rPr sz="1600" spc="-13" dirty="0">
                <a:solidFill>
                  <a:srgbClr val="2A3890"/>
                </a:solidFill>
                <a:latin typeface="Roboto"/>
                <a:cs typeface="Roboto"/>
              </a:rPr>
              <a:t>ML</a:t>
            </a:r>
            <a:r>
              <a:rPr sz="1600" spc="-7" dirty="0">
                <a:solidFill>
                  <a:srgbClr val="2A3890"/>
                </a:solidFill>
                <a:latin typeface="Roboto"/>
                <a:cs typeface="Roboto"/>
              </a:rPr>
              <a:t> </a:t>
            </a:r>
            <a:r>
              <a:rPr sz="1600" spc="-20" dirty="0">
                <a:solidFill>
                  <a:srgbClr val="2A3890"/>
                </a:solidFill>
                <a:latin typeface="Roboto"/>
                <a:cs typeface="Roboto"/>
              </a:rPr>
              <a:t>as</a:t>
            </a:r>
            <a:r>
              <a:rPr sz="1600" dirty="0">
                <a:solidFill>
                  <a:srgbClr val="2A3890"/>
                </a:solidFill>
                <a:latin typeface="Roboto"/>
                <a:cs typeface="Roboto"/>
              </a:rPr>
              <a:t> </a:t>
            </a:r>
            <a:r>
              <a:rPr sz="1600" spc="-20" dirty="0">
                <a:solidFill>
                  <a:srgbClr val="2A3890"/>
                </a:solidFill>
                <a:latin typeface="Roboto"/>
                <a:cs typeface="Roboto"/>
              </a:rPr>
              <a:t>ﬁrst</a:t>
            </a:r>
            <a:r>
              <a:rPr sz="1600" spc="-7" dirty="0">
                <a:solidFill>
                  <a:srgbClr val="2A3890"/>
                </a:solidFill>
                <a:latin typeface="Roboto"/>
                <a:cs typeface="Roboto"/>
              </a:rPr>
              <a:t> </a:t>
            </a:r>
            <a:r>
              <a:rPr sz="1600" spc="-20" dirty="0">
                <a:solidFill>
                  <a:srgbClr val="2A3890"/>
                </a:solidFill>
                <a:latin typeface="Roboto"/>
                <a:cs typeface="Roboto"/>
              </a:rPr>
              <a:t>class</a:t>
            </a:r>
            <a:r>
              <a:rPr sz="1600" dirty="0">
                <a:solidFill>
                  <a:srgbClr val="2A3890"/>
                </a:solidFill>
                <a:latin typeface="Roboto"/>
                <a:cs typeface="Roboto"/>
              </a:rPr>
              <a:t> </a:t>
            </a:r>
            <a:r>
              <a:rPr sz="1600" spc="-20" dirty="0">
                <a:solidFill>
                  <a:srgbClr val="2A3890"/>
                </a:solidFill>
                <a:latin typeface="Roboto"/>
                <a:cs typeface="Roboto"/>
              </a:rPr>
              <a:t>citizen.</a:t>
            </a:r>
            <a:endParaRPr sz="1600">
              <a:latin typeface="Roboto"/>
              <a:cs typeface="Roboto"/>
            </a:endParaRPr>
          </a:p>
        </p:txBody>
      </p:sp>
      <p:sp>
        <p:nvSpPr>
          <p:cNvPr id="5" name="object 5"/>
          <p:cNvSpPr txBox="1"/>
          <p:nvPr/>
        </p:nvSpPr>
        <p:spPr>
          <a:xfrm>
            <a:off x="614567" y="3150506"/>
            <a:ext cx="4681220" cy="263320"/>
          </a:xfrm>
          <a:prstGeom prst="rect">
            <a:avLst/>
          </a:prstGeom>
        </p:spPr>
        <p:txBody>
          <a:bodyPr vert="horz" wrap="square" lIns="0" tIns="16933" rIns="0" bIns="0" rtlCol="0">
            <a:spAutoFit/>
          </a:bodyPr>
          <a:lstStyle/>
          <a:p>
            <a:pPr marL="16933">
              <a:spcBef>
                <a:spcPts val="133"/>
              </a:spcBef>
              <a:tabLst>
                <a:tab pos="524074" algn="l"/>
              </a:tabLst>
            </a:pPr>
            <a:r>
              <a:rPr sz="1600" dirty="0">
                <a:solidFill>
                  <a:srgbClr val="2A3890"/>
                </a:solidFill>
                <a:latin typeface="MS PGothic"/>
                <a:cs typeface="MS PGothic"/>
              </a:rPr>
              <a:t>★	</a:t>
            </a:r>
            <a:r>
              <a:rPr sz="1600" spc="-27" dirty="0">
                <a:solidFill>
                  <a:srgbClr val="2A3890"/>
                </a:solidFill>
                <a:latin typeface="Roboto"/>
                <a:cs typeface="Roboto"/>
              </a:rPr>
              <a:t>Infrastructure</a:t>
            </a:r>
            <a:r>
              <a:rPr sz="1600" spc="-13" dirty="0">
                <a:solidFill>
                  <a:srgbClr val="2A3890"/>
                </a:solidFill>
                <a:latin typeface="Roboto"/>
                <a:cs typeface="Roboto"/>
              </a:rPr>
              <a:t> </a:t>
            </a:r>
            <a:r>
              <a:rPr sz="1600" spc="-20" dirty="0">
                <a:solidFill>
                  <a:srgbClr val="2A3890"/>
                </a:solidFill>
                <a:latin typeface="Roboto"/>
                <a:cs typeface="Roboto"/>
              </a:rPr>
              <a:t>and</a:t>
            </a:r>
            <a:r>
              <a:rPr sz="1600" spc="-7" dirty="0">
                <a:solidFill>
                  <a:srgbClr val="2A3890"/>
                </a:solidFill>
                <a:latin typeface="Roboto"/>
                <a:cs typeface="Roboto"/>
              </a:rPr>
              <a:t> </a:t>
            </a:r>
            <a:r>
              <a:rPr sz="1600" spc="-20" dirty="0">
                <a:solidFill>
                  <a:srgbClr val="2A3890"/>
                </a:solidFill>
                <a:latin typeface="Roboto"/>
                <a:cs typeface="Roboto"/>
              </a:rPr>
              <a:t>tooling</a:t>
            </a:r>
            <a:r>
              <a:rPr sz="1600" spc="-7" dirty="0">
                <a:solidFill>
                  <a:srgbClr val="2A3890"/>
                </a:solidFill>
                <a:latin typeface="Roboto"/>
                <a:cs typeface="Roboto"/>
              </a:rPr>
              <a:t> </a:t>
            </a:r>
            <a:r>
              <a:rPr sz="1600" spc="-20" dirty="0">
                <a:solidFill>
                  <a:srgbClr val="2A3890"/>
                </a:solidFill>
                <a:latin typeface="Roboto"/>
                <a:cs typeface="Roboto"/>
              </a:rPr>
              <a:t>to</a:t>
            </a:r>
            <a:r>
              <a:rPr sz="1600" spc="-7" dirty="0">
                <a:solidFill>
                  <a:srgbClr val="2A3890"/>
                </a:solidFill>
                <a:latin typeface="Roboto"/>
                <a:cs typeface="Roboto"/>
              </a:rPr>
              <a:t> </a:t>
            </a:r>
            <a:r>
              <a:rPr sz="1600" spc="-20" dirty="0">
                <a:solidFill>
                  <a:srgbClr val="2A3890"/>
                </a:solidFill>
                <a:latin typeface="Roboto"/>
                <a:cs typeface="Roboto"/>
              </a:rPr>
              <a:t>Productionize</a:t>
            </a:r>
            <a:r>
              <a:rPr sz="1600" spc="-7" dirty="0">
                <a:solidFill>
                  <a:srgbClr val="2A3890"/>
                </a:solidFill>
                <a:latin typeface="Roboto"/>
                <a:cs typeface="Roboto"/>
              </a:rPr>
              <a:t> </a:t>
            </a:r>
            <a:r>
              <a:rPr sz="1600" spc="-13" dirty="0">
                <a:solidFill>
                  <a:srgbClr val="2A3890"/>
                </a:solidFill>
                <a:latin typeface="Roboto"/>
                <a:cs typeface="Roboto"/>
              </a:rPr>
              <a:t>ML</a:t>
            </a:r>
            <a:endParaRPr sz="1600">
              <a:latin typeface="Roboto"/>
              <a:cs typeface="Roboto"/>
            </a:endParaRPr>
          </a:p>
        </p:txBody>
      </p:sp>
      <p:grpSp>
        <p:nvGrpSpPr>
          <p:cNvPr id="6" name="object 6"/>
          <p:cNvGrpSpPr/>
          <p:nvPr/>
        </p:nvGrpSpPr>
        <p:grpSpPr>
          <a:xfrm>
            <a:off x="6096012" y="546669"/>
            <a:ext cx="4668520" cy="5217160"/>
            <a:chOff x="4572009" y="410002"/>
            <a:chExt cx="3501390" cy="3912870"/>
          </a:xfrm>
        </p:grpSpPr>
        <p:sp>
          <p:nvSpPr>
            <p:cNvPr id="7" name="object 7"/>
            <p:cNvSpPr/>
            <p:nvPr/>
          </p:nvSpPr>
          <p:spPr>
            <a:xfrm>
              <a:off x="4572009" y="821102"/>
              <a:ext cx="3501390" cy="3501390"/>
            </a:xfrm>
            <a:custGeom>
              <a:avLst/>
              <a:gdLst/>
              <a:ahLst/>
              <a:cxnLst/>
              <a:rect l="l" t="t" r="r" b="b"/>
              <a:pathLst>
                <a:path w="3501390" h="3501390">
                  <a:moveTo>
                    <a:pt x="1750649" y="3501299"/>
                  </a:moveTo>
                  <a:lnTo>
                    <a:pt x="1702462" y="3500649"/>
                  </a:lnTo>
                  <a:lnTo>
                    <a:pt x="1654596" y="3498709"/>
                  </a:lnTo>
                  <a:lnTo>
                    <a:pt x="1607069" y="3495496"/>
                  </a:lnTo>
                  <a:lnTo>
                    <a:pt x="1559897" y="3491027"/>
                  </a:lnTo>
                  <a:lnTo>
                    <a:pt x="1513097" y="3485318"/>
                  </a:lnTo>
                  <a:lnTo>
                    <a:pt x="1466685" y="3478386"/>
                  </a:lnTo>
                  <a:lnTo>
                    <a:pt x="1420678" y="3470248"/>
                  </a:lnTo>
                  <a:lnTo>
                    <a:pt x="1375094" y="3460921"/>
                  </a:lnTo>
                  <a:lnTo>
                    <a:pt x="1329948" y="3450421"/>
                  </a:lnTo>
                  <a:lnTo>
                    <a:pt x="1285257" y="3438764"/>
                  </a:lnTo>
                  <a:lnTo>
                    <a:pt x="1241039" y="3425969"/>
                  </a:lnTo>
                  <a:lnTo>
                    <a:pt x="1197309" y="3412050"/>
                  </a:lnTo>
                  <a:lnTo>
                    <a:pt x="1154084" y="3397025"/>
                  </a:lnTo>
                  <a:lnTo>
                    <a:pt x="1111381" y="3380911"/>
                  </a:lnTo>
                  <a:lnTo>
                    <a:pt x="1069217" y="3363725"/>
                  </a:lnTo>
                  <a:lnTo>
                    <a:pt x="1027609" y="3345482"/>
                  </a:lnTo>
                  <a:lnTo>
                    <a:pt x="986573" y="3326200"/>
                  </a:lnTo>
                  <a:lnTo>
                    <a:pt x="946125" y="3305895"/>
                  </a:lnTo>
                  <a:lnTo>
                    <a:pt x="906283" y="3284584"/>
                  </a:lnTo>
                  <a:lnTo>
                    <a:pt x="867063" y="3262284"/>
                  </a:lnTo>
                  <a:lnTo>
                    <a:pt x="828482" y="3239012"/>
                  </a:lnTo>
                  <a:lnTo>
                    <a:pt x="790556" y="3214783"/>
                  </a:lnTo>
                  <a:lnTo>
                    <a:pt x="753303" y="3189616"/>
                  </a:lnTo>
                  <a:lnTo>
                    <a:pt x="716738" y="3163526"/>
                  </a:lnTo>
                  <a:lnTo>
                    <a:pt x="680879" y="3136529"/>
                  </a:lnTo>
                  <a:lnTo>
                    <a:pt x="645743" y="3108644"/>
                  </a:lnTo>
                  <a:lnTo>
                    <a:pt x="611345" y="3079887"/>
                  </a:lnTo>
                  <a:lnTo>
                    <a:pt x="577703" y="3050273"/>
                  </a:lnTo>
                  <a:lnTo>
                    <a:pt x="544834" y="3019821"/>
                  </a:lnTo>
                  <a:lnTo>
                    <a:pt x="512753" y="2988546"/>
                  </a:lnTo>
                  <a:lnTo>
                    <a:pt x="481478" y="2956465"/>
                  </a:lnTo>
                  <a:lnTo>
                    <a:pt x="451026" y="2923596"/>
                  </a:lnTo>
                  <a:lnTo>
                    <a:pt x="421412" y="2889954"/>
                  </a:lnTo>
                  <a:lnTo>
                    <a:pt x="392655" y="2855556"/>
                  </a:lnTo>
                  <a:lnTo>
                    <a:pt x="364769" y="2820419"/>
                  </a:lnTo>
                  <a:lnTo>
                    <a:pt x="337773" y="2784561"/>
                  </a:lnTo>
                  <a:lnTo>
                    <a:pt x="311683" y="2747996"/>
                  </a:lnTo>
                  <a:lnTo>
                    <a:pt x="286515" y="2710743"/>
                  </a:lnTo>
                  <a:lnTo>
                    <a:pt x="262287" y="2672817"/>
                  </a:lnTo>
                  <a:lnTo>
                    <a:pt x="239014" y="2634236"/>
                  </a:lnTo>
                  <a:lnTo>
                    <a:pt x="216715" y="2595016"/>
                  </a:lnTo>
                  <a:lnTo>
                    <a:pt x="195404" y="2555174"/>
                  </a:lnTo>
                  <a:lnTo>
                    <a:pt x="175099" y="2514726"/>
                  </a:lnTo>
                  <a:lnTo>
                    <a:pt x="155817" y="2473690"/>
                  </a:lnTo>
                  <a:lnTo>
                    <a:pt x="137574" y="2432081"/>
                  </a:lnTo>
                  <a:lnTo>
                    <a:pt x="120387" y="2389918"/>
                  </a:lnTo>
                  <a:lnTo>
                    <a:pt x="104273" y="2347215"/>
                  </a:lnTo>
                  <a:lnTo>
                    <a:pt x="89249" y="2303990"/>
                  </a:lnTo>
                  <a:lnTo>
                    <a:pt x="75330" y="2260260"/>
                  </a:lnTo>
                  <a:lnTo>
                    <a:pt x="62534" y="2216042"/>
                  </a:lnTo>
                  <a:lnTo>
                    <a:pt x="50878" y="2171351"/>
                  </a:lnTo>
                  <a:lnTo>
                    <a:pt x="40378" y="2126205"/>
                  </a:lnTo>
                  <a:lnTo>
                    <a:pt x="31050" y="2080621"/>
                  </a:lnTo>
                  <a:lnTo>
                    <a:pt x="22913" y="2034614"/>
                  </a:lnTo>
                  <a:lnTo>
                    <a:pt x="15981" y="1988202"/>
                  </a:lnTo>
                  <a:lnTo>
                    <a:pt x="10272" y="1941402"/>
                  </a:lnTo>
                  <a:lnTo>
                    <a:pt x="5803" y="1894230"/>
                  </a:lnTo>
                  <a:lnTo>
                    <a:pt x="2590" y="1846703"/>
                  </a:lnTo>
                  <a:lnTo>
                    <a:pt x="650" y="1798837"/>
                  </a:lnTo>
                  <a:lnTo>
                    <a:pt x="0" y="1750650"/>
                  </a:lnTo>
                  <a:lnTo>
                    <a:pt x="650" y="1702462"/>
                  </a:lnTo>
                  <a:lnTo>
                    <a:pt x="2590" y="1654596"/>
                  </a:lnTo>
                  <a:lnTo>
                    <a:pt x="5803" y="1607069"/>
                  </a:lnTo>
                  <a:lnTo>
                    <a:pt x="10272" y="1559897"/>
                  </a:lnTo>
                  <a:lnTo>
                    <a:pt x="15981" y="1513097"/>
                  </a:lnTo>
                  <a:lnTo>
                    <a:pt x="22913" y="1466685"/>
                  </a:lnTo>
                  <a:lnTo>
                    <a:pt x="31050" y="1420679"/>
                  </a:lnTo>
                  <a:lnTo>
                    <a:pt x="40378" y="1375094"/>
                  </a:lnTo>
                  <a:lnTo>
                    <a:pt x="50878" y="1329948"/>
                  </a:lnTo>
                  <a:lnTo>
                    <a:pt x="62534" y="1285257"/>
                  </a:lnTo>
                  <a:lnTo>
                    <a:pt x="75330" y="1241039"/>
                  </a:lnTo>
                  <a:lnTo>
                    <a:pt x="89249" y="1197309"/>
                  </a:lnTo>
                  <a:lnTo>
                    <a:pt x="104273" y="1154084"/>
                  </a:lnTo>
                  <a:lnTo>
                    <a:pt x="120387" y="1111381"/>
                  </a:lnTo>
                  <a:lnTo>
                    <a:pt x="137574" y="1069218"/>
                  </a:lnTo>
                  <a:lnTo>
                    <a:pt x="155817" y="1027609"/>
                  </a:lnTo>
                  <a:lnTo>
                    <a:pt x="175099" y="986573"/>
                  </a:lnTo>
                  <a:lnTo>
                    <a:pt x="195404" y="946125"/>
                  </a:lnTo>
                  <a:lnTo>
                    <a:pt x="216715" y="906283"/>
                  </a:lnTo>
                  <a:lnTo>
                    <a:pt x="239014" y="867063"/>
                  </a:lnTo>
                  <a:lnTo>
                    <a:pt x="262287" y="828482"/>
                  </a:lnTo>
                  <a:lnTo>
                    <a:pt x="286515" y="790556"/>
                  </a:lnTo>
                  <a:lnTo>
                    <a:pt x="311683" y="753303"/>
                  </a:lnTo>
                  <a:lnTo>
                    <a:pt x="337773" y="716738"/>
                  </a:lnTo>
                  <a:lnTo>
                    <a:pt x="364769" y="680879"/>
                  </a:lnTo>
                  <a:lnTo>
                    <a:pt x="392655" y="645743"/>
                  </a:lnTo>
                  <a:lnTo>
                    <a:pt x="421412" y="611345"/>
                  </a:lnTo>
                  <a:lnTo>
                    <a:pt x="451026" y="577703"/>
                  </a:lnTo>
                  <a:lnTo>
                    <a:pt x="481478" y="544834"/>
                  </a:lnTo>
                  <a:lnTo>
                    <a:pt x="512753" y="512753"/>
                  </a:lnTo>
                  <a:lnTo>
                    <a:pt x="544834" y="481478"/>
                  </a:lnTo>
                  <a:lnTo>
                    <a:pt x="577703" y="451026"/>
                  </a:lnTo>
                  <a:lnTo>
                    <a:pt x="611345" y="421412"/>
                  </a:lnTo>
                  <a:lnTo>
                    <a:pt x="645743" y="392655"/>
                  </a:lnTo>
                  <a:lnTo>
                    <a:pt x="680879" y="364769"/>
                  </a:lnTo>
                  <a:lnTo>
                    <a:pt x="716738" y="337773"/>
                  </a:lnTo>
                  <a:lnTo>
                    <a:pt x="753303" y="311683"/>
                  </a:lnTo>
                  <a:lnTo>
                    <a:pt x="790556" y="286516"/>
                  </a:lnTo>
                  <a:lnTo>
                    <a:pt x="828482" y="262287"/>
                  </a:lnTo>
                  <a:lnTo>
                    <a:pt x="867063" y="239015"/>
                  </a:lnTo>
                  <a:lnTo>
                    <a:pt x="906283" y="216715"/>
                  </a:lnTo>
                  <a:lnTo>
                    <a:pt x="946125" y="195404"/>
                  </a:lnTo>
                  <a:lnTo>
                    <a:pt x="986573" y="175099"/>
                  </a:lnTo>
                  <a:lnTo>
                    <a:pt x="1027609" y="155817"/>
                  </a:lnTo>
                  <a:lnTo>
                    <a:pt x="1069217" y="137574"/>
                  </a:lnTo>
                  <a:lnTo>
                    <a:pt x="1111381" y="120388"/>
                  </a:lnTo>
                  <a:lnTo>
                    <a:pt x="1154084" y="104273"/>
                  </a:lnTo>
                  <a:lnTo>
                    <a:pt x="1197309" y="89249"/>
                  </a:lnTo>
                  <a:lnTo>
                    <a:pt x="1241039" y="75330"/>
                  </a:lnTo>
                  <a:lnTo>
                    <a:pt x="1285257" y="62534"/>
                  </a:lnTo>
                  <a:lnTo>
                    <a:pt x="1329948" y="50878"/>
                  </a:lnTo>
                  <a:lnTo>
                    <a:pt x="1375094" y="40378"/>
                  </a:lnTo>
                  <a:lnTo>
                    <a:pt x="1420678" y="31050"/>
                  </a:lnTo>
                  <a:lnTo>
                    <a:pt x="1466685" y="22913"/>
                  </a:lnTo>
                  <a:lnTo>
                    <a:pt x="1513097" y="15981"/>
                  </a:lnTo>
                  <a:lnTo>
                    <a:pt x="1559897" y="10272"/>
                  </a:lnTo>
                  <a:lnTo>
                    <a:pt x="1607069" y="5803"/>
                  </a:lnTo>
                  <a:lnTo>
                    <a:pt x="1654596" y="2590"/>
                  </a:lnTo>
                  <a:lnTo>
                    <a:pt x="1702462" y="650"/>
                  </a:lnTo>
                  <a:lnTo>
                    <a:pt x="1750649" y="0"/>
                  </a:lnTo>
                  <a:lnTo>
                    <a:pt x="1800319" y="703"/>
                  </a:lnTo>
                  <a:lnTo>
                    <a:pt x="1849816" y="2808"/>
                  </a:lnTo>
                  <a:lnTo>
                    <a:pt x="1899114" y="6302"/>
                  </a:lnTo>
                  <a:lnTo>
                    <a:pt x="1948186" y="11174"/>
                  </a:lnTo>
                  <a:lnTo>
                    <a:pt x="1997005" y="17413"/>
                  </a:lnTo>
                  <a:lnTo>
                    <a:pt x="2045545" y="25008"/>
                  </a:lnTo>
                  <a:lnTo>
                    <a:pt x="2093779" y="33949"/>
                  </a:lnTo>
                  <a:lnTo>
                    <a:pt x="2141680" y="44223"/>
                  </a:lnTo>
                  <a:lnTo>
                    <a:pt x="2189221" y="55820"/>
                  </a:lnTo>
                  <a:lnTo>
                    <a:pt x="2236376" y="68729"/>
                  </a:lnTo>
                  <a:lnTo>
                    <a:pt x="2283117" y="82938"/>
                  </a:lnTo>
                  <a:lnTo>
                    <a:pt x="2329419" y="98437"/>
                  </a:lnTo>
                  <a:lnTo>
                    <a:pt x="2375253" y="115215"/>
                  </a:lnTo>
                  <a:lnTo>
                    <a:pt x="2420594" y="133260"/>
                  </a:lnTo>
                  <a:lnTo>
                    <a:pt x="2465415" y="152561"/>
                  </a:lnTo>
                  <a:lnTo>
                    <a:pt x="2509688" y="173107"/>
                  </a:lnTo>
                  <a:lnTo>
                    <a:pt x="2553387" y="194888"/>
                  </a:lnTo>
                  <a:lnTo>
                    <a:pt x="2596486" y="217891"/>
                  </a:lnTo>
                  <a:lnTo>
                    <a:pt x="2638958" y="242107"/>
                  </a:lnTo>
                  <a:lnTo>
                    <a:pt x="2680775" y="267523"/>
                  </a:lnTo>
                  <a:lnTo>
                    <a:pt x="2721911" y="294129"/>
                  </a:lnTo>
                  <a:lnTo>
                    <a:pt x="2762339" y="321914"/>
                  </a:lnTo>
                  <a:lnTo>
                    <a:pt x="2802033" y="350866"/>
                  </a:lnTo>
                  <a:lnTo>
                    <a:pt x="2840965" y="380975"/>
                  </a:lnTo>
                  <a:lnTo>
                    <a:pt x="2879109" y="412229"/>
                  </a:lnTo>
                  <a:lnTo>
                    <a:pt x="2916439" y="444618"/>
                  </a:lnTo>
                  <a:lnTo>
                    <a:pt x="2952926" y="478129"/>
                  </a:lnTo>
                  <a:lnTo>
                    <a:pt x="2988545" y="512753"/>
                  </a:lnTo>
                  <a:lnTo>
                    <a:pt x="3023169" y="548372"/>
                  </a:lnTo>
                  <a:lnTo>
                    <a:pt x="3056681" y="584860"/>
                  </a:lnTo>
                  <a:lnTo>
                    <a:pt x="3089069" y="622189"/>
                  </a:lnTo>
                  <a:lnTo>
                    <a:pt x="3120324" y="660334"/>
                  </a:lnTo>
                  <a:lnTo>
                    <a:pt x="3150432" y="699266"/>
                  </a:lnTo>
                  <a:lnTo>
                    <a:pt x="3179385" y="738960"/>
                  </a:lnTo>
                  <a:lnTo>
                    <a:pt x="3207169" y="779388"/>
                  </a:lnTo>
                  <a:lnTo>
                    <a:pt x="3233776" y="820524"/>
                  </a:lnTo>
                  <a:lnTo>
                    <a:pt x="3259192" y="862341"/>
                  </a:lnTo>
                  <a:lnTo>
                    <a:pt x="3283407" y="904813"/>
                  </a:lnTo>
                  <a:lnTo>
                    <a:pt x="3306411" y="947911"/>
                  </a:lnTo>
                  <a:lnTo>
                    <a:pt x="3328191" y="991611"/>
                  </a:lnTo>
                  <a:lnTo>
                    <a:pt x="3348738" y="1035884"/>
                  </a:lnTo>
                  <a:lnTo>
                    <a:pt x="3368039" y="1080705"/>
                  </a:lnTo>
                  <a:lnTo>
                    <a:pt x="3386084" y="1126046"/>
                  </a:lnTo>
                  <a:lnTo>
                    <a:pt x="3402862" y="1171880"/>
                  </a:lnTo>
                  <a:lnTo>
                    <a:pt x="3418361" y="1218182"/>
                  </a:lnTo>
                  <a:lnTo>
                    <a:pt x="3432570" y="1264923"/>
                  </a:lnTo>
                  <a:lnTo>
                    <a:pt x="3445479" y="1312078"/>
                  </a:lnTo>
                  <a:lnTo>
                    <a:pt x="3457076" y="1359619"/>
                  </a:lnTo>
                  <a:lnTo>
                    <a:pt x="3467350" y="1407520"/>
                  </a:lnTo>
                  <a:lnTo>
                    <a:pt x="3476291" y="1455754"/>
                  </a:lnTo>
                  <a:lnTo>
                    <a:pt x="3483886" y="1504294"/>
                  </a:lnTo>
                  <a:lnTo>
                    <a:pt x="3490125" y="1553113"/>
                  </a:lnTo>
                  <a:lnTo>
                    <a:pt x="3494997" y="1602185"/>
                  </a:lnTo>
                  <a:lnTo>
                    <a:pt x="3498491" y="1651483"/>
                  </a:lnTo>
                  <a:lnTo>
                    <a:pt x="3500596" y="1700980"/>
                  </a:lnTo>
                  <a:lnTo>
                    <a:pt x="3501299" y="1750650"/>
                  </a:lnTo>
                  <a:lnTo>
                    <a:pt x="3500649" y="1798837"/>
                  </a:lnTo>
                  <a:lnTo>
                    <a:pt x="3498709" y="1846703"/>
                  </a:lnTo>
                  <a:lnTo>
                    <a:pt x="3495496" y="1894230"/>
                  </a:lnTo>
                  <a:lnTo>
                    <a:pt x="3491027" y="1941402"/>
                  </a:lnTo>
                  <a:lnTo>
                    <a:pt x="3485318" y="1988202"/>
                  </a:lnTo>
                  <a:lnTo>
                    <a:pt x="3478386" y="2034614"/>
                  </a:lnTo>
                  <a:lnTo>
                    <a:pt x="3470249" y="2080621"/>
                  </a:lnTo>
                  <a:lnTo>
                    <a:pt x="3460921" y="2126205"/>
                  </a:lnTo>
                  <a:lnTo>
                    <a:pt x="3450421" y="2171351"/>
                  </a:lnTo>
                  <a:lnTo>
                    <a:pt x="3438765" y="2216042"/>
                  </a:lnTo>
                  <a:lnTo>
                    <a:pt x="3425969" y="2260260"/>
                  </a:lnTo>
                  <a:lnTo>
                    <a:pt x="3412050" y="2303990"/>
                  </a:lnTo>
                  <a:lnTo>
                    <a:pt x="3397025" y="2347215"/>
                  </a:lnTo>
                  <a:lnTo>
                    <a:pt x="3380911" y="2389918"/>
                  </a:lnTo>
                  <a:lnTo>
                    <a:pt x="3363725" y="2432081"/>
                  </a:lnTo>
                  <a:lnTo>
                    <a:pt x="3345482" y="2473690"/>
                  </a:lnTo>
                  <a:lnTo>
                    <a:pt x="3326200" y="2514726"/>
                  </a:lnTo>
                  <a:lnTo>
                    <a:pt x="3305895" y="2555174"/>
                  </a:lnTo>
                  <a:lnTo>
                    <a:pt x="3284584" y="2595016"/>
                  </a:lnTo>
                  <a:lnTo>
                    <a:pt x="3262284" y="2634236"/>
                  </a:lnTo>
                  <a:lnTo>
                    <a:pt x="3239012" y="2672817"/>
                  </a:lnTo>
                  <a:lnTo>
                    <a:pt x="3214783" y="2710743"/>
                  </a:lnTo>
                  <a:lnTo>
                    <a:pt x="3189616" y="2747996"/>
                  </a:lnTo>
                  <a:lnTo>
                    <a:pt x="3163525" y="2784561"/>
                  </a:lnTo>
                  <a:lnTo>
                    <a:pt x="3136529" y="2820419"/>
                  </a:lnTo>
                  <a:lnTo>
                    <a:pt x="3108644" y="2855556"/>
                  </a:lnTo>
                  <a:lnTo>
                    <a:pt x="3079887" y="2889954"/>
                  </a:lnTo>
                  <a:lnTo>
                    <a:pt x="3050273" y="2923596"/>
                  </a:lnTo>
                  <a:lnTo>
                    <a:pt x="3019821" y="2956465"/>
                  </a:lnTo>
                  <a:lnTo>
                    <a:pt x="2988546" y="2988546"/>
                  </a:lnTo>
                  <a:lnTo>
                    <a:pt x="2956465" y="3019821"/>
                  </a:lnTo>
                  <a:lnTo>
                    <a:pt x="2923596" y="3050273"/>
                  </a:lnTo>
                  <a:lnTo>
                    <a:pt x="2889954" y="3079887"/>
                  </a:lnTo>
                  <a:lnTo>
                    <a:pt x="2855556" y="3108644"/>
                  </a:lnTo>
                  <a:lnTo>
                    <a:pt x="2820419" y="3136529"/>
                  </a:lnTo>
                  <a:lnTo>
                    <a:pt x="2784561" y="3163526"/>
                  </a:lnTo>
                  <a:lnTo>
                    <a:pt x="2747996" y="3189616"/>
                  </a:lnTo>
                  <a:lnTo>
                    <a:pt x="2710743" y="3214783"/>
                  </a:lnTo>
                  <a:lnTo>
                    <a:pt x="2672817" y="3239012"/>
                  </a:lnTo>
                  <a:lnTo>
                    <a:pt x="2634236" y="3262284"/>
                  </a:lnTo>
                  <a:lnTo>
                    <a:pt x="2595016" y="3284584"/>
                  </a:lnTo>
                  <a:lnTo>
                    <a:pt x="2555174" y="3305895"/>
                  </a:lnTo>
                  <a:lnTo>
                    <a:pt x="2514726" y="3326200"/>
                  </a:lnTo>
                  <a:lnTo>
                    <a:pt x="2473690" y="3345482"/>
                  </a:lnTo>
                  <a:lnTo>
                    <a:pt x="2432081" y="3363725"/>
                  </a:lnTo>
                  <a:lnTo>
                    <a:pt x="2389917" y="3380911"/>
                  </a:lnTo>
                  <a:lnTo>
                    <a:pt x="2347215" y="3397025"/>
                  </a:lnTo>
                  <a:lnTo>
                    <a:pt x="2303990" y="3412050"/>
                  </a:lnTo>
                  <a:lnTo>
                    <a:pt x="2260260" y="3425969"/>
                  </a:lnTo>
                  <a:lnTo>
                    <a:pt x="2216041" y="3438764"/>
                  </a:lnTo>
                  <a:lnTo>
                    <a:pt x="2171351" y="3450421"/>
                  </a:lnTo>
                  <a:lnTo>
                    <a:pt x="2126205" y="3460921"/>
                  </a:lnTo>
                  <a:lnTo>
                    <a:pt x="2080620" y="3470248"/>
                  </a:lnTo>
                  <a:lnTo>
                    <a:pt x="2034614" y="3478386"/>
                  </a:lnTo>
                  <a:lnTo>
                    <a:pt x="1988202" y="3485318"/>
                  </a:lnTo>
                  <a:lnTo>
                    <a:pt x="1941402" y="3491027"/>
                  </a:lnTo>
                  <a:lnTo>
                    <a:pt x="1894230" y="3495496"/>
                  </a:lnTo>
                  <a:lnTo>
                    <a:pt x="1846703" y="3498709"/>
                  </a:lnTo>
                  <a:lnTo>
                    <a:pt x="1798837" y="3500649"/>
                  </a:lnTo>
                  <a:lnTo>
                    <a:pt x="1750649" y="3501299"/>
                  </a:lnTo>
                  <a:close/>
                </a:path>
              </a:pathLst>
            </a:custGeom>
            <a:solidFill>
              <a:srgbClr val="A1C3FA"/>
            </a:solidFill>
          </p:spPr>
          <p:txBody>
            <a:bodyPr wrap="square" lIns="0" tIns="0" rIns="0" bIns="0" rtlCol="0"/>
            <a:lstStyle/>
            <a:p>
              <a:endParaRPr/>
            </a:p>
          </p:txBody>
        </p:sp>
        <p:sp>
          <p:nvSpPr>
            <p:cNvPr id="8" name="object 8"/>
            <p:cNvSpPr/>
            <p:nvPr/>
          </p:nvSpPr>
          <p:spPr>
            <a:xfrm>
              <a:off x="5187875" y="410002"/>
              <a:ext cx="2166620" cy="2166620"/>
            </a:xfrm>
            <a:custGeom>
              <a:avLst/>
              <a:gdLst/>
              <a:ahLst/>
              <a:cxnLst/>
              <a:rect l="l" t="t" r="r" b="b"/>
              <a:pathLst>
                <a:path w="2166620" h="2166620">
                  <a:moveTo>
                    <a:pt x="1082999" y="2165999"/>
                  </a:moveTo>
                  <a:lnTo>
                    <a:pt x="1034758" y="2164944"/>
                  </a:lnTo>
                  <a:lnTo>
                    <a:pt x="987058" y="2161808"/>
                  </a:lnTo>
                  <a:lnTo>
                    <a:pt x="939941" y="2156635"/>
                  </a:lnTo>
                  <a:lnTo>
                    <a:pt x="893453" y="2149468"/>
                  </a:lnTo>
                  <a:lnTo>
                    <a:pt x="847638" y="2140353"/>
                  </a:lnTo>
                  <a:lnTo>
                    <a:pt x="802539" y="2129333"/>
                  </a:lnTo>
                  <a:lnTo>
                    <a:pt x="758200" y="2116451"/>
                  </a:lnTo>
                  <a:lnTo>
                    <a:pt x="714666" y="2101753"/>
                  </a:lnTo>
                  <a:lnTo>
                    <a:pt x="671981" y="2085282"/>
                  </a:lnTo>
                  <a:lnTo>
                    <a:pt x="630188" y="2067081"/>
                  </a:lnTo>
                  <a:lnTo>
                    <a:pt x="589331" y="2047196"/>
                  </a:lnTo>
                  <a:lnTo>
                    <a:pt x="549455" y="2025671"/>
                  </a:lnTo>
                  <a:lnTo>
                    <a:pt x="510604" y="2002548"/>
                  </a:lnTo>
                  <a:lnTo>
                    <a:pt x="472821" y="1977872"/>
                  </a:lnTo>
                  <a:lnTo>
                    <a:pt x="436151" y="1951688"/>
                  </a:lnTo>
                  <a:lnTo>
                    <a:pt x="400637" y="1924039"/>
                  </a:lnTo>
                  <a:lnTo>
                    <a:pt x="366324" y="1894969"/>
                  </a:lnTo>
                  <a:lnTo>
                    <a:pt x="333256" y="1864522"/>
                  </a:lnTo>
                  <a:lnTo>
                    <a:pt x="301477" y="1832743"/>
                  </a:lnTo>
                  <a:lnTo>
                    <a:pt x="271030" y="1799674"/>
                  </a:lnTo>
                  <a:lnTo>
                    <a:pt x="241960" y="1765362"/>
                  </a:lnTo>
                  <a:lnTo>
                    <a:pt x="214311" y="1729848"/>
                  </a:lnTo>
                  <a:lnTo>
                    <a:pt x="188127" y="1693178"/>
                  </a:lnTo>
                  <a:lnTo>
                    <a:pt x="163451" y="1655395"/>
                  </a:lnTo>
                  <a:lnTo>
                    <a:pt x="140328" y="1616544"/>
                  </a:lnTo>
                  <a:lnTo>
                    <a:pt x="118802" y="1576668"/>
                  </a:lnTo>
                  <a:lnTo>
                    <a:pt x="98917" y="1535811"/>
                  </a:lnTo>
                  <a:lnTo>
                    <a:pt x="80717" y="1494018"/>
                  </a:lnTo>
                  <a:lnTo>
                    <a:pt x="64246" y="1451333"/>
                  </a:lnTo>
                  <a:lnTo>
                    <a:pt x="49548" y="1407799"/>
                  </a:lnTo>
                  <a:lnTo>
                    <a:pt x="36666" y="1363460"/>
                  </a:lnTo>
                  <a:lnTo>
                    <a:pt x="25646" y="1318361"/>
                  </a:lnTo>
                  <a:lnTo>
                    <a:pt x="16531" y="1272545"/>
                  </a:lnTo>
                  <a:lnTo>
                    <a:pt x="9364" y="1226058"/>
                  </a:lnTo>
                  <a:lnTo>
                    <a:pt x="4191" y="1178941"/>
                  </a:lnTo>
                  <a:lnTo>
                    <a:pt x="1055" y="1131241"/>
                  </a:lnTo>
                  <a:lnTo>
                    <a:pt x="0" y="1082999"/>
                  </a:lnTo>
                  <a:lnTo>
                    <a:pt x="1055" y="1034758"/>
                  </a:lnTo>
                  <a:lnTo>
                    <a:pt x="4191" y="987058"/>
                  </a:lnTo>
                  <a:lnTo>
                    <a:pt x="9364" y="939941"/>
                  </a:lnTo>
                  <a:lnTo>
                    <a:pt x="16531" y="893453"/>
                  </a:lnTo>
                  <a:lnTo>
                    <a:pt x="25646" y="847638"/>
                  </a:lnTo>
                  <a:lnTo>
                    <a:pt x="36666" y="802539"/>
                  </a:lnTo>
                  <a:lnTo>
                    <a:pt x="49548" y="758200"/>
                  </a:lnTo>
                  <a:lnTo>
                    <a:pt x="64246" y="714666"/>
                  </a:lnTo>
                  <a:lnTo>
                    <a:pt x="80717" y="671981"/>
                  </a:lnTo>
                  <a:lnTo>
                    <a:pt x="98917" y="630188"/>
                  </a:lnTo>
                  <a:lnTo>
                    <a:pt x="118802" y="589331"/>
                  </a:lnTo>
                  <a:lnTo>
                    <a:pt x="140328" y="549455"/>
                  </a:lnTo>
                  <a:lnTo>
                    <a:pt x="163451" y="510604"/>
                  </a:lnTo>
                  <a:lnTo>
                    <a:pt x="188127" y="472821"/>
                  </a:lnTo>
                  <a:lnTo>
                    <a:pt x="214311" y="436151"/>
                  </a:lnTo>
                  <a:lnTo>
                    <a:pt x="241960" y="400637"/>
                  </a:lnTo>
                  <a:lnTo>
                    <a:pt x="271030" y="366325"/>
                  </a:lnTo>
                  <a:lnTo>
                    <a:pt x="301477" y="333256"/>
                  </a:lnTo>
                  <a:lnTo>
                    <a:pt x="333256" y="301477"/>
                  </a:lnTo>
                  <a:lnTo>
                    <a:pt x="366324" y="271030"/>
                  </a:lnTo>
                  <a:lnTo>
                    <a:pt x="400637" y="241960"/>
                  </a:lnTo>
                  <a:lnTo>
                    <a:pt x="436151" y="214311"/>
                  </a:lnTo>
                  <a:lnTo>
                    <a:pt x="472821" y="188127"/>
                  </a:lnTo>
                  <a:lnTo>
                    <a:pt x="510604" y="163451"/>
                  </a:lnTo>
                  <a:lnTo>
                    <a:pt x="549455" y="140328"/>
                  </a:lnTo>
                  <a:lnTo>
                    <a:pt x="589331" y="118803"/>
                  </a:lnTo>
                  <a:lnTo>
                    <a:pt x="630188" y="98917"/>
                  </a:lnTo>
                  <a:lnTo>
                    <a:pt x="671981" y="80717"/>
                  </a:lnTo>
                  <a:lnTo>
                    <a:pt x="714666" y="64246"/>
                  </a:lnTo>
                  <a:lnTo>
                    <a:pt x="758200" y="49548"/>
                  </a:lnTo>
                  <a:lnTo>
                    <a:pt x="802539" y="36666"/>
                  </a:lnTo>
                  <a:lnTo>
                    <a:pt x="847638" y="25646"/>
                  </a:lnTo>
                  <a:lnTo>
                    <a:pt x="893453" y="16531"/>
                  </a:lnTo>
                  <a:lnTo>
                    <a:pt x="939941" y="9364"/>
                  </a:lnTo>
                  <a:lnTo>
                    <a:pt x="987058" y="4191"/>
                  </a:lnTo>
                  <a:lnTo>
                    <a:pt x="1034758" y="1055"/>
                  </a:lnTo>
                  <a:lnTo>
                    <a:pt x="1082999" y="0"/>
                  </a:lnTo>
                  <a:lnTo>
                    <a:pt x="1133553" y="1179"/>
                  </a:lnTo>
                  <a:lnTo>
                    <a:pt x="1183788" y="4696"/>
                  </a:lnTo>
                  <a:lnTo>
                    <a:pt x="1233630" y="10522"/>
                  </a:lnTo>
                  <a:lnTo>
                    <a:pt x="1283006" y="18624"/>
                  </a:lnTo>
                  <a:lnTo>
                    <a:pt x="1331842" y="28972"/>
                  </a:lnTo>
                  <a:lnTo>
                    <a:pt x="1380064" y="41536"/>
                  </a:lnTo>
                  <a:lnTo>
                    <a:pt x="1427598" y="56285"/>
                  </a:lnTo>
                  <a:lnTo>
                    <a:pt x="1474369" y="73188"/>
                  </a:lnTo>
                  <a:lnTo>
                    <a:pt x="1520304" y="92215"/>
                  </a:lnTo>
                  <a:lnTo>
                    <a:pt x="1565328" y="113335"/>
                  </a:lnTo>
                  <a:lnTo>
                    <a:pt x="1609369" y="136517"/>
                  </a:lnTo>
                  <a:lnTo>
                    <a:pt x="1652351" y="161731"/>
                  </a:lnTo>
                  <a:lnTo>
                    <a:pt x="1694201" y="188946"/>
                  </a:lnTo>
                  <a:lnTo>
                    <a:pt x="1734844" y="218131"/>
                  </a:lnTo>
                  <a:lnTo>
                    <a:pt x="1774207" y="249256"/>
                  </a:lnTo>
                  <a:lnTo>
                    <a:pt x="1812216" y="282290"/>
                  </a:lnTo>
                  <a:lnTo>
                    <a:pt x="1848796" y="317203"/>
                  </a:lnTo>
                  <a:lnTo>
                    <a:pt x="1883709" y="353783"/>
                  </a:lnTo>
                  <a:lnTo>
                    <a:pt x="1916743" y="391792"/>
                  </a:lnTo>
                  <a:lnTo>
                    <a:pt x="1947868" y="431155"/>
                  </a:lnTo>
                  <a:lnTo>
                    <a:pt x="1977053" y="471798"/>
                  </a:lnTo>
                  <a:lnTo>
                    <a:pt x="2004268" y="513648"/>
                  </a:lnTo>
                  <a:lnTo>
                    <a:pt x="2029482" y="556630"/>
                  </a:lnTo>
                  <a:lnTo>
                    <a:pt x="2052664" y="600670"/>
                  </a:lnTo>
                  <a:lnTo>
                    <a:pt x="2073784" y="645695"/>
                  </a:lnTo>
                  <a:lnTo>
                    <a:pt x="2092811" y="691630"/>
                  </a:lnTo>
                  <a:lnTo>
                    <a:pt x="2109714" y="738401"/>
                  </a:lnTo>
                  <a:lnTo>
                    <a:pt x="2124463" y="785935"/>
                  </a:lnTo>
                  <a:lnTo>
                    <a:pt x="2137027" y="834157"/>
                  </a:lnTo>
                  <a:lnTo>
                    <a:pt x="2147375" y="882993"/>
                  </a:lnTo>
                  <a:lnTo>
                    <a:pt x="2155477" y="932369"/>
                  </a:lnTo>
                  <a:lnTo>
                    <a:pt x="2161303" y="982212"/>
                  </a:lnTo>
                  <a:lnTo>
                    <a:pt x="2164820" y="1032446"/>
                  </a:lnTo>
                  <a:lnTo>
                    <a:pt x="2165999" y="1082999"/>
                  </a:lnTo>
                  <a:lnTo>
                    <a:pt x="2164944" y="1131241"/>
                  </a:lnTo>
                  <a:lnTo>
                    <a:pt x="2161808" y="1178941"/>
                  </a:lnTo>
                  <a:lnTo>
                    <a:pt x="2156635" y="1226058"/>
                  </a:lnTo>
                  <a:lnTo>
                    <a:pt x="2149468" y="1272545"/>
                  </a:lnTo>
                  <a:lnTo>
                    <a:pt x="2140353" y="1318361"/>
                  </a:lnTo>
                  <a:lnTo>
                    <a:pt x="2129333" y="1363460"/>
                  </a:lnTo>
                  <a:lnTo>
                    <a:pt x="2116451" y="1407799"/>
                  </a:lnTo>
                  <a:lnTo>
                    <a:pt x="2101753" y="1451333"/>
                  </a:lnTo>
                  <a:lnTo>
                    <a:pt x="2085282" y="1494018"/>
                  </a:lnTo>
                  <a:lnTo>
                    <a:pt x="2067081" y="1535811"/>
                  </a:lnTo>
                  <a:lnTo>
                    <a:pt x="2047196" y="1576668"/>
                  </a:lnTo>
                  <a:lnTo>
                    <a:pt x="2025671" y="1616544"/>
                  </a:lnTo>
                  <a:lnTo>
                    <a:pt x="2002548" y="1655395"/>
                  </a:lnTo>
                  <a:lnTo>
                    <a:pt x="1977872" y="1693178"/>
                  </a:lnTo>
                  <a:lnTo>
                    <a:pt x="1951688" y="1729848"/>
                  </a:lnTo>
                  <a:lnTo>
                    <a:pt x="1924039" y="1765362"/>
                  </a:lnTo>
                  <a:lnTo>
                    <a:pt x="1894969" y="1799674"/>
                  </a:lnTo>
                  <a:lnTo>
                    <a:pt x="1864522" y="1832743"/>
                  </a:lnTo>
                  <a:lnTo>
                    <a:pt x="1832743" y="1864522"/>
                  </a:lnTo>
                  <a:lnTo>
                    <a:pt x="1799674" y="1894969"/>
                  </a:lnTo>
                  <a:lnTo>
                    <a:pt x="1765362" y="1924039"/>
                  </a:lnTo>
                  <a:lnTo>
                    <a:pt x="1729848" y="1951688"/>
                  </a:lnTo>
                  <a:lnTo>
                    <a:pt x="1693178" y="1977872"/>
                  </a:lnTo>
                  <a:lnTo>
                    <a:pt x="1655395" y="2002548"/>
                  </a:lnTo>
                  <a:lnTo>
                    <a:pt x="1616544" y="2025671"/>
                  </a:lnTo>
                  <a:lnTo>
                    <a:pt x="1576668" y="2047196"/>
                  </a:lnTo>
                  <a:lnTo>
                    <a:pt x="1535811" y="2067081"/>
                  </a:lnTo>
                  <a:lnTo>
                    <a:pt x="1494018" y="2085282"/>
                  </a:lnTo>
                  <a:lnTo>
                    <a:pt x="1451333" y="2101753"/>
                  </a:lnTo>
                  <a:lnTo>
                    <a:pt x="1407799" y="2116451"/>
                  </a:lnTo>
                  <a:lnTo>
                    <a:pt x="1363460" y="2129333"/>
                  </a:lnTo>
                  <a:lnTo>
                    <a:pt x="1318361" y="2140353"/>
                  </a:lnTo>
                  <a:lnTo>
                    <a:pt x="1272545" y="2149468"/>
                  </a:lnTo>
                  <a:lnTo>
                    <a:pt x="1226058" y="2156635"/>
                  </a:lnTo>
                  <a:lnTo>
                    <a:pt x="1178941" y="2161808"/>
                  </a:lnTo>
                  <a:lnTo>
                    <a:pt x="1131241" y="2164944"/>
                  </a:lnTo>
                  <a:lnTo>
                    <a:pt x="1082999" y="2165999"/>
                  </a:lnTo>
                  <a:close/>
                </a:path>
              </a:pathLst>
            </a:custGeom>
            <a:solidFill>
              <a:srgbClr val="307AF3"/>
            </a:solidFill>
          </p:spPr>
          <p:txBody>
            <a:bodyPr wrap="square" lIns="0" tIns="0" rIns="0" bIns="0" rtlCol="0"/>
            <a:lstStyle/>
            <a:p>
              <a:endParaRPr/>
            </a:p>
          </p:txBody>
        </p:sp>
      </p:grpSp>
      <p:sp>
        <p:nvSpPr>
          <p:cNvPr id="9" name="object 9"/>
          <p:cNvSpPr txBox="1"/>
          <p:nvPr/>
        </p:nvSpPr>
        <p:spPr>
          <a:xfrm>
            <a:off x="7570662" y="1707497"/>
            <a:ext cx="1636607" cy="217153"/>
          </a:xfrm>
          <a:prstGeom prst="rect">
            <a:avLst/>
          </a:prstGeom>
        </p:spPr>
        <p:txBody>
          <a:bodyPr vert="horz" wrap="square" lIns="0" tIns="16933" rIns="0" bIns="0" rtlCol="0">
            <a:spAutoFit/>
          </a:bodyPr>
          <a:lstStyle/>
          <a:p>
            <a:pPr marL="16933">
              <a:spcBef>
                <a:spcPts val="133"/>
              </a:spcBef>
            </a:pPr>
            <a:r>
              <a:rPr sz="1300" spc="-13" dirty="0">
                <a:solidFill>
                  <a:srgbClr val="FFFFFF"/>
                </a:solidFill>
                <a:latin typeface="Roboto"/>
                <a:cs typeface="Roboto"/>
              </a:rPr>
              <a:t>Software</a:t>
            </a:r>
            <a:r>
              <a:rPr sz="1300" spc="-40" dirty="0">
                <a:solidFill>
                  <a:srgbClr val="FFFFFF"/>
                </a:solidFill>
                <a:latin typeface="Roboto"/>
                <a:cs typeface="Roboto"/>
              </a:rPr>
              <a:t> </a:t>
            </a:r>
            <a:r>
              <a:rPr sz="1300" spc="-20" dirty="0">
                <a:solidFill>
                  <a:srgbClr val="FFFFFF"/>
                </a:solidFill>
                <a:latin typeface="Roboto"/>
                <a:cs typeface="Roboto"/>
              </a:rPr>
              <a:t>Engineering</a:t>
            </a:r>
            <a:endParaRPr sz="1300">
              <a:latin typeface="Roboto"/>
              <a:cs typeface="Roboto"/>
            </a:endParaRPr>
          </a:p>
        </p:txBody>
      </p:sp>
      <p:sp>
        <p:nvSpPr>
          <p:cNvPr id="10" name="object 10"/>
          <p:cNvSpPr/>
          <p:nvPr/>
        </p:nvSpPr>
        <p:spPr>
          <a:xfrm>
            <a:off x="7969811" y="2665285"/>
            <a:ext cx="2888827" cy="2888827"/>
          </a:xfrm>
          <a:custGeom>
            <a:avLst/>
            <a:gdLst/>
            <a:ahLst/>
            <a:cxnLst/>
            <a:rect l="l" t="t" r="r" b="b"/>
            <a:pathLst>
              <a:path w="2166620" h="2166620">
                <a:moveTo>
                  <a:pt x="1083000" y="2165999"/>
                </a:moveTo>
                <a:lnTo>
                  <a:pt x="1034759" y="2164944"/>
                </a:lnTo>
                <a:lnTo>
                  <a:pt x="987058" y="2161808"/>
                </a:lnTo>
                <a:lnTo>
                  <a:pt x="939942" y="2156634"/>
                </a:lnTo>
                <a:lnTo>
                  <a:pt x="893454" y="2149468"/>
                </a:lnTo>
                <a:lnTo>
                  <a:pt x="847638" y="2140353"/>
                </a:lnTo>
                <a:lnTo>
                  <a:pt x="802539" y="2129332"/>
                </a:lnTo>
                <a:lnTo>
                  <a:pt x="758201" y="2116451"/>
                </a:lnTo>
                <a:lnTo>
                  <a:pt x="714666" y="2101753"/>
                </a:lnTo>
                <a:lnTo>
                  <a:pt x="671981" y="2085281"/>
                </a:lnTo>
                <a:lnTo>
                  <a:pt x="630188" y="2067081"/>
                </a:lnTo>
                <a:lnTo>
                  <a:pt x="589331" y="2047196"/>
                </a:lnTo>
                <a:lnTo>
                  <a:pt x="549455" y="2025670"/>
                </a:lnTo>
                <a:lnTo>
                  <a:pt x="510604" y="2002548"/>
                </a:lnTo>
                <a:lnTo>
                  <a:pt x="472821" y="1977872"/>
                </a:lnTo>
                <a:lnTo>
                  <a:pt x="436151" y="1951688"/>
                </a:lnTo>
                <a:lnTo>
                  <a:pt x="400637" y="1924039"/>
                </a:lnTo>
                <a:lnTo>
                  <a:pt x="366325" y="1894969"/>
                </a:lnTo>
                <a:lnTo>
                  <a:pt x="333256" y="1864522"/>
                </a:lnTo>
                <a:lnTo>
                  <a:pt x="301477" y="1832743"/>
                </a:lnTo>
                <a:lnTo>
                  <a:pt x="271030" y="1799674"/>
                </a:lnTo>
                <a:lnTo>
                  <a:pt x="241960" y="1765362"/>
                </a:lnTo>
                <a:lnTo>
                  <a:pt x="214311" y="1729848"/>
                </a:lnTo>
                <a:lnTo>
                  <a:pt x="188127" y="1693178"/>
                </a:lnTo>
                <a:lnTo>
                  <a:pt x="163451" y="1655395"/>
                </a:lnTo>
                <a:lnTo>
                  <a:pt x="140328" y="1616544"/>
                </a:lnTo>
                <a:lnTo>
                  <a:pt x="118803" y="1576668"/>
                </a:lnTo>
                <a:lnTo>
                  <a:pt x="98918" y="1535811"/>
                </a:lnTo>
                <a:lnTo>
                  <a:pt x="80717" y="1494018"/>
                </a:lnTo>
                <a:lnTo>
                  <a:pt x="64246" y="1451333"/>
                </a:lnTo>
                <a:lnTo>
                  <a:pt x="49548" y="1407799"/>
                </a:lnTo>
                <a:lnTo>
                  <a:pt x="36666" y="1363460"/>
                </a:lnTo>
                <a:lnTo>
                  <a:pt x="25646" y="1318361"/>
                </a:lnTo>
                <a:lnTo>
                  <a:pt x="16531" y="1272546"/>
                </a:lnTo>
                <a:lnTo>
                  <a:pt x="9364" y="1226058"/>
                </a:lnTo>
                <a:lnTo>
                  <a:pt x="4191" y="1178941"/>
                </a:lnTo>
                <a:lnTo>
                  <a:pt x="1055" y="1131241"/>
                </a:lnTo>
                <a:lnTo>
                  <a:pt x="0" y="1082999"/>
                </a:lnTo>
                <a:lnTo>
                  <a:pt x="1055" y="1034758"/>
                </a:lnTo>
                <a:lnTo>
                  <a:pt x="4191" y="987058"/>
                </a:lnTo>
                <a:lnTo>
                  <a:pt x="9364" y="939941"/>
                </a:lnTo>
                <a:lnTo>
                  <a:pt x="16531" y="893453"/>
                </a:lnTo>
                <a:lnTo>
                  <a:pt x="25646" y="847638"/>
                </a:lnTo>
                <a:lnTo>
                  <a:pt x="36666" y="802539"/>
                </a:lnTo>
                <a:lnTo>
                  <a:pt x="49548" y="758200"/>
                </a:lnTo>
                <a:lnTo>
                  <a:pt x="64246" y="714666"/>
                </a:lnTo>
                <a:lnTo>
                  <a:pt x="80717" y="671981"/>
                </a:lnTo>
                <a:lnTo>
                  <a:pt x="98918" y="630188"/>
                </a:lnTo>
                <a:lnTo>
                  <a:pt x="118803" y="589331"/>
                </a:lnTo>
                <a:lnTo>
                  <a:pt x="140328" y="549455"/>
                </a:lnTo>
                <a:lnTo>
                  <a:pt x="163451" y="510604"/>
                </a:lnTo>
                <a:lnTo>
                  <a:pt x="188127" y="472821"/>
                </a:lnTo>
                <a:lnTo>
                  <a:pt x="214311" y="436151"/>
                </a:lnTo>
                <a:lnTo>
                  <a:pt x="241960" y="400637"/>
                </a:lnTo>
                <a:lnTo>
                  <a:pt x="271030" y="366324"/>
                </a:lnTo>
                <a:lnTo>
                  <a:pt x="301477" y="333256"/>
                </a:lnTo>
                <a:lnTo>
                  <a:pt x="333256" y="301477"/>
                </a:lnTo>
                <a:lnTo>
                  <a:pt x="366325" y="271030"/>
                </a:lnTo>
                <a:lnTo>
                  <a:pt x="400637" y="241960"/>
                </a:lnTo>
                <a:lnTo>
                  <a:pt x="436151" y="214311"/>
                </a:lnTo>
                <a:lnTo>
                  <a:pt x="472821" y="188127"/>
                </a:lnTo>
                <a:lnTo>
                  <a:pt x="510604" y="163451"/>
                </a:lnTo>
                <a:lnTo>
                  <a:pt x="549455" y="140328"/>
                </a:lnTo>
                <a:lnTo>
                  <a:pt x="589331" y="118802"/>
                </a:lnTo>
                <a:lnTo>
                  <a:pt x="630188" y="98917"/>
                </a:lnTo>
                <a:lnTo>
                  <a:pt x="671981" y="80717"/>
                </a:lnTo>
                <a:lnTo>
                  <a:pt x="714666" y="64246"/>
                </a:lnTo>
                <a:lnTo>
                  <a:pt x="758201" y="49548"/>
                </a:lnTo>
                <a:lnTo>
                  <a:pt x="802539" y="36666"/>
                </a:lnTo>
                <a:lnTo>
                  <a:pt x="847638" y="25646"/>
                </a:lnTo>
                <a:lnTo>
                  <a:pt x="893454" y="16531"/>
                </a:lnTo>
                <a:lnTo>
                  <a:pt x="939942" y="9364"/>
                </a:lnTo>
                <a:lnTo>
                  <a:pt x="987058" y="4191"/>
                </a:lnTo>
                <a:lnTo>
                  <a:pt x="1034759" y="1055"/>
                </a:lnTo>
                <a:lnTo>
                  <a:pt x="1083000" y="0"/>
                </a:lnTo>
                <a:lnTo>
                  <a:pt x="1133553" y="1179"/>
                </a:lnTo>
                <a:lnTo>
                  <a:pt x="1183788" y="4696"/>
                </a:lnTo>
                <a:lnTo>
                  <a:pt x="1233630" y="10522"/>
                </a:lnTo>
                <a:lnTo>
                  <a:pt x="1283006" y="18624"/>
                </a:lnTo>
                <a:lnTo>
                  <a:pt x="1331842" y="28972"/>
                </a:lnTo>
                <a:lnTo>
                  <a:pt x="1380064" y="41536"/>
                </a:lnTo>
                <a:lnTo>
                  <a:pt x="1427598" y="56285"/>
                </a:lnTo>
                <a:lnTo>
                  <a:pt x="1474369" y="73188"/>
                </a:lnTo>
                <a:lnTo>
                  <a:pt x="1520304" y="92215"/>
                </a:lnTo>
                <a:lnTo>
                  <a:pt x="1565329" y="113335"/>
                </a:lnTo>
                <a:lnTo>
                  <a:pt x="1609369" y="136517"/>
                </a:lnTo>
                <a:lnTo>
                  <a:pt x="1652351" y="161731"/>
                </a:lnTo>
                <a:lnTo>
                  <a:pt x="1694201" y="188946"/>
                </a:lnTo>
                <a:lnTo>
                  <a:pt x="1734844" y="218131"/>
                </a:lnTo>
                <a:lnTo>
                  <a:pt x="1774207" y="249256"/>
                </a:lnTo>
                <a:lnTo>
                  <a:pt x="1812216" y="282290"/>
                </a:lnTo>
                <a:lnTo>
                  <a:pt x="1848796" y="317203"/>
                </a:lnTo>
                <a:lnTo>
                  <a:pt x="1883709" y="353783"/>
                </a:lnTo>
                <a:lnTo>
                  <a:pt x="1916743" y="391792"/>
                </a:lnTo>
                <a:lnTo>
                  <a:pt x="1947868" y="431155"/>
                </a:lnTo>
                <a:lnTo>
                  <a:pt x="1977053" y="471798"/>
                </a:lnTo>
                <a:lnTo>
                  <a:pt x="2004268" y="513648"/>
                </a:lnTo>
                <a:lnTo>
                  <a:pt x="2029482" y="556630"/>
                </a:lnTo>
                <a:lnTo>
                  <a:pt x="2052664" y="600670"/>
                </a:lnTo>
                <a:lnTo>
                  <a:pt x="2073784" y="645695"/>
                </a:lnTo>
                <a:lnTo>
                  <a:pt x="2092811" y="691630"/>
                </a:lnTo>
                <a:lnTo>
                  <a:pt x="2109714" y="738401"/>
                </a:lnTo>
                <a:lnTo>
                  <a:pt x="2124463" y="785935"/>
                </a:lnTo>
                <a:lnTo>
                  <a:pt x="2137027" y="834157"/>
                </a:lnTo>
                <a:lnTo>
                  <a:pt x="2147376" y="882993"/>
                </a:lnTo>
                <a:lnTo>
                  <a:pt x="2155478" y="932369"/>
                </a:lnTo>
                <a:lnTo>
                  <a:pt x="2161303" y="982212"/>
                </a:lnTo>
                <a:lnTo>
                  <a:pt x="2164820" y="1032446"/>
                </a:lnTo>
                <a:lnTo>
                  <a:pt x="2166000" y="1082999"/>
                </a:lnTo>
                <a:lnTo>
                  <a:pt x="2164945" y="1131241"/>
                </a:lnTo>
                <a:lnTo>
                  <a:pt x="2161808" y="1178941"/>
                </a:lnTo>
                <a:lnTo>
                  <a:pt x="2156635" y="1226058"/>
                </a:lnTo>
                <a:lnTo>
                  <a:pt x="2149469" y="1272546"/>
                </a:lnTo>
                <a:lnTo>
                  <a:pt x="2140353" y="1318361"/>
                </a:lnTo>
                <a:lnTo>
                  <a:pt x="2129333" y="1363460"/>
                </a:lnTo>
                <a:lnTo>
                  <a:pt x="2116451" y="1407799"/>
                </a:lnTo>
                <a:lnTo>
                  <a:pt x="2101753" y="1451333"/>
                </a:lnTo>
                <a:lnTo>
                  <a:pt x="2085282" y="1494018"/>
                </a:lnTo>
                <a:lnTo>
                  <a:pt x="2067082" y="1535811"/>
                </a:lnTo>
                <a:lnTo>
                  <a:pt x="2047197" y="1576668"/>
                </a:lnTo>
                <a:lnTo>
                  <a:pt x="2025671" y="1616544"/>
                </a:lnTo>
                <a:lnTo>
                  <a:pt x="2002548" y="1655395"/>
                </a:lnTo>
                <a:lnTo>
                  <a:pt x="1977872" y="1693178"/>
                </a:lnTo>
                <a:lnTo>
                  <a:pt x="1951688" y="1729848"/>
                </a:lnTo>
                <a:lnTo>
                  <a:pt x="1924039" y="1765362"/>
                </a:lnTo>
                <a:lnTo>
                  <a:pt x="1894969" y="1799674"/>
                </a:lnTo>
                <a:lnTo>
                  <a:pt x="1864522" y="1832743"/>
                </a:lnTo>
                <a:lnTo>
                  <a:pt x="1832743" y="1864522"/>
                </a:lnTo>
                <a:lnTo>
                  <a:pt x="1799675" y="1894969"/>
                </a:lnTo>
                <a:lnTo>
                  <a:pt x="1765362" y="1924039"/>
                </a:lnTo>
                <a:lnTo>
                  <a:pt x="1729848" y="1951688"/>
                </a:lnTo>
                <a:lnTo>
                  <a:pt x="1693178" y="1977872"/>
                </a:lnTo>
                <a:lnTo>
                  <a:pt x="1655395" y="2002548"/>
                </a:lnTo>
                <a:lnTo>
                  <a:pt x="1616544" y="2025670"/>
                </a:lnTo>
                <a:lnTo>
                  <a:pt x="1576668" y="2047196"/>
                </a:lnTo>
                <a:lnTo>
                  <a:pt x="1535811" y="2067081"/>
                </a:lnTo>
                <a:lnTo>
                  <a:pt x="1494018" y="2085281"/>
                </a:lnTo>
                <a:lnTo>
                  <a:pt x="1451333" y="2101753"/>
                </a:lnTo>
                <a:lnTo>
                  <a:pt x="1407799" y="2116451"/>
                </a:lnTo>
                <a:lnTo>
                  <a:pt x="1363460" y="2129332"/>
                </a:lnTo>
                <a:lnTo>
                  <a:pt x="1318361" y="2140353"/>
                </a:lnTo>
                <a:lnTo>
                  <a:pt x="1272546" y="2149468"/>
                </a:lnTo>
                <a:lnTo>
                  <a:pt x="1226058" y="2156634"/>
                </a:lnTo>
                <a:lnTo>
                  <a:pt x="1178941" y="2161808"/>
                </a:lnTo>
                <a:lnTo>
                  <a:pt x="1131241" y="2164944"/>
                </a:lnTo>
                <a:lnTo>
                  <a:pt x="1083000" y="2165999"/>
                </a:lnTo>
                <a:close/>
              </a:path>
            </a:pathLst>
          </a:custGeom>
          <a:solidFill>
            <a:srgbClr val="0D5DDE"/>
          </a:solidFill>
        </p:spPr>
        <p:txBody>
          <a:bodyPr wrap="square" lIns="0" tIns="0" rIns="0" bIns="0" rtlCol="0"/>
          <a:lstStyle/>
          <a:p>
            <a:endParaRPr/>
          </a:p>
        </p:txBody>
      </p:sp>
      <p:sp>
        <p:nvSpPr>
          <p:cNvPr id="11" name="object 11"/>
          <p:cNvSpPr txBox="1"/>
          <p:nvPr/>
        </p:nvSpPr>
        <p:spPr>
          <a:xfrm>
            <a:off x="8834269" y="4077731"/>
            <a:ext cx="1644227" cy="217153"/>
          </a:xfrm>
          <a:prstGeom prst="rect">
            <a:avLst/>
          </a:prstGeom>
        </p:spPr>
        <p:txBody>
          <a:bodyPr vert="horz" wrap="square" lIns="0" tIns="16933" rIns="0" bIns="0" rtlCol="0">
            <a:spAutoFit/>
          </a:bodyPr>
          <a:lstStyle/>
          <a:p>
            <a:pPr marL="16933">
              <a:spcBef>
                <a:spcPts val="133"/>
              </a:spcBef>
            </a:pPr>
            <a:r>
              <a:rPr sz="1300" spc="-20" dirty="0">
                <a:solidFill>
                  <a:srgbClr val="FFFFFF"/>
                </a:solidFill>
                <a:latin typeface="Roboto"/>
                <a:cs typeface="Roboto"/>
              </a:rPr>
              <a:t>Developer</a:t>
            </a:r>
            <a:r>
              <a:rPr sz="1300" spc="-33" dirty="0">
                <a:solidFill>
                  <a:srgbClr val="FFFFFF"/>
                </a:solidFill>
                <a:latin typeface="Roboto"/>
                <a:cs typeface="Roboto"/>
              </a:rPr>
              <a:t> </a:t>
            </a:r>
            <a:r>
              <a:rPr sz="1300" spc="-20" dirty="0">
                <a:solidFill>
                  <a:srgbClr val="FFFFFF"/>
                </a:solidFill>
                <a:latin typeface="Roboto"/>
                <a:cs typeface="Roboto"/>
              </a:rPr>
              <a:t>Operations</a:t>
            </a:r>
            <a:endParaRPr sz="1300">
              <a:latin typeface="Roboto"/>
              <a:cs typeface="Roboto"/>
            </a:endParaRPr>
          </a:p>
        </p:txBody>
      </p:sp>
      <p:sp>
        <p:nvSpPr>
          <p:cNvPr id="12" name="object 12"/>
          <p:cNvSpPr/>
          <p:nvPr/>
        </p:nvSpPr>
        <p:spPr>
          <a:xfrm>
            <a:off x="5196900" y="2665285"/>
            <a:ext cx="2888827" cy="2888827"/>
          </a:xfrm>
          <a:custGeom>
            <a:avLst/>
            <a:gdLst/>
            <a:ahLst/>
            <a:cxnLst/>
            <a:rect l="l" t="t" r="r" b="b"/>
            <a:pathLst>
              <a:path w="2166620" h="2166620">
                <a:moveTo>
                  <a:pt x="1082999" y="2165999"/>
                </a:moveTo>
                <a:lnTo>
                  <a:pt x="1034758" y="2164944"/>
                </a:lnTo>
                <a:lnTo>
                  <a:pt x="987058" y="2161808"/>
                </a:lnTo>
                <a:lnTo>
                  <a:pt x="939941" y="2156635"/>
                </a:lnTo>
                <a:lnTo>
                  <a:pt x="893454" y="2149468"/>
                </a:lnTo>
                <a:lnTo>
                  <a:pt x="847638" y="2140353"/>
                </a:lnTo>
                <a:lnTo>
                  <a:pt x="802539" y="2129333"/>
                </a:lnTo>
                <a:lnTo>
                  <a:pt x="758200" y="2116451"/>
                </a:lnTo>
                <a:lnTo>
                  <a:pt x="714666" y="2101753"/>
                </a:lnTo>
                <a:lnTo>
                  <a:pt x="671981" y="2085282"/>
                </a:lnTo>
                <a:lnTo>
                  <a:pt x="630188" y="2067082"/>
                </a:lnTo>
                <a:lnTo>
                  <a:pt x="589331" y="2047196"/>
                </a:lnTo>
                <a:lnTo>
                  <a:pt x="549455" y="2025671"/>
                </a:lnTo>
                <a:lnTo>
                  <a:pt x="510604" y="2002548"/>
                </a:lnTo>
                <a:lnTo>
                  <a:pt x="472821" y="1977872"/>
                </a:lnTo>
                <a:lnTo>
                  <a:pt x="436151" y="1951688"/>
                </a:lnTo>
                <a:lnTo>
                  <a:pt x="400637" y="1924039"/>
                </a:lnTo>
                <a:lnTo>
                  <a:pt x="366325" y="1894969"/>
                </a:lnTo>
                <a:lnTo>
                  <a:pt x="333256" y="1864522"/>
                </a:lnTo>
                <a:lnTo>
                  <a:pt x="301477" y="1832743"/>
                </a:lnTo>
                <a:lnTo>
                  <a:pt x="271030" y="1799674"/>
                </a:lnTo>
                <a:lnTo>
                  <a:pt x="241960" y="1765362"/>
                </a:lnTo>
                <a:lnTo>
                  <a:pt x="214311" y="1729848"/>
                </a:lnTo>
                <a:lnTo>
                  <a:pt x="188127" y="1693178"/>
                </a:lnTo>
                <a:lnTo>
                  <a:pt x="163451" y="1655395"/>
                </a:lnTo>
                <a:lnTo>
                  <a:pt x="140328" y="1616544"/>
                </a:lnTo>
                <a:lnTo>
                  <a:pt x="118803" y="1576668"/>
                </a:lnTo>
                <a:lnTo>
                  <a:pt x="98918" y="1535811"/>
                </a:lnTo>
                <a:lnTo>
                  <a:pt x="80717" y="1494018"/>
                </a:lnTo>
                <a:lnTo>
                  <a:pt x="64246" y="1451333"/>
                </a:lnTo>
                <a:lnTo>
                  <a:pt x="49548" y="1407799"/>
                </a:lnTo>
                <a:lnTo>
                  <a:pt x="36666" y="1363460"/>
                </a:lnTo>
                <a:lnTo>
                  <a:pt x="25646" y="1318361"/>
                </a:lnTo>
                <a:lnTo>
                  <a:pt x="16531" y="1272546"/>
                </a:lnTo>
                <a:lnTo>
                  <a:pt x="9364" y="1226058"/>
                </a:lnTo>
                <a:lnTo>
                  <a:pt x="4191" y="1178941"/>
                </a:lnTo>
                <a:lnTo>
                  <a:pt x="1055" y="1131241"/>
                </a:lnTo>
                <a:lnTo>
                  <a:pt x="0" y="1082999"/>
                </a:lnTo>
                <a:lnTo>
                  <a:pt x="1055" y="1034758"/>
                </a:lnTo>
                <a:lnTo>
                  <a:pt x="4191" y="987058"/>
                </a:lnTo>
                <a:lnTo>
                  <a:pt x="9364" y="939941"/>
                </a:lnTo>
                <a:lnTo>
                  <a:pt x="16531" y="893453"/>
                </a:lnTo>
                <a:lnTo>
                  <a:pt x="25646" y="847638"/>
                </a:lnTo>
                <a:lnTo>
                  <a:pt x="36666" y="802539"/>
                </a:lnTo>
                <a:lnTo>
                  <a:pt x="49548" y="758200"/>
                </a:lnTo>
                <a:lnTo>
                  <a:pt x="64246" y="714666"/>
                </a:lnTo>
                <a:lnTo>
                  <a:pt x="80717" y="671981"/>
                </a:lnTo>
                <a:lnTo>
                  <a:pt x="98918" y="630188"/>
                </a:lnTo>
                <a:lnTo>
                  <a:pt x="118803" y="589331"/>
                </a:lnTo>
                <a:lnTo>
                  <a:pt x="140328" y="549455"/>
                </a:lnTo>
                <a:lnTo>
                  <a:pt x="163451" y="510604"/>
                </a:lnTo>
                <a:lnTo>
                  <a:pt x="188127" y="472821"/>
                </a:lnTo>
                <a:lnTo>
                  <a:pt x="214311" y="436151"/>
                </a:lnTo>
                <a:lnTo>
                  <a:pt x="241960" y="400637"/>
                </a:lnTo>
                <a:lnTo>
                  <a:pt x="271030" y="366324"/>
                </a:lnTo>
                <a:lnTo>
                  <a:pt x="301477" y="333256"/>
                </a:lnTo>
                <a:lnTo>
                  <a:pt x="333256" y="301477"/>
                </a:lnTo>
                <a:lnTo>
                  <a:pt x="366325" y="271030"/>
                </a:lnTo>
                <a:lnTo>
                  <a:pt x="400637" y="241960"/>
                </a:lnTo>
                <a:lnTo>
                  <a:pt x="436151" y="214311"/>
                </a:lnTo>
                <a:lnTo>
                  <a:pt x="472821" y="188127"/>
                </a:lnTo>
                <a:lnTo>
                  <a:pt x="510604" y="163451"/>
                </a:lnTo>
                <a:lnTo>
                  <a:pt x="549455" y="140328"/>
                </a:lnTo>
                <a:lnTo>
                  <a:pt x="589331" y="118802"/>
                </a:lnTo>
                <a:lnTo>
                  <a:pt x="630188" y="98917"/>
                </a:lnTo>
                <a:lnTo>
                  <a:pt x="671981" y="80717"/>
                </a:lnTo>
                <a:lnTo>
                  <a:pt x="714666" y="64246"/>
                </a:lnTo>
                <a:lnTo>
                  <a:pt x="758200" y="49548"/>
                </a:lnTo>
                <a:lnTo>
                  <a:pt x="802539" y="36666"/>
                </a:lnTo>
                <a:lnTo>
                  <a:pt x="847638" y="25646"/>
                </a:lnTo>
                <a:lnTo>
                  <a:pt x="893454" y="16531"/>
                </a:lnTo>
                <a:lnTo>
                  <a:pt x="939941" y="9364"/>
                </a:lnTo>
                <a:lnTo>
                  <a:pt x="987058" y="4191"/>
                </a:lnTo>
                <a:lnTo>
                  <a:pt x="1034758" y="1055"/>
                </a:lnTo>
                <a:lnTo>
                  <a:pt x="1082999" y="0"/>
                </a:lnTo>
                <a:lnTo>
                  <a:pt x="1133553" y="1179"/>
                </a:lnTo>
                <a:lnTo>
                  <a:pt x="1183788" y="4696"/>
                </a:lnTo>
                <a:lnTo>
                  <a:pt x="1233630" y="10522"/>
                </a:lnTo>
                <a:lnTo>
                  <a:pt x="1283007" y="18624"/>
                </a:lnTo>
                <a:lnTo>
                  <a:pt x="1331843" y="28972"/>
                </a:lnTo>
                <a:lnTo>
                  <a:pt x="1380064" y="41536"/>
                </a:lnTo>
                <a:lnTo>
                  <a:pt x="1427598" y="56285"/>
                </a:lnTo>
                <a:lnTo>
                  <a:pt x="1474369" y="73188"/>
                </a:lnTo>
                <a:lnTo>
                  <a:pt x="1520304" y="92215"/>
                </a:lnTo>
                <a:lnTo>
                  <a:pt x="1565329" y="113335"/>
                </a:lnTo>
                <a:lnTo>
                  <a:pt x="1609369" y="136517"/>
                </a:lnTo>
                <a:lnTo>
                  <a:pt x="1652351" y="161731"/>
                </a:lnTo>
                <a:lnTo>
                  <a:pt x="1694201" y="188946"/>
                </a:lnTo>
                <a:lnTo>
                  <a:pt x="1734844" y="218131"/>
                </a:lnTo>
                <a:lnTo>
                  <a:pt x="1774207" y="249256"/>
                </a:lnTo>
                <a:lnTo>
                  <a:pt x="1812216" y="282290"/>
                </a:lnTo>
                <a:lnTo>
                  <a:pt x="1848796" y="317203"/>
                </a:lnTo>
                <a:lnTo>
                  <a:pt x="1883709" y="353783"/>
                </a:lnTo>
                <a:lnTo>
                  <a:pt x="1916743" y="391792"/>
                </a:lnTo>
                <a:lnTo>
                  <a:pt x="1947868" y="431155"/>
                </a:lnTo>
                <a:lnTo>
                  <a:pt x="1977053" y="471798"/>
                </a:lnTo>
                <a:lnTo>
                  <a:pt x="2004268" y="513648"/>
                </a:lnTo>
                <a:lnTo>
                  <a:pt x="2029482" y="556630"/>
                </a:lnTo>
                <a:lnTo>
                  <a:pt x="2052664" y="600670"/>
                </a:lnTo>
                <a:lnTo>
                  <a:pt x="2073784" y="645695"/>
                </a:lnTo>
                <a:lnTo>
                  <a:pt x="2092811" y="691630"/>
                </a:lnTo>
                <a:lnTo>
                  <a:pt x="2109714" y="738401"/>
                </a:lnTo>
                <a:lnTo>
                  <a:pt x="2124463" y="785935"/>
                </a:lnTo>
                <a:lnTo>
                  <a:pt x="2137027" y="834157"/>
                </a:lnTo>
                <a:lnTo>
                  <a:pt x="2147375" y="882993"/>
                </a:lnTo>
                <a:lnTo>
                  <a:pt x="2155477" y="932369"/>
                </a:lnTo>
                <a:lnTo>
                  <a:pt x="2161303" y="982212"/>
                </a:lnTo>
                <a:lnTo>
                  <a:pt x="2164820" y="1032446"/>
                </a:lnTo>
                <a:lnTo>
                  <a:pt x="2165999" y="1082999"/>
                </a:lnTo>
                <a:lnTo>
                  <a:pt x="2164944" y="1131241"/>
                </a:lnTo>
                <a:lnTo>
                  <a:pt x="2161808" y="1178941"/>
                </a:lnTo>
                <a:lnTo>
                  <a:pt x="2156635" y="1226058"/>
                </a:lnTo>
                <a:lnTo>
                  <a:pt x="2149468" y="1272546"/>
                </a:lnTo>
                <a:lnTo>
                  <a:pt x="2140353" y="1318361"/>
                </a:lnTo>
                <a:lnTo>
                  <a:pt x="2129333" y="1363460"/>
                </a:lnTo>
                <a:lnTo>
                  <a:pt x="2116451" y="1407799"/>
                </a:lnTo>
                <a:lnTo>
                  <a:pt x="2101753" y="1451333"/>
                </a:lnTo>
                <a:lnTo>
                  <a:pt x="2085282" y="1494018"/>
                </a:lnTo>
                <a:lnTo>
                  <a:pt x="2067082" y="1535811"/>
                </a:lnTo>
                <a:lnTo>
                  <a:pt x="2047197" y="1576668"/>
                </a:lnTo>
                <a:lnTo>
                  <a:pt x="2025671" y="1616544"/>
                </a:lnTo>
                <a:lnTo>
                  <a:pt x="2002548" y="1655395"/>
                </a:lnTo>
                <a:lnTo>
                  <a:pt x="1977872" y="1693178"/>
                </a:lnTo>
                <a:lnTo>
                  <a:pt x="1951688" y="1729848"/>
                </a:lnTo>
                <a:lnTo>
                  <a:pt x="1924039" y="1765362"/>
                </a:lnTo>
                <a:lnTo>
                  <a:pt x="1894969" y="1799674"/>
                </a:lnTo>
                <a:lnTo>
                  <a:pt x="1864522" y="1832743"/>
                </a:lnTo>
                <a:lnTo>
                  <a:pt x="1832743" y="1864522"/>
                </a:lnTo>
                <a:lnTo>
                  <a:pt x="1799675" y="1894969"/>
                </a:lnTo>
                <a:lnTo>
                  <a:pt x="1765362" y="1924039"/>
                </a:lnTo>
                <a:lnTo>
                  <a:pt x="1729848" y="1951688"/>
                </a:lnTo>
                <a:lnTo>
                  <a:pt x="1693178" y="1977872"/>
                </a:lnTo>
                <a:lnTo>
                  <a:pt x="1655395" y="2002548"/>
                </a:lnTo>
                <a:lnTo>
                  <a:pt x="1616544" y="2025671"/>
                </a:lnTo>
                <a:lnTo>
                  <a:pt x="1576668" y="2047196"/>
                </a:lnTo>
                <a:lnTo>
                  <a:pt x="1535812" y="2067082"/>
                </a:lnTo>
                <a:lnTo>
                  <a:pt x="1494018" y="2085282"/>
                </a:lnTo>
                <a:lnTo>
                  <a:pt x="1451333" y="2101753"/>
                </a:lnTo>
                <a:lnTo>
                  <a:pt x="1407799" y="2116451"/>
                </a:lnTo>
                <a:lnTo>
                  <a:pt x="1363460" y="2129333"/>
                </a:lnTo>
                <a:lnTo>
                  <a:pt x="1318361" y="2140353"/>
                </a:lnTo>
                <a:lnTo>
                  <a:pt x="1272546" y="2149468"/>
                </a:lnTo>
                <a:lnTo>
                  <a:pt x="1226058" y="2156635"/>
                </a:lnTo>
                <a:lnTo>
                  <a:pt x="1178941" y="2161808"/>
                </a:lnTo>
                <a:lnTo>
                  <a:pt x="1131241" y="2164944"/>
                </a:lnTo>
                <a:lnTo>
                  <a:pt x="1082999" y="2165999"/>
                </a:lnTo>
                <a:close/>
              </a:path>
            </a:pathLst>
          </a:custGeom>
          <a:solidFill>
            <a:srgbClr val="0944A1"/>
          </a:solidFill>
        </p:spPr>
        <p:txBody>
          <a:bodyPr wrap="square" lIns="0" tIns="0" rIns="0" bIns="0" rtlCol="0"/>
          <a:lstStyle/>
          <a:p>
            <a:endParaRPr/>
          </a:p>
        </p:txBody>
      </p:sp>
      <p:sp>
        <p:nvSpPr>
          <p:cNvPr id="13" name="object 13"/>
          <p:cNvSpPr txBox="1"/>
          <p:nvPr/>
        </p:nvSpPr>
        <p:spPr>
          <a:xfrm>
            <a:off x="5710240" y="4077731"/>
            <a:ext cx="1374987" cy="217153"/>
          </a:xfrm>
          <a:prstGeom prst="rect">
            <a:avLst/>
          </a:prstGeom>
        </p:spPr>
        <p:txBody>
          <a:bodyPr vert="horz" wrap="square" lIns="0" tIns="16933" rIns="0" bIns="0" rtlCol="0">
            <a:spAutoFit/>
          </a:bodyPr>
          <a:lstStyle/>
          <a:p>
            <a:pPr marL="16933">
              <a:spcBef>
                <a:spcPts val="133"/>
              </a:spcBef>
            </a:pPr>
            <a:r>
              <a:rPr sz="1300" spc="-20" dirty="0">
                <a:solidFill>
                  <a:srgbClr val="FFFFFF"/>
                </a:solidFill>
                <a:latin typeface="Roboto"/>
                <a:cs typeface="Roboto"/>
              </a:rPr>
              <a:t>Machin</a:t>
            </a:r>
            <a:r>
              <a:rPr sz="1300" spc="-13" dirty="0">
                <a:solidFill>
                  <a:srgbClr val="FFFFFF"/>
                </a:solidFill>
                <a:latin typeface="Roboto"/>
                <a:cs typeface="Roboto"/>
              </a:rPr>
              <a:t>e</a:t>
            </a:r>
            <a:r>
              <a:rPr sz="1300" spc="-7" dirty="0">
                <a:solidFill>
                  <a:srgbClr val="FFFFFF"/>
                </a:solidFill>
                <a:latin typeface="Roboto"/>
                <a:cs typeface="Roboto"/>
              </a:rPr>
              <a:t> </a:t>
            </a:r>
            <a:r>
              <a:rPr sz="1300" spc="-20" dirty="0">
                <a:solidFill>
                  <a:srgbClr val="FFFFFF"/>
                </a:solidFill>
                <a:latin typeface="Roboto"/>
                <a:cs typeface="Roboto"/>
              </a:rPr>
              <a:t>Learning</a:t>
            </a:r>
            <a:endParaRPr sz="1300">
              <a:latin typeface="Roboto"/>
              <a:cs typeface="Roboto"/>
            </a:endParaRPr>
          </a:p>
        </p:txBody>
      </p:sp>
      <p:sp>
        <p:nvSpPr>
          <p:cNvPr id="14" name="object 14"/>
          <p:cNvSpPr/>
          <p:nvPr/>
        </p:nvSpPr>
        <p:spPr>
          <a:xfrm>
            <a:off x="7378239" y="2611788"/>
            <a:ext cx="1634913" cy="1634913"/>
          </a:xfrm>
          <a:custGeom>
            <a:avLst/>
            <a:gdLst/>
            <a:ahLst/>
            <a:cxnLst/>
            <a:rect l="l" t="t" r="r" b="b"/>
            <a:pathLst>
              <a:path w="1226184" h="1226185">
                <a:moveTo>
                  <a:pt x="612899" y="1225799"/>
                </a:moveTo>
                <a:lnTo>
                  <a:pt x="565002" y="1223956"/>
                </a:lnTo>
                <a:lnTo>
                  <a:pt x="518112" y="1218514"/>
                </a:lnTo>
                <a:lnTo>
                  <a:pt x="472367" y="1209612"/>
                </a:lnTo>
                <a:lnTo>
                  <a:pt x="427903" y="1197386"/>
                </a:lnTo>
                <a:lnTo>
                  <a:pt x="384856" y="1181971"/>
                </a:lnTo>
                <a:lnTo>
                  <a:pt x="343362" y="1163504"/>
                </a:lnTo>
                <a:lnTo>
                  <a:pt x="303557" y="1142121"/>
                </a:lnTo>
                <a:lnTo>
                  <a:pt x="265578" y="1117958"/>
                </a:lnTo>
                <a:lnTo>
                  <a:pt x="229562" y="1091152"/>
                </a:lnTo>
                <a:lnTo>
                  <a:pt x="195644" y="1061839"/>
                </a:lnTo>
                <a:lnTo>
                  <a:pt x="163960" y="1030156"/>
                </a:lnTo>
                <a:lnTo>
                  <a:pt x="134647" y="996237"/>
                </a:lnTo>
                <a:lnTo>
                  <a:pt x="107841" y="960221"/>
                </a:lnTo>
                <a:lnTo>
                  <a:pt x="83678" y="922242"/>
                </a:lnTo>
                <a:lnTo>
                  <a:pt x="62295" y="882437"/>
                </a:lnTo>
                <a:lnTo>
                  <a:pt x="43828" y="840943"/>
                </a:lnTo>
                <a:lnTo>
                  <a:pt x="28413" y="797896"/>
                </a:lnTo>
                <a:lnTo>
                  <a:pt x="16187" y="753432"/>
                </a:lnTo>
                <a:lnTo>
                  <a:pt x="7285" y="707687"/>
                </a:lnTo>
                <a:lnTo>
                  <a:pt x="1843" y="660797"/>
                </a:lnTo>
                <a:lnTo>
                  <a:pt x="0" y="612899"/>
                </a:lnTo>
                <a:lnTo>
                  <a:pt x="1843" y="565002"/>
                </a:lnTo>
                <a:lnTo>
                  <a:pt x="7285" y="518112"/>
                </a:lnTo>
                <a:lnTo>
                  <a:pt x="16187" y="472367"/>
                </a:lnTo>
                <a:lnTo>
                  <a:pt x="28413" y="427903"/>
                </a:lnTo>
                <a:lnTo>
                  <a:pt x="43828" y="384856"/>
                </a:lnTo>
                <a:lnTo>
                  <a:pt x="62295" y="343362"/>
                </a:lnTo>
                <a:lnTo>
                  <a:pt x="83678" y="303557"/>
                </a:lnTo>
                <a:lnTo>
                  <a:pt x="107841" y="265578"/>
                </a:lnTo>
                <a:lnTo>
                  <a:pt x="134647" y="229562"/>
                </a:lnTo>
                <a:lnTo>
                  <a:pt x="163960" y="195643"/>
                </a:lnTo>
                <a:lnTo>
                  <a:pt x="195644" y="163960"/>
                </a:lnTo>
                <a:lnTo>
                  <a:pt x="229562" y="134647"/>
                </a:lnTo>
                <a:lnTo>
                  <a:pt x="265578" y="107841"/>
                </a:lnTo>
                <a:lnTo>
                  <a:pt x="303557" y="83678"/>
                </a:lnTo>
                <a:lnTo>
                  <a:pt x="343362" y="62295"/>
                </a:lnTo>
                <a:lnTo>
                  <a:pt x="384856" y="43828"/>
                </a:lnTo>
                <a:lnTo>
                  <a:pt x="427903" y="28413"/>
                </a:lnTo>
                <a:lnTo>
                  <a:pt x="472367" y="16187"/>
                </a:lnTo>
                <a:lnTo>
                  <a:pt x="518112" y="7285"/>
                </a:lnTo>
                <a:lnTo>
                  <a:pt x="565002" y="1843"/>
                </a:lnTo>
                <a:lnTo>
                  <a:pt x="612899" y="0"/>
                </a:lnTo>
                <a:lnTo>
                  <a:pt x="661431" y="1922"/>
                </a:lnTo>
                <a:lnTo>
                  <a:pt x="709357" y="7635"/>
                </a:lnTo>
                <a:lnTo>
                  <a:pt x="756472" y="17051"/>
                </a:lnTo>
                <a:lnTo>
                  <a:pt x="802571" y="30086"/>
                </a:lnTo>
                <a:lnTo>
                  <a:pt x="847446" y="46654"/>
                </a:lnTo>
                <a:lnTo>
                  <a:pt x="890894" y="66670"/>
                </a:lnTo>
                <a:lnTo>
                  <a:pt x="932707" y="90050"/>
                </a:lnTo>
                <a:lnTo>
                  <a:pt x="972681" y="116707"/>
                </a:lnTo>
                <a:lnTo>
                  <a:pt x="1010609" y="146557"/>
                </a:lnTo>
                <a:lnTo>
                  <a:pt x="1046285" y="179514"/>
                </a:lnTo>
                <a:lnTo>
                  <a:pt x="1079242" y="215190"/>
                </a:lnTo>
                <a:lnTo>
                  <a:pt x="1109092" y="253118"/>
                </a:lnTo>
                <a:lnTo>
                  <a:pt x="1135750" y="293092"/>
                </a:lnTo>
                <a:lnTo>
                  <a:pt x="1159129" y="334905"/>
                </a:lnTo>
                <a:lnTo>
                  <a:pt x="1179146" y="378353"/>
                </a:lnTo>
                <a:lnTo>
                  <a:pt x="1195714" y="423229"/>
                </a:lnTo>
                <a:lnTo>
                  <a:pt x="1208749" y="469327"/>
                </a:lnTo>
                <a:lnTo>
                  <a:pt x="1218165" y="516442"/>
                </a:lnTo>
                <a:lnTo>
                  <a:pt x="1223877" y="564368"/>
                </a:lnTo>
                <a:lnTo>
                  <a:pt x="1225800" y="612899"/>
                </a:lnTo>
                <a:lnTo>
                  <a:pt x="1223956" y="660797"/>
                </a:lnTo>
                <a:lnTo>
                  <a:pt x="1218515" y="707687"/>
                </a:lnTo>
                <a:lnTo>
                  <a:pt x="1209613" y="753432"/>
                </a:lnTo>
                <a:lnTo>
                  <a:pt x="1197386" y="797896"/>
                </a:lnTo>
                <a:lnTo>
                  <a:pt x="1181971" y="840943"/>
                </a:lnTo>
                <a:lnTo>
                  <a:pt x="1163504" y="882437"/>
                </a:lnTo>
                <a:lnTo>
                  <a:pt x="1142121" y="922242"/>
                </a:lnTo>
                <a:lnTo>
                  <a:pt x="1117958" y="960221"/>
                </a:lnTo>
                <a:lnTo>
                  <a:pt x="1091153" y="996237"/>
                </a:lnTo>
                <a:lnTo>
                  <a:pt x="1061840" y="1030156"/>
                </a:lnTo>
                <a:lnTo>
                  <a:pt x="1030156" y="1061839"/>
                </a:lnTo>
                <a:lnTo>
                  <a:pt x="996237" y="1091152"/>
                </a:lnTo>
                <a:lnTo>
                  <a:pt x="960221" y="1117958"/>
                </a:lnTo>
                <a:lnTo>
                  <a:pt x="922242" y="1142121"/>
                </a:lnTo>
                <a:lnTo>
                  <a:pt x="882438" y="1163504"/>
                </a:lnTo>
                <a:lnTo>
                  <a:pt x="840944" y="1181971"/>
                </a:lnTo>
                <a:lnTo>
                  <a:pt x="797896" y="1197386"/>
                </a:lnTo>
                <a:lnTo>
                  <a:pt x="753432" y="1209612"/>
                </a:lnTo>
                <a:lnTo>
                  <a:pt x="707687" y="1218514"/>
                </a:lnTo>
                <a:lnTo>
                  <a:pt x="660797" y="1223956"/>
                </a:lnTo>
                <a:lnTo>
                  <a:pt x="612899" y="1225799"/>
                </a:lnTo>
                <a:close/>
              </a:path>
            </a:pathLst>
          </a:custGeom>
          <a:solidFill>
            <a:srgbClr val="A1C3FA"/>
          </a:solidFill>
        </p:spPr>
        <p:txBody>
          <a:bodyPr wrap="square" lIns="0" tIns="0" rIns="0" bIns="0" rtlCol="0"/>
          <a:lstStyle/>
          <a:p>
            <a:endParaRPr/>
          </a:p>
        </p:txBody>
      </p:sp>
      <p:sp>
        <p:nvSpPr>
          <p:cNvPr id="15" name="object 15"/>
          <p:cNvSpPr txBox="1"/>
          <p:nvPr/>
        </p:nvSpPr>
        <p:spPr>
          <a:xfrm>
            <a:off x="7714958" y="3262871"/>
            <a:ext cx="877147" cy="601874"/>
          </a:xfrm>
          <a:prstGeom prst="rect">
            <a:avLst/>
          </a:prstGeom>
        </p:spPr>
        <p:txBody>
          <a:bodyPr vert="horz" wrap="square" lIns="0" tIns="16933" rIns="0" bIns="0" rtlCol="0">
            <a:spAutoFit/>
          </a:bodyPr>
          <a:lstStyle/>
          <a:p>
            <a:pPr marL="16933">
              <a:spcBef>
                <a:spcPts val="133"/>
              </a:spcBef>
            </a:pPr>
            <a:r>
              <a:rPr sz="1900" dirty="0">
                <a:latin typeface="Arial MT"/>
                <a:cs typeface="Arial MT"/>
              </a:rPr>
              <a:t>ML-Ops</a:t>
            </a:r>
            <a:endParaRPr sz="1900">
              <a:latin typeface="Arial MT"/>
              <a:cs typeface="Arial MT"/>
            </a:endParaRPr>
          </a:p>
        </p:txBody>
      </p:sp>
    </p:spTree>
    <p:extLst>
      <p:ext uri="{BB962C8B-B14F-4D97-AF65-F5344CB8AC3E}">
        <p14:creationId xmlns:p14="http://schemas.microsoft.com/office/powerpoint/2010/main" val="22588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9667" y="2718139"/>
            <a:ext cx="10753512" cy="846667"/>
          </a:xfrm>
          <a:prstGeom prst="rect">
            <a:avLst/>
          </a:prstGeom>
        </p:spPr>
        <p:txBody>
          <a:bodyPr vert="horz" wrap="square" lIns="0" tIns="16933" rIns="0" bIns="0" rtlCol="0">
            <a:spAutoFit/>
          </a:bodyPr>
          <a:lstStyle/>
          <a:p>
            <a:pPr marL="491054" marR="6773" indent="-474121">
              <a:lnSpc>
                <a:spcPct val="111100"/>
              </a:lnSpc>
              <a:spcBef>
                <a:spcPts val="133"/>
              </a:spcBef>
            </a:pPr>
            <a:r>
              <a:rPr sz="2400" b="1" dirty="0">
                <a:solidFill>
                  <a:srgbClr val="595959"/>
                </a:solidFill>
                <a:latin typeface="Arial"/>
                <a:cs typeface="Arial"/>
              </a:rPr>
              <a:t>The</a:t>
            </a:r>
            <a:r>
              <a:rPr sz="2400" b="1" spc="-33" dirty="0">
                <a:solidFill>
                  <a:srgbClr val="595959"/>
                </a:solidFill>
                <a:latin typeface="Arial"/>
                <a:cs typeface="Arial"/>
              </a:rPr>
              <a:t> </a:t>
            </a:r>
            <a:r>
              <a:rPr sz="2400" b="1" dirty="0">
                <a:solidFill>
                  <a:srgbClr val="595959"/>
                </a:solidFill>
                <a:latin typeface="Arial"/>
                <a:cs typeface="Arial"/>
              </a:rPr>
              <a:t>goal</a:t>
            </a:r>
            <a:r>
              <a:rPr sz="2400" b="1" spc="-13" dirty="0">
                <a:solidFill>
                  <a:srgbClr val="595959"/>
                </a:solidFill>
                <a:latin typeface="Arial"/>
                <a:cs typeface="Arial"/>
              </a:rPr>
              <a:t> </a:t>
            </a:r>
            <a:r>
              <a:rPr sz="2400" b="1" dirty="0">
                <a:solidFill>
                  <a:srgbClr val="595959"/>
                </a:solidFill>
                <a:latin typeface="Arial"/>
                <a:cs typeface="Arial"/>
              </a:rPr>
              <a:t>of</a:t>
            </a:r>
            <a:r>
              <a:rPr sz="2400" b="1" spc="-7" dirty="0">
                <a:solidFill>
                  <a:srgbClr val="595959"/>
                </a:solidFill>
                <a:latin typeface="Arial"/>
                <a:cs typeface="Arial"/>
              </a:rPr>
              <a:t> </a:t>
            </a:r>
            <a:r>
              <a:rPr sz="2400" b="1" dirty="0">
                <a:solidFill>
                  <a:srgbClr val="595959"/>
                </a:solidFill>
                <a:latin typeface="Arial"/>
                <a:cs typeface="Arial"/>
              </a:rPr>
              <a:t>MLOps</a:t>
            </a:r>
            <a:r>
              <a:rPr sz="2400" b="1" spc="-20" dirty="0">
                <a:solidFill>
                  <a:srgbClr val="595959"/>
                </a:solidFill>
                <a:latin typeface="Arial"/>
                <a:cs typeface="Arial"/>
              </a:rPr>
              <a:t> </a:t>
            </a:r>
            <a:r>
              <a:rPr sz="2400" dirty="0">
                <a:solidFill>
                  <a:srgbClr val="595959"/>
                </a:solidFill>
                <a:latin typeface="Arial"/>
                <a:cs typeface="Arial"/>
              </a:rPr>
              <a:t>is</a:t>
            </a:r>
            <a:r>
              <a:rPr sz="2400" spc="-13" dirty="0">
                <a:solidFill>
                  <a:srgbClr val="595959"/>
                </a:solidFill>
                <a:latin typeface="Arial"/>
                <a:cs typeface="Arial"/>
              </a:rPr>
              <a:t> </a:t>
            </a:r>
            <a:r>
              <a:rPr sz="2400" dirty="0">
                <a:solidFill>
                  <a:srgbClr val="595959"/>
                </a:solidFill>
                <a:latin typeface="Arial"/>
                <a:cs typeface="Arial"/>
              </a:rPr>
              <a:t>to</a:t>
            </a:r>
            <a:r>
              <a:rPr sz="2400" spc="-20" dirty="0">
                <a:solidFill>
                  <a:srgbClr val="595959"/>
                </a:solidFill>
                <a:latin typeface="Arial"/>
                <a:cs typeface="Arial"/>
              </a:rPr>
              <a:t> </a:t>
            </a:r>
            <a:r>
              <a:rPr sz="2400" dirty="0">
                <a:solidFill>
                  <a:srgbClr val="595959"/>
                </a:solidFill>
                <a:latin typeface="Arial"/>
                <a:cs typeface="Arial"/>
              </a:rPr>
              <a:t>reduce</a:t>
            </a:r>
            <a:r>
              <a:rPr sz="2400" spc="-20" dirty="0">
                <a:solidFill>
                  <a:srgbClr val="595959"/>
                </a:solidFill>
                <a:latin typeface="Arial"/>
                <a:cs typeface="Arial"/>
              </a:rPr>
              <a:t> </a:t>
            </a:r>
            <a:r>
              <a:rPr sz="2400" dirty="0">
                <a:solidFill>
                  <a:srgbClr val="595959"/>
                </a:solidFill>
                <a:latin typeface="Arial"/>
                <a:cs typeface="Arial"/>
              </a:rPr>
              <a:t>technical</a:t>
            </a:r>
            <a:r>
              <a:rPr sz="2400" spc="-7" dirty="0">
                <a:solidFill>
                  <a:srgbClr val="595959"/>
                </a:solidFill>
                <a:latin typeface="Arial"/>
                <a:cs typeface="Arial"/>
              </a:rPr>
              <a:t> </a:t>
            </a:r>
            <a:r>
              <a:rPr sz="2400" dirty="0">
                <a:solidFill>
                  <a:srgbClr val="595959"/>
                </a:solidFill>
                <a:latin typeface="Arial"/>
                <a:cs typeface="Arial"/>
              </a:rPr>
              <a:t>friction</a:t>
            </a:r>
            <a:r>
              <a:rPr sz="2400" spc="-20" dirty="0">
                <a:solidFill>
                  <a:srgbClr val="595959"/>
                </a:solidFill>
                <a:latin typeface="Arial"/>
                <a:cs typeface="Arial"/>
              </a:rPr>
              <a:t> </a:t>
            </a:r>
            <a:r>
              <a:rPr sz="2400" dirty="0">
                <a:solidFill>
                  <a:srgbClr val="595959"/>
                </a:solidFill>
                <a:latin typeface="Arial"/>
                <a:cs typeface="Arial"/>
              </a:rPr>
              <a:t>to</a:t>
            </a:r>
            <a:r>
              <a:rPr sz="2400" spc="-13" dirty="0">
                <a:solidFill>
                  <a:srgbClr val="595959"/>
                </a:solidFill>
                <a:latin typeface="Arial"/>
                <a:cs typeface="Arial"/>
              </a:rPr>
              <a:t> </a:t>
            </a:r>
            <a:r>
              <a:rPr sz="2400" dirty="0">
                <a:solidFill>
                  <a:srgbClr val="595959"/>
                </a:solidFill>
                <a:latin typeface="Arial"/>
                <a:cs typeface="Arial"/>
              </a:rPr>
              <a:t>get</a:t>
            </a:r>
            <a:r>
              <a:rPr sz="2400" spc="-20" dirty="0">
                <a:solidFill>
                  <a:srgbClr val="595959"/>
                </a:solidFill>
                <a:latin typeface="Arial"/>
                <a:cs typeface="Arial"/>
              </a:rPr>
              <a:t> </a:t>
            </a:r>
            <a:r>
              <a:rPr sz="2400" dirty="0">
                <a:solidFill>
                  <a:srgbClr val="595959"/>
                </a:solidFill>
                <a:latin typeface="Arial"/>
                <a:cs typeface="Arial"/>
              </a:rPr>
              <a:t>the</a:t>
            </a:r>
            <a:r>
              <a:rPr sz="2400" spc="-20" dirty="0">
                <a:solidFill>
                  <a:srgbClr val="595959"/>
                </a:solidFill>
                <a:latin typeface="Arial"/>
                <a:cs typeface="Arial"/>
              </a:rPr>
              <a:t> </a:t>
            </a:r>
            <a:r>
              <a:rPr sz="2400" dirty="0">
                <a:solidFill>
                  <a:srgbClr val="595959"/>
                </a:solidFill>
                <a:latin typeface="Arial"/>
                <a:cs typeface="Arial"/>
              </a:rPr>
              <a:t>model</a:t>
            </a:r>
            <a:r>
              <a:rPr sz="2400" spc="-7" dirty="0">
                <a:solidFill>
                  <a:srgbClr val="595959"/>
                </a:solidFill>
                <a:latin typeface="Arial"/>
                <a:cs typeface="Arial"/>
              </a:rPr>
              <a:t> </a:t>
            </a:r>
            <a:r>
              <a:rPr sz="2400" dirty="0">
                <a:solidFill>
                  <a:srgbClr val="595959"/>
                </a:solidFill>
                <a:latin typeface="Arial"/>
                <a:cs typeface="Arial"/>
              </a:rPr>
              <a:t>from</a:t>
            </a:r>
            <a:r>
              <a:rPr sz="2400" spc="-13" dirty="0">
                <a:solidFill>
                  <a:srgbClr val="595959"/>
                </a:solidFill>
                <a:latin typeface="Arial"/>
                <a:cs typeface="Arial"/>
              </a:rPr>
              <a:t> </a:t>
            </a:r>
            <a:r>
              <a:rPr sz="2400" dirty="0">
                <a:solidFill>
                  <a:srgbClr val="595959"/>
                </a:solidFill>
                <a:latin typeface="Arial"/>
                <a:cs typeface="Arial"/>
              </a:rPr>
              <a:t>an</a:t>
            </a:r>
            <a:r>
              <a:rPr sz="2400" spc="-13" dirty="0">
                <a:solidFill>
                  <a:srgbClr val="595959"/>
                </a:solidFill>
                <a:latin typeface="Arial"/>
                <a:cs typeface="Arial"/>
              </a:rPr>
              <a:t> </a:t>
            </a:r>
            <a:r>
              <a:rPr sz="2400" spc="-27" dirty="0">
                <a:solidFill>
                  <a:srgbClr val="595959"/>
                </a:solidFill>
                <a:latin typeface="Arial"/>
                <a:cs typeface="Arial"/>
              </a:rPr>
              <a:t>idea </a:t>
            </a:r>
            <a:r>
              <a:rPr sz="2400" dirty="0">
                <a:solidFill>
                  <a:srgbClr val="595959"/>
                </a:solidFill>
                <a:latin typeface="Arial"/>
                <a:cs typeface="Arial"/>
              </a:rPr>
              <a:t>into</a:t>
            </a:r>
            <a:r>
              <a:rPr sz="2400" spc="-33" dirty="0">
                <a:solidFill>
                  <a:srgbClr val="595959"/>
                </a:solidFill>
                <a:latin typeface="Arial"/>
                <a:cs typeface="Arial"/>
              </a:rPr>
              <a:t> </a:t>
            </a:r>
            <a:r>
              <a:rPr sz="2400" dirty="0">
                <a:solidFill>
                  <a:srgbClr val="595959"/>
                </a:solidFill>
                <a:latin typeface="Arial"/>
                <a:cs typeface="Arial"/>
              </a:rPr>
              <a:t>production</a:t>
            </a:r>
            <a:r>
              <a:rPr sz="2400" spc="-20" dirty="0">
                <a:solidFill>
                  <a:srgbClr val="595959"/>
                </a:solidFill>
                <a:latin typeface="Arial"/>
                <a:cs typeface="Arial"/>
              </a:rPr>
              <a:t> </a:t>
            </a:r>
            <a:r>
              <a:rPr sz="2400" dirty="0">
                <a:solidFill>
                  <a:srgbClr val="595959"/>
                </a:solidFill>
                <a:latin typeface="Arial"/>
                <a:cs typeface="Arial"/>
              </a:rPr>
              <a:t>in</a:t>
            </a:r>
            <a:r>
              <a:rPr sz="2400" spc="-20" dirty="0">
                <a:solidFill>
                  <a:srgbClr val="595959"/>
                </a:solidFill>
                <a:latin typeface="Arial"/>
                <a:cs typeface="Arial"/>
              </a:rPr>
              <a:t> </a:t>
            </a:r>
            <a:r>
              <a:rPr sz="2400" dirty="0">
                <a:solidFill>
                  <a:srgbClr val="595959"/>
                </a:solidFill>
                <a:latin typeface="Arial"/>
                <a:cs typeface="Arial"/>
              </a:rPr>
              <a:t>the</a:t>
            </a:r>
            <a:r>
              <a:rPr sz="2400" spc="-20" dirty="0">
                <a:solidFill>
                  <a:srgbClr val="595959"/>
                </a:solidFill>
                <a:latin typeface="Arial"/>
                <a:cs typeface="Arial"/>
              </a:rPr>
              <a:t> </a:t>
            </a:r>
            <a:r>
              <a:rPr sz="2400" u="sng" dirty="0">
                <a:solidFill>
                  <a:srgbClr val="595959"/>
                </a:solidFill>
                <a:uFill>
                  <a:solidFill>
                    <a:srgbClr val="595959"/>
                  </a:solidFill>
                </a:uFill>
                <a:latin typeface="Arial"/>
                <a:cs typeface="Arial"/>
              </a:rPr>
              <a:t>shortest</a:t>
            </a:r>
            <a:r>
              <a:rPr sz="2400" u="sng" spc="-20" dirty="0">
                <a:solidFill>
                  <a:srgbClr val="595959"/>
                </a:solidFill>
                <a:uFill>
                  <a:solidFill>
                    <a:srgbClr val="595959"/>
                  </a:solidFill>
                </a:uFill>
                <a:latin typeface="Arial"/>
                <a:cs typeface="Arial"/>
              </a:rPr>
              <a:t> </a:t>
            </a:r>
            <a:r>
              <a:rPr sz="2400" u="sng" dirty="0">
                <a:solidFill>
                  <a:srgbClr val="595959"/>
                </a:solidFill>
                <a:uFill>
                  <a:solidFill>
                    <a:srgbClr val="595959"/>
                  </a:solidFill>
                </a:uFill>
                <a:latin typeface="Arial"/>
                <a:cs typeface="Arial"/>
              </a:rPr>
              <a:t>possible</a:t>
            </a:r>
            <a:r>
              <a:rPr sz="2400" u="sng" spc="-20" dirty="0">
                <a:solidFill>
                  <a:srgbClr val="595959"/>
                </a:solidFill>
                <a:uFill>
                  <a:solidFill>
                    <a:srgbClr val="595959"/>
                  </a:solidFill>
                </a:uFill>
                <a:latin typeface="Arial"/>
                <a:cs typeface="Arial"/>
              </a:rPr>
              <a:t> </a:t>
            </a:r>
            <a:r>
              <a:rPr sz="2400" u="sng" dirty="0">
                <a:solidFill>
                  <a:srgbClr val="595959"/>
                </a:solidFill>
                <a:uFill>
                  <a:solidFill>
                    <a:srgbClr val="595959"/>
                  </a:solidFill>
                </a:uFill>
                <a:latin typeface="Arial"/>
                <a:cs typeface="Arial"/>
              </a:rPr>
              <a:t>time</a:t>
            </a:r>
            <a:r>
              <a:rPr sz="2400" spc="-20" dirty="0">
                <a:solidFill>
                  <a:srgbClr val="595959"/>
                </a:solidFill>
                <a:latin typeface="Arial"/>
                <a:cs typeface="Arial"/>
              </a:rPr>
              <a:t> </a:t>
            </a:r>
            <a:r>
              <a:rPr sz="2400" dirty="0">
                <a:solidFill>
                  <a:srgbClr val="595959"/>
                </a:solidFill>
                <a:latin typeface="Arial"/>
                <a:cs typeface="Arial"/>
              </a:rPr>
              <a:t>with</a:t>
            </a:r>
            <a:r>
              <a:rPr sz="2400" spc="-20" dirty="0">
                <a:solidFill>
                  <a:srgbClr val="595959"/>
                </a:solidFill>
                <a:latin typeface="Arial"/>
                <a:cs typeface="Arial"/>
              </a:rPr>
              <a:t> </a:t>
            </a:r>
            <a:r>
              <a:rPr sz="2400" dirty="0">
                <a:solidFill>
                  <a:srgbClr val="595959"/>
                </a:solidFill>
                <a:latin typeface="Arial"/>
                <a:cs typeface="Arial"/>
              </a:rPr>
              <a:t>as</a:t>
            </a:r>
            <a:r>
              <a:rPr sz="2400" spc="-20" dirty="0">
                <a:solidFill>
                  <a:srgbClr val="595959"/>
                </a:solidFill>
                <a:latin typeface="Arial"/>
                <a:cs typeface="Arial"/>
              </a:rPr>
              <a:t> </a:t>
            </a:r>
            <a:r>
              <a:rPr sz="2400" u="sng" dirty="0">
                <a:solidFill>
                  <a:srgbClr val="595959"/>
                </a:solidFill>
                <a:uFill>
                  <a:solidFill>
                    <a:srgbClr val="595959"/>
                  </a:solidFill>
                </a:uFill>
                <a:latin typeface="Arial"/>
                <a:cs typeface="Arial"/>
              </a:rPr>
              <a:t>little</a:t>
            </a:r>
            <a:r>
              <a:rPr sz="2400" u="sng" spc="-20" dirty="0">
                <a:solidFill>
                  <a:srgbClr val="595959"/>
                </a:solidFill>
                <a:uFill>
                  <a:solidFill>
                    <a:srgbClr val="595959"/>
                  </a:solidFill>
                </a:uFill>
                <a:latin typeface="Arial"/>
                <a:cs typeface="Arial"/>
              </a:rPr>
              <a:t> </a:t>
            </a:r>
            <a:r>
              <a:rPr sz="2400" u="sng" dirty="0">
                <a:solidFill>
                  <a:srgbClr val="595959"/>
                </a:solidFill>
                <a:uFill>
                  <a:solidFill>
                    <a:srgbClr val="595959"/>
                  </a:solidFill>
                </a:uFill>
                <a:latin typeface="Arial"/>
                <a:cs typeface="Arial"/>
              </a:rPr>
              <a:t>risk</a:t>
            </a:r>
            <a:r>
              <a:rPr sz="2400" u="sng" spc="-20" dirty="0">
                <a:solidFill>
                  <a:srgbClr val="595959"/>
                </a:solidFill>
                <a:uFill>
                  <a:solidFill>
                    <a:srgbClr val="595959"/>
                  </a:solidFill>
                </a:uFill>
                <a:latin typeface="Arial"/>
                <a:cs typeface="Arial"/>
              </a:rPr>
              <a:t> </a:t>
            </a:r>
            <a:r>
              <a:rPr sz="2400" u="sng" dirty="0">
                <a:solidFill>
                  <a:srgbClr val="595959"/>
                </a:solidFill>
                <a:uFill>
                  <a:solidFill>
                    <a:srgbClr val="595959"/>
                  </a:solidFill>
                </a:uFill>
                <a:latin typeface="Arial"/>
                <a:cs typeface="Arial"/>
              </a:rPr>
              <a:t>as</a:t>
            </a:r>
            <a:r>
              <a:rPr sz="2400" u="sng" spc="-13" dirty="0">
                <a:solidFill>
                  <a:srgbClr val="595959"/>
                </a:solidFill>
                <a:uFill>
                  <a:solidFill>
                    <a:srgbClr val="595959"/>
                  </a:solidFill>
                </a:uFill>
                <a:latin typeface="Arial"/>
                <a:cs typeface="Arial"/>
              </a:rPr>
              <a:t> possible</a:t>
            </a:r>
            <a:r>
              <a:rPr sz="2400" spc="-13" dirty="0">
                <a:solidFill>
                  <a:srgbClr val="595959"/>
                </a:solidFill>
                <a:latin typeface="Arial"/>
                <a:cs typeface="Arial"/>
              </a:rPr>
              <a:t>.</a:t>
            </a:r>
            <a:endParaRPr sz="2400">
              <a:latin typeface="Arial"/>
              <a:cs typeface="Arial"/>
            </a:endParaRPr>
          </a:p>
        </p:txBody>
      </p:sp>
    </p:spTree>
    <p:extLst>
      <p:ext uri="{BB962C8B-B14F-4D97-AF65-F5344CB8AC3E}">
        <p14:creationId xmlns:p14="http://schemas.microsoft.com/office/powerpoint/2010/main" val="321327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631842"/>
            <a:ext cx="10013527" cy="767927"/>
          </a:xfrm>
          <a:prstGeom prst="rect">
            <a:avLst/>
          </a:prstGeom>
        </p:spPr>
        <p:txBody>
          <a:bodyPr vert="horz" wrap="square" lIns="0" tIns="14393" rIns="0" bIns="0" rtlCol="0">
            <a:spAutoFit/>
          </a:bodyPr>
          <a:lstStyle/>
          <a:p>
            <a:pPr marL="16933" marR="6773">
              <a:lnSpc>
                <a:spcPct val="100699"/>
              </a:lnSpc>
              <a:spcBef>
                <a:spcPts val="113"/>
              </a:spcBef>
            </a:pPr>
            <a:r>
              <a:rPr sz="2400" spc="-80" dirty="0">
                <a:solidFill>
                  <a:srgbClr val="2A3890"/>
                </a:solidFill>
                <a:latin typeface="Roboto"/>
                <a:cs typeface="Roboto"/>
              </a:rPr>
              <a:t>“</a:t>
            </a:r>
            <a:r>
              <a:rPr sz="2400" spc="-7" dirty="0">
                <a:solidFill>
                  <a:srgbClr val="2A3890"/>
                </a:solidFill>
                <a:latin typeface="Roboto"/>
                <a:cs typeface="Roboto"/>
              </a:rPr>
              <a:t> </a:t>
            </a:r>
            <a:r>
              <a:rPr sz="2400" b="1" dirty="0">
                <a:solidFill>
                  <a:srgbClr val="2A3890"/>
                </a:solidFill>
                <a:latin typeface="Roboto"/>
                <a:cs typeface="Roboto"/>
              </a:rPr>
              <a:t>Machine</a:t>
            </a:r>
            <a:r>
              <a:rPr sz="2400" b="1" spc="-7" dirty="0">
                <a:solidFill>
                  <a:srgbClr val="2A3890"/>
                </a:solidFill>
                <a:latin typeface="Roboto"/>
                <a:cs typeface="Roboto"/>
              </a:rPr>
              <a:t> Learning</a:t>
            </a:r>
            <a:r>
              <a:rPr sz="2400" b="1" spc="53" dirty="0">
                <a:solidFill>
                  <a:srgbClr val="2A3890"/>
                </a:solidFill>
                <a:latin typeface="Roboto"/>
                <a:cs typeface="Roboto"/>
              </a:rPr>
              <a:t> </a:t>
            </a:r>
            <a:r>
              <a:rPr sz="2400" spc="-20" dirty="0">
                <a:solidFill>
                  <a:srgbClr val="2A3890"/>
                </a:solidFill>
                <a:latin typeface="Roboto"/>
                <a:cs typeface="Roboto"/>
              </a:rPr>
              <a:t>means</a:t>
            </a:r>
            <a:r>
              <a:rPr sz="2400" spc="-7" dirty="0">
                <a:solidFill>
                  <a:srgbClr val="2A3890"/>
                </a:solidFill>
                <a:latin typeface="Roboto"/>
                <a:cs typeface="Roboto"/>
              </a:rPr>
              <a:t> </a:t>
            </a:r>
            <a:r>
              <a:rPr sz="2400" spc="-33" dirty="0">
                <a:solidFill>
                  <a:srgbClr val="2A3890"/>
                </a:solidFill>
                <a:latin typeface="Roboto"/>
                <a:cs typeface="Roboto"/>
              </a:rPr>
              <a:t>Building</a:t>
            </a:r>
            <a:r>
              <a:rPr sz="2400" spc="-7" dirty="0">
                <a:solidFill>
                  <a:srgbClr val="2A3890"/>
                </a:solidFill>
                <a:latin typeface="Roboto"/>
                <a:cs typeface="Roboto"/>
              </a:rPr>
              <a:t> </a:t>
            </a:r>
            <a:r>
              <a:rPr sz="2400" spc="-20" dirty="0">
                <a:solidFill>
                  <a:srgbClr val="2A3890"/>
                </a:solidFill>
                <a:latin typeface="Roboto"/>
                <a:cs typeface="Roboto"/>
              </a:rPr>
              <a:t>a</a:t>
            </a:r>
            <a:r>
              <a:rPr sz="2400" spc="-7" dirty="0">
                <a:solidFill>
                  <a:srgbClr val="2A3890"/>
                </a:solidFill>
                <a:latin typeface="Roboto"/>
                <a:cs typeface="Roboto"/>
              </a:rPr>
              <a:t> </a:t>
            </a:r>
            <a:r>
              <a:rPr sz="2400" spc="-13" dirty="0">
                <a:solidFill>
                  <a:srgbClr val="2A3890"/>
                </a:solidFill>
                <a:latin typeface="Roboto"/>
                <a:cs typeface="Roboto"/>
              </a:rPr>
              <a:t>model</a:t>
            </a:r>
            <a:r>
              <a:rPr sz="2400" spc="-7" dirty="0">
                <a:solidFill>
                  <a:srgbClr val="2A3890"/>
                </a:solidFill>
                <a:latin typeface="Roboto"/>
                <a:cs typeface="Roboto"/>
              </a:rPr>
              <a:t> from </a:t>
            </a:r>
            <a:r>
              <a:rPr sz="2400" spc="-13" dirty="0">
                <a:solidFill>
                  <a:srgbClr val="2A3890"/>
                </a:solidFill>
                <a:latin typeface="Roboto"/>
                <a:cs typeface="Roboto"/>
              </a:rPr>
              <a:t>example</a:t>
            </a:r>
            <a:r>
              <a:rPr sz="2400" spc="-7" dirty="0">
                <a:solidFill>
                  <a:srgbClr val="2A3890"/>
                </a:solidFill>
                <a:latin typeface="Roboto"/>
                <a:cs typeface="Roboto"/>
              </a:rPr>
              <a:t> </a:t>
            </a:r>
            <a:r>
              <a:rPr sz="2400" spc="-33" dirty="0">
                <a:solidFill>
                  <a:srgbClr val="2A3890"/>
                </a:solidFill>
                <a:latin typeface="Roboto"/>
                <a:cs typeface="Roboto"/>
              </a:rPr>
              <a:t>inputs</a:t>
            </a:r>
            <a:r>
              <a:rPr sz="2400" spc="-13" dirty="0">
                <a:solidFill>
                  <a:srgbClr val="2A3890"/>
                </a:solidFill>
                <a:latin typeface="Roboto"/>
                <a:cs typeface="Roboto"/>
              </a:rPr>
              <a:t> </a:t>
            </a:r>
            <a:r>
              <a:rPr sz="2400" spc="-27" dirty="0">
                <a:solidFill>
                  <a:srgbClr val="2A3890"/>
                </a:solidFill>
                <a:latin typeface="Roboto"/>
                <a:cs typeface="Roboto"/>
              </a:rPr>
              <a:t>to</a:t>
            </a:r>
            <a:r>
              <a:rPr sz="2400" spc="-7" dirty="0">
                <a:solidFill>
                  <a:srgbClr val="2A3890"/>
                </a:solidFill>
                <a:latin typeface="Roboto"/>
                <a:cs typeface="Roboto"/>
              </a:rPr>
              <a:t> </a:t>
            </a:r>
            <a:r>
              <a:rPr sz="2400" spc="-13" dirty="0">
                <a:solidFill>
                  <a:srgbClr val="2A3890"/>
                </a:solidFill>
                <a:latin typeface="Roboto"/>
                <a:cs typeface="Roboto"/>
              </a:rPr>
              <a:t>make </a:t>
            </a:r>
            <a:r>
              <a:rPr sz="2400" spc="-573" dirty="0">
                <a:solidFill>
                  <a:srgbClr val="2A3890"/>
                </a:solidFill>
                <a:latin typeface="Roboto"/>
                <a:cs typeface="Roboto"/>
              </a:rPr>
              <a:t> </a:t>
            </a:r>
            <a:r>
              <a:rPr sz="2400" spc="-67" dirty="0">
                <a:solidFill>
                  <a:srgbClr val="2A3890"/>
                </a:solidFill>
                <a:latin typeface="Roboto"/>
                <a:cs typeface="Roboto"/>
              </a:rPr>
              <a:t>data-driven</a:t>
            </a:r>
            <a:r>
              <a:rPr sz="2400" dirty="0">
                <a:solidFill>
                  <a:srgbClr val="2A3890"/>
                </a:solidFill>
                <a:latin typeface="Roboto"/>
                <a:cs typeface="Roboto"/>
              </a:rPr>
              <a:t> </a:t>
            </a:r>
            <a:r>
              <a:rPr sz="2400" spc="-27" dirty="0">
                <a:solidFill>
                  <a:srgbClr val="2A3890"/>
                </a:solidFill>
                <a:latin typeface="Roboto"/>
                <a:cs typeface="Roboto"/>
              </a:rPr>
              <a:t>predictions</a:t>
            </a:r>
            <a:r>
              <a:rPr sz="2400" dirty="0">
                <a:solidFill>
                  <a:srgbClr val="2A3890"/>
                </a:solidFill>
                <a:latin typeface="Roboto"/>
                <a:cs typeface="Roboto"/>
              </a:rPr>
              <a:t> </a:t>
            </a:r>
            <a:r>
              <a:rPr sz="2400" spc="-33" dirty="0">
                <a:solidFill>
                  <a:srgbClr val="2A3890"/>
                </a:solidFill>
                <a:latin typeface="Roboto"/>
                <a:cs typeface="Roboto"/>
              </a:rPr>
              <a:t>vs.</a:t>
            </a:r>
            <a:r>
              <a:rPr sz="2400" spc="7" dirty="0">
                <a:solidFill>
                  <a:srgbClr val="2A3890"/>
                </a:solidFill>
                <a:latin typeface="Roboto"/>
                <a:cs typeface="Roboto"/>
              </a:rPr>
              <a:t> </a:t>
            </a:r>
            <a:r>
              <a:rPr sz="2400" spc="-20" dirty="0">
                <a:solidFill>
                  <a:srgbClr val="2A3890"/>
                </a:solidFill>
                <a:latin typeface="Roboto"/>
                <a:cs typeface="Roboto"/>
              </a:rPr>
              <a:t>following</a:t>
            </a:r>
            <a:r>
              <a:rPr sz="2400" spc="7" dirty="0">
                <a:solidFill>
                  <a:srgbClr val="2A3890"/>
                </a:solidFill>
                <a:latin typeface="Roboto"/>
                <a:cs typeface="Roboto"/>
              </a:rPr>
              <a:t> </a:t>
            </a:r>
            <a:r>
              <a:rPr sz="2400" spc="-33" dirty="0">
                <a:solidFill>
                  <a:srgbClr val="2A3890"/>
                </a:solidFill>
                <a:latin typeface="Roboto"/>
                <a:cs typeface="Roboto"/>
              </a:rPr>
              <a:t>strictly</a:t>
            </a:r>
            <a:r>
              <a:rPr sz="2400" spc="7" dirty="0">
                <a:solidFill>
                  <a:srgbClr val="2A3890"/>
                </a:solidFill>
                <a:latin typeface="Roboto"/>
                <a:cs typeface="Roboto"/>
              </a:rPr>
              <a:t> </a:t>
            </a:r>
            <a:r>
              <a:rPr sz="2400" spc="-27" dirty="0">
                <a:solidFill>
                  <a:srgbClr val="2A3890"/>
                </a:solidFill>
                <a:latin typeface="Roboto"/>
                <a:cs typeface="Roboto"/>
              </a:rPr>
              <a:t>static</a:t>
            </a:r>
            <a:r>
              <a:rPr sz="2400" spc="13" dirty="0">
                <a:solidFill>
                  <a:srgbClr val="2A3890"/>
                </a:solidFill>
                <a:latin typeface="Roboto"/>
                <a:cs typeface="Roboto"/>
              </a:rPr>
              <a:t> </a:t>
            </a:r>
            <a:r>
              <a:rPr sz="2400" spc="-33" dirty="0">
                <a:solidFill>
                  <a:srgbClr val="2A3890"/>
                </a:solidFill>
                <a:latin typeface="Roboto"/>
                <a:cs typeface="Roboto"/>
              </a:rPr>
              <a:t>program</a:t>
            </a:r>
            <a:r>
              <a:rPr sz="2400" dirty="0">
                <a:solidFill>
                  <a:srgbClr val="2A3890"/>
                </a:solidFill>
                <a:latin typeface="Roboto"/>
                <a:cs typeface="Roboto"/>
              </a:rPr>
              <a:t> </a:t>
            </a:r>
            <a:r>
              <a:rPr sz="2400" spc="-33" dirty="0">
                <a:solidFill>
                  <a:srgbClr val="2A3890"/>
                </a:solidFill>
                <a:latin typeface="Roboto"/>
                <a:cs typeface="Roboto"/>
              </a:rPr>
              <a:t>instructions.</a:t>
            </a:r>
            <a:r>
              <a:rPr sz="2400" dirty="0">
                <a:solidFill>
                  <a:srgbClr val="2A3890"/>
                </a:solidFill>
                <a:latin typeface="Roboto"/>
                <a:cs typeface="Roboto"/>
              </a:rPr>
              <a:t> </a:t>
            </a:r>
            <a:r>
              <a:rPr sz="2400" spc="-47" dirty="0">
                <a:solidFill>
                  <a:srgbClr val="2A3890"/>
                </a:solidFill>
                <a:latin typeface="Roboto"/>
                <a:cs typeface="Roboto"/>
              </a:rPr>
              <a:t>”</a:t>
            </a:r>
            <a:endParaRPr sz="2400">
              <a:latin typeface="Roboto"/>
              <a:cs typeface="Roboto"/>
            </a:endParaRPr>
          </a:p>
        </p:txBody>
      </p:sp>
      <p:pic>
        <p:nvPicPr>
          <p:cNvPr id="3" name="object 3"/>
          <p:cNvPicPr/>
          <p:nvPr/>
        </p:nvPicPr>
        <p:blipFill>
          <a:blip r:embed="rId2" cstate="print"/>
          <a:stretch>
            <a:fillRect/>
          </a:stretch>
        </p:blipFill>
        <p:spPr>
          <a:xfrm>
            <a:off x="203201" y="1560267"/>
            <a:ext cx="11785599" cy="4793948"/>
          </a:xfrm>
          <a:prstGeom prst="rect">
            <a:avLst/>
          </a:prstGeom>
        </p:spPr>
      </p:pic>
    </p:spTree>
    <p:extLst>
      <p:ext uri="{BB962C8B-B14F-4D97-AF65-F5344CB8AC3E}">
        <p14:creationId xmlns:p14="http://schemas.microsoft.com/office/powerpoint/2010/main" val="1151572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MLOps</a:t>
            </a:r>
            <a:r>
              <a:rPr spc="-15" dirty="0"/>
              <a:t> </a:t>
            </a:r>
            <a:r>
              <a:rPr dirty="0"/>
              <a:t>is</a:t>
            </a:r>
            <a:r>
              <a:rPr spc="-5" dirty="0"/>
              <a:t> </a:t>
            </a:r>
            <a:r>
              <a:rPr dirty="0"/>
              <a:t>not</a:t>
            </a:r>
            <a:r>
              <a:rPr spc="5" dirty="0"/>
              <a:t> </a:t>
            </a:r>
            <a:r>
              <a:rPr dirty="0"/>
              <a:t>a</a:t>
            </a:r>
            <a:r>
              <a:rPr spc="-10" dirty="0"/>
              <a:t> </a:t>
            </a:r>
            <a:r>
              <a:rPr dirty="0"/>
              <a:t>single</a:t>
            </a:r>
            <a:r>
              <a:rPr spc="-5" dirty="0"/>
              <a:t> </a:t>
            </a:r>
            <a:r>
              <a:rPr dirty="0"/>
              <a:t>tool</a:t>
            </a:r>
            <a:r>
              <a:rPr spc="-10" dirty="0"/>
              <a:t> </a:t>
            </a:r>
            <a:r>
              <a:rPr dirty="0"/>
              <a:t>or</a:t>
            </a:r>
            <a:r>
              <a:rPr spc="5" dirty="0"/>
              <a:t> </a:t>
            </a:r>
            <a:r>
              <a:rPr spc="-10" dirty="0"/>
              <a:t>platform</a:t>
            </a:r>
          </a:p>
        </p:txBody>
      </p:sp>
      <p:sp>
        <p:nvSpPr>
          <p:cNvPr id="5" name="object 2"/>
          <p:cNvSpPr txBox="1">
            <a:spLocks noGrp="1"/>
          </p:cNvSpPr>
          <p:nvPr>
            <p:ph idx="1"/>
          </p:nvPr>
        </p:nvSpPr>
        <p:spPr>
          <a:xfrm>
            <a:off x="838200" y="1825625"/>
            <a:ext cx="10805160" cy="4710520"/>
          </a:xfrm>
          <a:prstGeom prst="rect">
            <a:avLst/>
          </a:prstGeom>
        </p:spPr>
        <p:txBody>
          <a:bodyPr vert="horz" wrap="square" lIns="0" tIns="12700" rIns="0" bIns="0" rtlCol="0">
            <a:spAutoFit/>
          </a:bodyPr>
          <a:lstStyle/>
          <a:p>
            <a:pPr marL="12700">
              <a:lnSpc>
                <a:spcPct val="100000"/>
              </a:lnSpc>
              <a:spcBef>
                <a:spcPts val="100"/>
              </a:spcBef>
            </a:pPr>
            <a:r>
              <a:rPr sz="2000" dirty="0"/>
              <a:t>MLOps</a:t>
            </a:r>
            <a:r>
              <a:rPr sz="2000" spc="30" dirty="0"/>
              <a:t> </a:t>
            </a:r>
            <a:r>
              <a:rPr sz="2000" dirty="0"/>
              <a:t>is</a:t>
            </a:r>
            <a:r>
              <a:rPr sz="2000" spc="45" dirty="0"/>
              <a:t> </a:t>
            </a:r>
            <a:r>
              <a:rPr sz="2000" dirty="0"/>
              <a:t>about</a:t>
            </a:r>
            <a:r>
              <a:rPr sz="2000" spc="40" dirty="0"/>
              <a:t> </a:t>
            </a:r>
            <a:r>
              <a:rPr sz="2000" dirty="0"/>
              <a:t>agreeing</a:t>
            </a:r>
            <a:r>
              <a:rPr sz="2000" spc="45" dirty="0"/>
              <a:t> </a:t>
            </a:r>
            <a:r>
              <a:rPr sz="2000" dirty="0"/>
              <a:t>to</a:t>
            </a:r>
            <a:r>
              <a:rPr sz="2000" spc="45" dirty="0"/>
              <a:t> </a:t>
            </a:r>
            <a:r>
              <a:rPr sz="2000" dirty="0"/>
              <a:t>do</a:t>
            </a:r>
            <a:r>
              <a:rPr sz="2000" spc="45" dirty="0"/>
              <a:t> </a:t>
            </a:r>
            <a:r>
              <a:rPr sz="2000" dirty="0"/>
              <a:t>ML</a:t>
            </a:r>
            <a:r>
              <a:rPr sz="2000" spc="45" dirty="0"/>
              <a:t> </a:t>
            </a:r>
            <a:r>
              <a:rPr sz="2000" dirty="0"/>
              <a:t>the</a:t>
            </a:r>
            <a:r>
              <a:rPr sz="2000" spc="45" dirty="0"/>
              <a:t> </a:t>
            </a:r>
            <a:r>
              <a:rPr sz="2000" dirty="0"/>
              <a:t>right</a:t>
            </a:r>
            <a:r>
              <a:rPr sz="2000" spc="40" dirty="0"/>
              <a:t> </a:t>
            </a:r>
            <a:r>
              <a:rPr sz="2000" dirty="0"/>
              <a:t>way</a:t>
            </a:r>
            <a:r>
              <a:rPr sz="2000" spc="45" dirty="0"/>
              <a:t> </a:t>
            </a:r>
            <a:r>
              <a:rPr sz="2000" dirty="0"/>
              <a:t>and</a:t>
            </a:r>
            <a:r>
              <a:rPr sz="2000" spc="45" dirty="0"/>
              <a:t> </a:t>
            </a:r>
            <a:r>
              <a:rPr sz="2000" dirty="0"/>
              <a:t>then</a:t>
            </a:r>
            <a:r>
              <a:rPr sz="2000" spc="45" dirty="0"/>
              <a:t> </a:t>
            </a:r>
            <a:r>
              <a:rPr sz="2000" dirty="0"/>
              <a:t>supporting</a:t>
            </a:r>
            <a:r>
              <a:rPr sz="2000" spc="45" dirty="0"/>
              <a:t> </a:t>
            </a:r>
            <a:r>
              <a:rPr sz="2000" spc="-25" dirty="0"/>
              <a:t>it</a:t>
            </a:r>
            <a:r>
              <a:rPr sz="2000" spc="-25" dirty="0" smtClean="0"/>
              <a:t>.</a:t>
            </a:r>
            <a:endParaRPr lang="en-IN" sz="2000" spc="-25" dirty="0" smtClean="0"/>
          </a:p>
          <a:p>
            <a:pPr marL="12700">
              <a:lnSpc>
                <a:spcPct val="100000"/>
              </a:lnSpc>
              <a:spcBef>
                <a:spcPts val="100"/>
              </a:spcBef>
            </a:pPr>
            <a:endParaRPr lang="en-IN" sz="2000" spc="-25" dirty="0"/>
          </a:p>
          <a:p>
            <a:pPr marL="12700">
              <a:lnSpc>
                <a:spcPct val="100000"/>
              </a:lnSpc>
              <a:spcBef>
                <a:spcPts val="100"/>
              </a:spcBef>
            </a:pPr>
            <a:r>
              <a:rPr lang="en-IN" sz="2000" dirty="0" err="1"/>
              <a:t>MLOps</a:t>
            </a:r>
            <a:r>
              <a:rPr lang="en-IN" sz="2000" spc="-30" dirty="0"/>
              <a:t> </a:t>
            </a:r>
            <a:r>
              <a:rPr lang="en-IN" sz="2000" dirty="0"/>
              <a:t>is</a:t>
            </a:r>
            <a:r>
              <a:rPr lang="en-IN" sz="2000" spc="-20" dirty="0"/>
              <a:t> </a:t>
            </a:r>
            <a:r>
              <a:rPr lang="en-IN" sz="2000" dirty="0"/>
              <a:t>an</a:t>
            </a:r>
            <a:r>
              <a:rPr lang="en-IN" sz="2000" spc="-20" dirty="0"/>
              <a:t> </a:t>
            </a:r>
            <a:r>
              <a:rPr lang="en-IN" sz="2000" dirty="0"/>
              <a:t>ML</a:t>
            </a:r>
            <a:r>
              <a:rPr lang="en-IN" sz="2000" spc="-15" dirty="0"/>
              <a:t> </a:t>
            </a:r>
            <a:r>
              <a:rPr lang="en-IN" sz="2000" dirty="0"/>
              <a:t>engineering</a:t>
            </a:r>
            <a:r>
              <a:rPr lang="en-IN" sz="2000" spc="-20" dirty="0"/>
              <a:t> </a:t>
            </a:r>
            <a:r>
              <a:rPr lang="en-IN" sz="2000" dirty="0"/>
              <a:t>culture</a:t>
            </a:r>
            <a:r>
              <a:rPr lang="en-IN" sz="2000" spc="-20" dirty="0"/>
              <a:t> </a:t>
            </a:r>
            <a:r>
              <a:rPr lang="en-IN" sz="2000" dirty="0"/>
              <a:t>that</a:t>
            </a:r>
            <a:r>
              <a:rPr lang="en-IN" sz="2000" spc="-15" dirty="0"/>
              <a:t> </a:t>
            </a:r>
            <a:r>
              <a:rPr lang="en-IN" sz="2000" dirty="0"/>
              <a:t>includes</a:t>
            </a:r>
            <a:r>
              <a:rPr lang="en-IN" sz="2000" spc="-20" dirty="0"/>
              <a:t> </a:t>
            </a:r>
            <a:r>
              <a:rPr lang="en-IN" sz="2000" dirty="0"/>
              <a:t>the</a:t>
            </a:r>
            <a:r>
              <a:rPr lang="en-IN" sz="2000" spc="-20" dirty="0"/>
              <a:t> </a:t>
            </a:r>
            <a:r>
              <a:rPr lang="en-IN" sz="2000" dirty="0"/>
              <a:t>following</a:t>
            </a:r>
            <a:r>
              <a:rPr lang="en-IN" sz="2000" spc="-15" dirty="0"/>
              <a:t> </a:t>
            </a:r>
            <a:r>
              <a:rPr lang="en-IN" sz="2000" spc="-10" dirty="0"/>
              <a:t>practices:</a:t>
            </a:r>
            <a:endParaRPr lang="en-IN" sz="2000" dirty="0"/>
          </a:p>
          <a:p>
            <a:pPr marL="469265" marR="347345" indent="-342900">
              <a:lnSpc>
                <a:spcPct val="115599"/>
              </a:lnSpc>
              <a:spcBef>
                <a:spcPts val="1100"/>
              </a:spcBef>
              <a:buFont typeface="Arial"/>
              <a:buChar char="●"/>
              <a:tabLst>
                <a:tab pos="469265" algn="l"/>
                <a:tab pos="469900" algn="l"/>
              </a:tabLst>
            </a:pPr>
            <a:r>
              <a:rPr lang="en-IN" sz="2000" b="1" dirty="0">
                <a:latin typeface="Arial"/>
                <a:cs typeface="Arial"/>
              </a:rPr>
              <a:t>Continuous</a:t>
            </a:r>
            <a:r>
              <a:rPr lang="en-IN" sz="2000" b="1" spc="-30" dirty="0">
                <a:latin typeface="Arial"/>
                <a:cs typeface="Arial"/>
              </a:rPr>
              <a:t> </a:t>
            </a:r>
            <a:r>
              <a:rPr lang="en-IN" sz="2000" b="1" dirty="0">
                <a:latin typeface="Arial"/>
                <a:cs typeface="Arial"/>
              </a:rPr>
              <a:t>Integration</a:t>
            </a:r>
            <a:r>
              <a:rPr lang="en-IN" sz="2000" b="1" spc="-10" dirty="0">
                <a:latin typeface="Arial"/>
                <a:cs typeface="Arial"/>
              </a:rPr>
              <a:t> </a:t>
            </a:r>
            <a:r>
              <a:rPr lang="en-IN" sz="2000" b="1" dirty="0">
                <a:latin typeface="Arial"/>
                <a:cs typeface="Arial"/>
              </a:rPr>
              <a:t>(CI)</a:t>
            </a:r>
            <a:r>
              <a:rPr lang="en-IN" sz="2000" b="1" spc="-15" dirty="0">
                <a:latin typeface="Arial"/>
                <a:cs typeface="Arial"/>
              </a:rPr>
              <a:t> </a:t>
            </a:r>
            <a:r>
              <a:rPr lang="en-IN" sz="2000" dirty="0"/>
              <a:t>extends</a:t>
            </a:r>
            <a:r>
              <a:rPr lang="en-IN" sz="2000" spc="-15" dirty="0"/>
              <a:t> </a:t>
            </a:r>
            <a:r>
              <a:rPr lang="en-IN" sz="2000" dirty="0"/>
              <a:t>the</a:t>
            </a:r>
            <a:r>
              <a:rPr lang="en-IN" sz="2000" spc="-20" dirty="0"/>
              <a:t> </a:t>
            </a:r>
            <a:r>
              <a:rPr lang="en-IN" sz="2000" dirty="0"/>
              <a:t>testing</a:t>
            </a:r>
            <a:r>
              <a:rPr lang="en-IN" sz="2000" spc="-15" dirty="0"/>
              <a:t> </a:t>
            </a:r>
            <a:r>
              <a:rPr lang="en-IN" sz="2000" dirty="0"/>
              <a:t>and</a:t>
            </a:r>
            <a:r>
              <a:rPr lang="en-IN" sz="2000" spc="-20" dirty="0"/>
              <a:t> </a:t>
            </a:r>
            <a:r>
              <a:rPr lang="en-IN" sz="2000" dirty="0"/>
              <a:t>validating</a:t>
            </a:r>
            <a:r>
              <a:rPr lang="en-IN" sz="2000" spc="-15" dirty="0"/>
              <a:t> </a:t>
            </a:r>
            <a:r>
              <a:rPr lang="en-IN" sz="2000" dirty="0"/>
              <a:t>code</a:t>
            </a:r>
            <a:r>
              <a:rPr lang="en-IN" sz="2000" spc="-15" dirty="0"/>
              <a:t> </a:t>
            </a:r>
            <a:r>
              <a:rPr lang="en-IN" sz="2000" spc="-25" dirty="0"/>
              <a:t>and </a:t>
            </a:r>
            <a:r>
              <a:rPr lang="en-IN" sz="2000" dirty="0"/>
              <a:t>components</a:t>
            </a:r>
            <a:r>
              <a:rPr lang="en-IN" sz="2000" spc="-35" dirty="0"/>
              <a:t> </a:t>
            </a:r>
            <a:r>
              <a:rPr lang="en-IN" sz="2000" dirty="0"/>
              <a:t>by</a:t>
            </a:r>
            <a:r>
              <a:rPr lang="en-IN" sz="2000" spc="-20" dirty="0"/>
              <a:t> </a:t>
            </a:r>
            <a:r>
              <a:rPr lang="en-IN" sz="2000" dirty="0"/>
              <a:t>adding</a:t>
            </a:r>
            <a:r>
              <a:rPr lang="en-IN" sz="2000" spc="-25" dirty="0"/>
              <a:t> </a:t>
            </a:r>
            <a:r>
              <a:rPr lang="en-IN" sz="2000" dirty="0"/>
              <a:t>testing</a:t>
            </a:r>
            <a:r>
              <a:rPr lang="en-IN" sz="2000" spc="-20" dirty="0"/>
              <a:t> </a:t>
            </a:r>
            <a:r>
              <a:rPr lang="en-IN" sz="2000" dirty="0"/>
              <a:t>and</a:t>
            </a:r>
            <a:r>
              <a:rPr lang="en-IN" sz="2000" spc="-25" dirty="0"/>
              <a:t> </a:t>
            </a:r>
            <a:r>
              <a:rPr lang="en-IN" sz="2000" dirty="0"/>
              <a:t>validating</a:t>
            </a:r>
            <a:r>
              <a:rPr lang="en-IN" sz="2000" spc="-20" dirty="0"/>
              <a:t> </a:t>
            </a:r>
            <a:r>
              <a:rPr lang="en-IN" sz="2000" dirty="0"/>
              <a:t>data</a:t>
            </a:r>
            <a:r>
              <a:rPr lang="en-IN" sz="2000" spc="-25" dirty="0"/>
              <a:t> </a:t>
            </a:r>
            <a:r>
              <a:rPr lang="en-IN" sz="2000" dirty="0"/>
              <a:t>and</a:t>
            </a:r>
            <a:r>
              <a:rPr lang="en-IN" sz="2000" spc="-20" dirty="0"/>
              <a:t> </a:t>
            </a:r>
            <a:r>
              <a:rPr lang="en-IN" sz="2000" spc="-10" dirty="0"/>
              <a:t>models.</a:t>
            </a:r>
            <a:endParaRPr lang="en-IN" sz="2000" dirty="0">
              <a:latin typeface="Arial"/>
              <a:cs typeface="Arial"/>
            </a:endParaRPr>
          </a:p>
          <a:p>
            <a:pPr marL="469265" marR="67945" indent="-342900">
              <a:lnSpc>
                <a:spcPct val="115599"/>
              </a:lnSpc>
              <a:spcBef>
                <a:spcPts val="25"/>
              </a:spcBef>
              <a:buFont typeface="Arial"/>
              <a:buChar char="●"/>
              <a:tabLst>
                <a:tab pos="469265" algn="l"/>
                <a:tab pos="469900" algn="l"/>
              </a:tabLst>
            </a:pPr>
            <a:r>
              <a:rPr lang="en-IN" sz="2000" b="1" dirty="0">
                <a:latin typeface="Arial"/>
                <a:cs typeface="Arial"/>
              </a:rPr>
              <a:t>Continuous</a:t>
            </a:r>
            <a:r>
              <a:rPr lang="en-IN" sz="2000" b="1" spc="-25" dirty="0">
                <a:latin typeface="Arial"/>
                <a:cs typeface="Arial"/>
              </a:rPr>
              <a:t> </a:t>
            </a:r>
            <a:r>
              <a:rPr lang="en-IN" sz="2000" b="1" dirty="0">
                <a:latin typeface="Arial"/>
                <a:cs typeface="Arial"/>
              </a:rPr>
              <a:t>Delivery</a:t>
            </a:r>
            <a:r>
              <a:rPr lang="en-IN" sz="2000" b="1" spc="-15" dirty="0">
                <a:latin typeface="Arial"/>
                <a:cs typeface="Arial"/>
              </a:rPr>
              <a:t> </a:t>
            </a:r>
            <a:r>
              <a:rPr lang="en-IN" sz="2000" b="1" dirty="0">
                <a:latin typeface="Arial"/>
                <a:cs typeface="Arial"/>
              </a:rPr>
              <a:t>(CD)</a:t>
            </a:r>
            <a:r>
              <a:rPr lang="en-IN" sz="2000" b="1" spc="-10" dirty="0">
                <a:latin typeface="Arial"/>
                <a:cs typeface="Arial"/>
              </a:rPr>
              <a:t> </a:t>
            </a:r>
            <a:r>
              <a:rPr lang="en-IN" sz="2000" dirty="0"/>
              <a:t>concerns</a:t>
            </a:r>
            <a:r>
              <a:rPr lang="en-IN" sz="2000" spc="-10" dirty="0"/>
              <a:t> </a:t>
            </a:r>
            <a:r>
              <a:rPr lang="en-IN" sz="2000" dirty="0"/>
              <a:t>with</a:t>
            </a:r>
            <a:r>
              <a:rPr lang="en-IN" sz="2000" spc="-15" dirty="0"/>
              <a:t> </a:t>
            </a:r>
            <a:r>
              <a:rPr lang="en-IN" sz="2000" dirty="0"/>
              <a:t>delivery</a:t>
            </a:r>
            <a:r>
              <a:rPr lang="en-IN" sz="2000" spc="-15" dirty="0"/>
              <a:t> </a:t>
            </a:r>
            <a:r>
              <a:rPr lang="en-IN" sz="2000" dirty="0"/>
              <a:t>of</a:t>
            </a:r>
            <a:r>
              <a:rPr lang="en-IN" sz="2000" spc="-10" dirty="0"/>
              <a:t> </a:t>
            </a:r>
            <a:r>
              <a:rPr lang="en-IN" sz="2000" dirty="0"/>
              <a:t>an</a:t>
            </a:r>
            <a:r>
              <a:rPr lang="en-IN" sz="2000" spc="-15" dirty="0"/>
              <a:t> </a:t>
            </a:r>
            <a:r>
              <a:rPr lang="en-IN" sz="2000" dirty="0"/>
              <a:t>ML</a:t>
            </a:r>
            <a:r>
              <a:rPr lang="en-IN" sz="2000" spc="-15" dirty="0"/>
              <a:t> </a:t>
            </a:r>
            <a:r>
              <a:rPr lang="en-IN" sz="2000" dirty="0"/>
              <a:t>training</a:t>
            </a:r>
            <a:r>
              <a:rPr lang="en-IN" sz="2000" spc="-10" dirty="0"/>
              <a:t> pipeline </a:t>
            </a:r>
            <a:r>
              <a:rPr lang="en-IN" sz="2000" dirty="0"/>
              <a:t>that</a:t>
            </a:r>
            <a:r>
              <a:rPr lang="en-IN" sz="2000" spc="-35" dirty="0"/>
              <a:t> </a:t>
            </a:r>
            <a:r>
              <a:rPr lang="en-IN" sz="2000" dirty="0"/>
              <a:t>automatically</a:t>
            </a:r>
            <a:r>
              <a:rPr lang="en-IN" sz="2000" spc="-25" dirty="0"/>
              <a:t> </a:t>
            </a:r>
            <a:r>
              <a:rPr lang="en-IN" sz="2000" dirty="0"/>
              <a:t>deploys</a:t>
            </a:r>
            <a:r>
              <a:rPr lang="en-IN" sz="2000" spc="-25" dirty="0"/>
              <a:t> </a:t>
            </a:r>
            <a:r>
              <a:rPr lang="en-IN" sz="2000" dirty="0"/>
              <a:t>another</a:t>
            </a:r>
            <a:r>
              <a:rPr lang="en-IN" sz="2000" spc="-15" dirty="0"/>
              <a:t> </a:t>
            </a:r>
            <a:r>
              <a:rPr lang="en-IN" sz="2000" dirty="0"/>
              <a:t>the</a:t>
            </a:r>
            <a:r>
              <a:rPr lang="en-IN" sz="2000" spc="-25" dirty="0"/>
              <a:t> </a:t>
            </a:r>
            <a:r>
              <a:rPr lang="en-IN" sz="2000" dirty="0"/>
              <a:t>ML</a:t>
            </a:r>
            <a:r>
              <a:rPr lang="en-IN" sz="2000" spc="-25" dirty="0"/>
              <a:t> </a:t>
            </a:r>
            <a:r>
              <a:rPr lang="en-IN" sz="2000" dirty="0"/>
              <a:t>model</a:t>
            </a:r>
            <a:r>
              <a:rPr lang="en-IN" sz="2000" spc="-20" dirty="0"/>
              <a:t> </a:t>
            </a:r>
            <a:r>
              <a:rPr lang="en-IN" sz="2000" dirty="0"/>
              <a:t>prediction</a:t>
            </a:r>
            <a:r>
              <a:rPr lang="en-IN" sz="2000" spc="-20" dirty="0"/>
              <a:t> </a:t>
            </a:r>
            <a:r>
              <a:rPr lang="en-IN" sz="2000" spc="-10" dirty="0"/>
              <a:t>service.</a:t>
            </a:r>
            <a:endParaRPr lang="en-IN" sz="2000" dirty="0">
              <a:latin typeface="Arial"/>
              <a:cs typeface="Arial"/>
            </a:endParaRPr>
          </a:p>
          <a:p>
            <a:pPr marL="469265" marR="881380" indent="-342900">
              <a:lnSpc>
                <a:spcPct val="115599"/>
              </a:lnSpc>
              <a:buFont typeface="Arial"/>
              <a:buChar char="●"/>
              <a:tabLst>
                <a:tab pos="469265" algn="l"/>
                <a:tab pos="469900" algn="l"/>
              </a:tabLst>
            </a:pPr>
            <a:r>
              <a:rPr lang="en-IN" sz="2000" b="1" dirty="0">
                <a:latin typeface="Arial"/>
                <a:cs typeface="Arial"/>
              </a:rPr>
              <a:t>Continuous</a:t>
            </a:r>
            <a:r>
              <a:rPr lang="en-IN" sz="2000" b="1" spc="-25" dirty="0">
                <a:latin typeface="Arial"/>
                <a:cs typeface="Arial"/>
              </a:rPr>
              <a:t> </a:t>
            </a:r>
            <a:r>
              <a:rPr lang="en-IN" sz="2000" b="1" dirty="0">
                <a:latin typeface="Arial"/>
                <a:cs typeface="Arial"/>
              </a:rPr>
              <a:t>Training</a:t>
            </a:r>
            <a:r>
              <a:rPr lang="en-IN" sz="2000" b="1" spc="-5" dirty="0">
                <a:latin typeface="Arial"/>
                <a:cs typeface="Arial"/>
              </a:rPr>
              <a:t> </a:t>
            </a:r>
            <a:r>
              <a:rPr lang="en-IN" sz="2000" b="1" dirty="0">
                <a:latin typeface="Arial"/>
                <a:cs typeface="Arial"/>
              </a:rPr>
              <a:t>(CT)</a:t>
            </a:r>
            <a:r>
              <a:rPr lang="en-IN" sz="2000" b="1" spc="-15" dirty="0">
                <a:latin typeface="Arial"/>
                <a:cs typeface="Arial"/>
              </a:rPr>
              <a:t> </a:t>
            </a:r>
            <a:r>
              <a:rPr lang="en-IN" sz="2000" dirty="0"/>
              <a:t>is</a:t>
            </a:r>
            <a:r>
              <a:rPr lang="en-IN" sz="2000" spc="-10" dirty="0"/>
              <a:t> </a:t>
            </a:r>
            <a:r>
              <a:rPr lang="en-IN" sz="2000" dirty="0"/>
              <a:t>unique</a:t>
            </a:r>
            <a:r>
              <a:rPr lang="en-IN" sz="2000" spc="-15" dirty="0"/>
              <a:t> </a:t>
            </a:r>
            <a:r>
              <a:rPr lang="en-IN" sz="2000" dirty="0"/>
              <a:t>to</a:t>
            </a:r>
            <a:r>
              <a:rPr lang="en-IN" sz="2000" spc="-10" dirty="0"/>
              <a:t> </a:t>
            </a:r>
            <a:r>
              <a:rPr lang="en-IN" sz="2000" dirty="0"/>
              <a:t>ML</a:t>
            </a:r>
            <a:r>
              <a:rPr lang="en-IN" sz="2000" spc="-15" dirty="0"/>
              <a:t> </a:t>
            </a:r>
            <a:r>
              <a:rPr lang="en-IN" sz="2000" dirty="0"/>
              <a:t>systems</a:t>
            </a:r>
            <a:r>
              <a:rPr lang="en-IN" sz="2000" spc="-10" dirty="0"/>
              <a:t> </a:t>
            </a:r>
            <a:r>
              <a:rPr lang="en-IN" sz="2000" dirty="0"/>
              <a:t>property,</a:t>
            </a:r>
            <a:r>
              <a:rPr lang="en-IN" sz="2000" spc="-10" dirty="0"/>
              <a:t> which </a:t>
            </a:r>
            <a:r>
              <a:rPr lang="en-IN" sz="2000" dirty="0"/>
              <a:t>automatically</a:t>
            </a:r>
            <a:r>
              <a:rPr lang="en-IN" sz="2000" spc="-30" dirty="0"/>
              <a:t> </a:t>
            </a:r>
            <a:r>
              <a:rPr lang="en-IN" sz="2000" dirty="0"/>
              <a:t>retrains</a:t>
            </a:r>
            <a:r>
              <a:rPr lang="en-IN" sz="2000" spc="-15" dirty="0"/>
              <a:t> </a:t>
            </a:r>
            <a:r>
              <a:rPr lang="en-IN" sz="2000" dirty="0"/>
              <a:t>ML</a:t>
            </a:r>
            <a:r>
              <a:rPr lang="en-IN" sz="2000" spc="-15" dirty="0"/>
              <a:t> </a:t>
            </a:r>
            <a:r>
              <a:rPr lang="en-IN" sz="2000" dirty="0"/>
              <a:t>models</a:t>
            </a:r>
            <a:r>
              <a:rPr lang="en-IN" sz="2000" spc="-15" dirty="0"/>
              <a:t> </a:t>
            </a:r>
            <a:r>
              <a:rPr lang="en-IN" sz="2000" dirty="0"/>
              <a:t>for</a:t>
            </a:r>
            <a:r>
              <a:rPr lang="en-IN" sz="2000" spc="-10" dirty="0"/>
              <a:t> re-deployment.</a:t>
            </a:r>
            <a:endParaRPr lang="en-IN" sz="2000" dirty="0">
              <a:latin typeface="Arial"/>
              <a:cs typeface="Arial"/>
            </a:endParaRPr>
          </a:p>
          <a:p>
            <a:pPr marL="469265" marR="5080" indent="-342900">
              <a:lnSpc>
                <a:spcPct val="111100"/>
              </a:lnSpc>
              <a:spcBef>
                <a:spcPts val="95"/>
              </a:spcBef>
              <a:buFont typeface="Arial"/>
              <a:buChar char="●"/>
              <a:tabLst>
                <a:tab pos="469265" algn="l"/>
                <a:tab pos="469900" algn="l"/>
              </a:tabLst>
            </a:pPr>
            <a:r>
              <a:rPr lang="en-IN" sz="2000" b="1" dirty="0">
                <a:latin typeface="Arial"/>
                <a:cs typeface="Arial"/>
              </a:rPr>
              <a:t>Continuous</a:t>
            </a:r>
            <a:r>
              <a:rPr lang="en-IN" sz="2000" b="1" spc="-30" dirty="0">
                <a:latin typeface="Arial"/>
                <a:cs typeface="Arial"/>
              </a:rPr>
              <a:t> </a:t>
            </a:r>
            <a:r>
              <a:rPr lang="en-IN" sz="2000" b="1" dirty="0">
                <a:latin typeface="Arial"/>
                <a:cs typeface="Arial"/>
              </a:rPr>
              <a:t>Monitoring</a:t>
            </a:r>
            <a:r>
              <a:rPr lang="en-IN" sz="2000" b="1" spc="-10" dirty="0">
                <a:latin typeface="Arial"/>
                <a:cs typeface="Arial"/>
              </a:rPr>
              <a:t> </a:t>
            </a:r>
            <a:r>
              <a:rPr lang="en-IN" sz="2000" b="1" dirty="0">
                <a:latin typeface="Arial"/>
                <a:cs typeface="Arial"/>
              </a:rPr>
              <a:t>(CM)</a:t>
            </a:r>
            <a:r>
              <a:rPr lang="en-IN" sz="2000" b="1" spc="-15" dirty="0">
                <a:latin typeface="Arial"/>
                <a:cs typeface="Arial"/>
              </a:rPr>
              <a:t> </a:t>
            </a:r>
            <a:r>
              <a:rPr lang="en-IN" sz="2000" dirty="0"/>
              <a:t>concerns</a:t>
            </a:r>
            <a:r>
              <a:rPr lang="en-IN" sz="2000" spc="-15" dirty="0"/>
              <a:t> </a:t>
            </a:r>
            <a:r>
              <a:rPr lang="en-IN" sz="2000" dirty="0"/>
              <a:t>with</a:t>
            </a:r>
            <a:r>
              <a:rPr lang="en-IN" sz="2000" spc="-15" dirty="0"/>
              <a:t> </a:t>
            </a:r>
            <a:r>
              <a:rPr lang="en-IN" sz="2000" dirty="0"/>
              <a:t>monitoring</a:t>
            </a:r>
            <a:r>
              <a:rPr lang="en-IN" sz="2000" spc="-20" dirty="0"/>
              <a:t> </a:t>
            </a:r>
            <a:r>
              <a:rPr lang="en-IN" sz="2000" dirty="0"/>
              <a:t>production</a:t>
            </a:r>
            <a:r>
              <a:rPr lang="en-IN" sz="2000" spc="-15" dirty="0"/>
              <a:t> </a:t>
            </a:r>
            <a:r>
              <a:rPr lang="en-IN" sz="2000" dirty="0"/>
              <a:t>data</a:t>
            </a:r>
            <a:r>
              <a:rPr lang="en-IN" sz="2000" spc="-15" dirty="0"/>
              <a:t> </a:t>
            </a:r>
            <a:r>
              <a:rPr lang="en-IN" sz="2000" spc="-25" dirty="0"/>
              <a:t>and </a:t>
            </a:r>
            <a:r>
              <a:rPr lang="en-IN" sz="2000" dirty="0"/>
              <a:t>model</a:t>
            </a:r>
            <a:r>
              <a:rPr lang="en-IN" sz="2000" spc="-25" dirty="0"/>
              <a:t> </a:t>
            </a:r>
            <a:r>
              <a:rPr lang="en-IN" sz="2000" dirty="0"/>
              <a:t>performance</a:t>
            </a:r>
            <a:r>
              <a:rPr lang="en-IN" sz="2000" spc="-20" dirty="0"/>
              <a:t> </a:t>
            </a:r>
            <a:r>
              <a:rPr lang="en-IN" sz="2000" dirty="0"/>
              <a:t>metrics,</a:t>
            </a:r>
            <a:r>
              <a:rPr lang="en-IN" sz="2000" spc="-20" dirty="0"/>
              <a:t> </a:t>
            </a:r>
            <a:r>
              <a:rPr lang="en-IN" sz="2000" dirty="0"/>
              <a:t>which</a:t>
            </a:r>
            <a:r>
              <a:rPr lang="en-IN" sz="2000" spc="-20" dirty="0"/>
              <a:t> </a:t>
            </a:r>
            <a:r>
              <a:rPr lang="en-IN" sz="2000" dirty="0"/>
              <a:t>are</a:t>
            </a:r>
            <a:r>
              <a:rPr lang="en-IN" sz="2000" spc="-15" dirty="0"/>
              <a:t> </a:t>
            </a:r>
            <a:r>
              <a:rPr lang="en-IN" sz="2000" dirty="0"/>
              <a:t>bound</a:t>
            </a:r>
            <a:r>
              <a:rPr lang="en-IN" sz="2000" spc="-20" dirty="0"/>
              <a:t> </a:t>
            </a:r>
            <a:r>
              <a:rPr lang="en-IN" sz="2000" dirty="0"/>
              <a:t>to</a:t>
            </a:r>
            <a:r>
              <a:rPr lang="en-IN" sz="2000" spc="-20" dirty="0"/>
              <a:t> </a:t>
            </a:r>
            <a:r>
              <a:rPr lang="en-IN" sz="2000" dirty="0"/>
              <a:t>business</a:t>
            </a:r>
            <a:r>
              <a:rPr lang="en-IN" sz="2000" spc="-15" dirty="0"/>
              <a:t> </a:t>
            </a:r>
            <a:r>
              <a:rPr lang="en-IN" sz="2000" spc="-10" dirty="0"/>
              <a:t>metrics.</a:t>
            </a:r>
            <a:endParaRPr lang="en-IN" sz="2000" dirty="0">
              <a:latin typeface="Arial"/>
              <a:cs typeface="Arial"/>
            </a:endParaRPr>
          </a:p>
          <a:p>
            <a:pPr marL="12700">
              <a:lnSpc>
                <a:spcPct val="100000"/>
              </a:lnSpc>
              <a:spcBef>
                <a:spcPts val="100"/>
              </a:spcBef>
            </a:pPr>
            <a:endParaRPr lang="en-IN" sz="2000" spc="-25" dirty="0" smtClean="0"/>
          </a:p>
          <a:p>
            <a:pPr marL="12700">
              <a:lnSpc>
                <a:spcPct val="100000"/>
              </a:lnSpc>
              <a:spcBef>
                <a:spcPts val="100"/>
              </a:spcBef>
            </a:pPr>
            <a:endParaRPr sz="2000" dirty="0"/>
          </a:p>
        </p:txBody>
      </p:sp>
    </p:spTree>
    <p:extLst>
      <p:ext uri="{BB962C8B-B14F-4D97-AF65-F5344CB8AC3E}">
        <p14:creationId xmlns:p14="http://schemas.microsoft.com/office/powerpoint/2010/main" val="60766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MLOPs Stack</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0016" y="0"/>
            <a:ext cx="11338260" cy="6729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2301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DevOps</a:t>
            </a:r>
            <a:endParaRPr lang="en-IN" dirty="0"/>
          </a:p>
        </p:txBody>
      </p:sp>
      <p:sp>
        <p:nvSpPr>
          <p:cNvPr id="4" name="AutoShape 4" descr="DevOps | Office of the Chief Software Officer, U.S Air Fo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DevOps | Office of the Chief Software Officer, U.S Air Forc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5"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5360" y="1731264"/>
            <a:ext cx="9521952" cy="3938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608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MLOps</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3584" y="2324894"/>
            <a:ext cx="8662416"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1632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2524" y="157163"/>
            <a:ext cx="5157787" cy="823912"/>
          </a:xfrm>
        </p:spPr>
        <p:txBody>
          <a:bodyPr/>
          <a:lstStyle/>
          <a:p>
            <a:r>
              <a:rPr lang="en-IN" dirty="0" smtClean="0"/>
              <a:t>DevOps</a:t>
            </a:r>
            <a:endParaRPr lang="en-IN" dirty="0"/>
          </a:p>
        </p:txBody>
      </p:sp>
      <p:sp>
        <p:nvSpPr>
          <p:cNvPr id="4" name="Content Placeholder 3"/>
          <p:cNvSpPr>
            <a:spLocks noGrp="1"/>
          </p:cNvSpPr>
          <p:nvPr>
            <p:ph sz="half" idx="2"/>
          </p:nvPr>
        </p:nvSpPr>
        <p:spPr>
          <a:xfrm>
            <a:off x="839788" y="1097280"/>
            <a:ext cx="5157787" cy="5092383"/>
          </a:xfrm>
        </p:spPr>
        <p:txBody>
          <a:bodyPr/>
          <a:lstStyle/>
          <a:p>
            <a:r>
              <a:rPr lang="en-IN" dirty="0"/>
              <a:t>DevOps focuses on building a generic application and uses a standard set of libraries for specific use cases</a:t>
            </a:r>
            <a:r>
              <a:rPr lang="en-IN" dirty="0" smtClean="0"/>
              <a:t>.</a:t>
            </a:r>
          </a:p>
          <a:p>
            <a:r>
              <a:rPr lang="en-IN" dirty="0"/>
              <a:t>Software developed using the DevOps technique doesn’t usually degrade and if anything new is to be added, it can be easily incorporated, new features can be added on top of the already built solution. </a:t>
            </a:r>
          </a:p>
        </p:txBody>
      </p:sp>
      <p:sp>
        <p:nvSpPr>
          <p:cNvPr id="5" name="Text Placeholder 4"/>
          <p:cNvSpPr>
            <a:spLocks noGrp="1"/>
          </p:cNvSpPr>
          <p:nvPr>
            <p:ph type="body" sz="quarter" idx="3"/>
          </p:nvPr>
        </p:nvSpPr>
        <p:spPr>
          <a:xfrm>
            <a:off x="6050280" y="303467"/>
            <a:ext cx="5183188" cy="823912"/>
          </a:xfrm>
        </p:spPr>
        <p:txBody>
          <a:bodyPr/>
          <a:lstStyle/>
          <a:p>
            <a:r>
              <a:rPr lang="en-IN" dirty="0" err="1" smtClean="0"/>
              <a:t>MLOps</a:t>
            </a:r>
            <a:endParaRPr lang="en-IN" dirty="0"/>
          </a:p>
        </p:txBody>
      </p:sp>
      <p:sp>
        <p:nvSpPr>
          <p:cNvPr id="6" name="Content Placeholder 5"/>
          <p:cNvSpPr>
            <a:spLocks noGrp="1"/>
          </p:cNvSpPr>
          <p:nvPr>
            <p:ph sz="quarter" idx="4"/>
          </p:nvPr>
        </p:nvSpPr>
        <p:spPr>
          <a:xfrm>
            <a:off x="6172200" y="1109472"/>
            <a:ext cx="5183188" cy="5080191"/>
          </a:xfrm>
        </p:spPr>
        <p:txBody>
          <a:bodyPr/>
          <a:lstStyle/>
          <a:p>
            <a:r>
              <a:rPr lang="en-IN" dirty="0" err="1"/>
              <a:t>MLOps</a:t>
            </a:r>
            <a:r>
              <a:rPr lang="en-IN" dirty="0"/>
              <a:t> builds a model that feeds inferences and also has a broad scope for languages, tools, </a:t>
            </a:r>
            <a:r>
              <a:rPr lang="en-IN" dirty="0" smtClean="0"/>
              <a:t>libraries</a:t>
            </a:r>
            <a:r>
              <a:rPr lang="en-IN" dirty="0"/>
              <a:t>, and many </a:t>
            </a:r>
            <a:r>
              <a:rPr lang="en-IN" dirty="0" smtClean="0"/>
              <a:t>frameworks</a:t>
            </a:r>
          </a:p>
          <a:p>
            <a:r>
              <a:rPr lang="en-IN" dirty="0"/>
              <a:t>in </a:t>
            </a:r>
            <a:r>
              <a:rPr lang="en-IN" dirty="0" err="1"/>
              <a:t>MLOps</a:t>
            </a:r>
            <a:r>
              <a:rPr lang="en-IN" dirty="0"/>
              <a:t>, machine learning or an AI solution developed may degrade because of the change in new test data with time.</a:t>
            </a:r>
          </a:p>
        </p:txBody>
      </p:sp>
    </p:spTree>
    <p:extLst>
      <p:ext uri="{BB962C8B-B14F-4D97-AF65-F5344CB8AC3E}">
        <p14:creationId xmlns:p14="http://schemas.microsoft.com/office/powerpoint/2010/main" val="2659132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2524" y="0"/>
            <a:ext cx="5157787" cy="823912"/>
          </a:xfrm>
        </p:spPr>
        <p:txBody>
          <a:bodyPr/>
          <a:lstStyle/>
          <a:p>
            <a:r>
              <a:rPr lang="en-IN" dirty="0" smtClean="0"/>
              <a:t>DevOps</a:t>
            </a:r>
            <a:endParaRPr lang="en-IN" dirty="0"/>
          </a:p>
        </p:txBody>
      </p:sp>
      <p:sp>
        <p:nvSpPr>
          <p:cNvPr id="4" name="Content Placeholder 3"/>
          <p:cNvSpPr>
            <a:spLocks noGrp="1"/>
          </p:cNvSpPr>
          <p:nvPr>
            <p:ph sz="half" idx="2"/>
          </p:nvPr>
        </p:nvSpPr>
        <p:spPr>
          <a:xfrm>
            <a:off x="682752" y="1072896"/>
            <a:ext cx="5314823" cy="5116767"/>
          </a:xfrm>
        </p:spPr>
        <p:txBody>
          <a:bodyPr/>
          <a:lstStyle/>
          <a:p>
            <a:r>
              <a:rPr lang="en-IN" dirty="0"/>
              <a:t>In DevOps, code creates an application that is converted to an executable and then deployed by validating using wide series of test cases</a:t>
            </a:r>
            <a:r>
              <a:rPr lang="en-IN" dirty="0" smtClean="0"/>
              <a:t>.</a:t>
            </a:r>
          </a:p>
          <a:p>
            <a:endParaRPr lang="en-IN" dirty="0"/>
          </a:p>
          <a:p>
            <a:r>
              <a:rPr lang="en-IN" dirty="0"/>
              <a:t>in DevOps only CI/CD (</a:t>
            </a:r>
            <a:r>
              <a:rPr lang="en-IN" dirty="0" err="1"/>
              <a:t>Continous</a:t>
            </a:r>
            <a:r>
              <a:rPr lang="en-IN" dirty="0"/>
              <a:t> Integration and </a:t>
            </a:r>
            <a:r>
              <a:rPr lang="en-IN" dirty="0" err="1"/>
              <a:t>Continous</a:t>
            </a:r>
            <a:r>
              <a:rPr lang="en-IN" dirty="0"/>
              <a:t> Deployment) pipeline is required.</a:t>
            </a:r>
          </a:p>
        </p:txBody>
      </p:sp>
      <p:sp>
        <p:nvSpPr>
          <p:cNvPr id="5" name="Text Placeholder 4"/>
          <p:cNvSpPr>
            <a:spLocks noGrp="1"/>
          </p:cNvSpPr>
          <p:nvPr>
            <p:ph type="body" sz="quarter" idx="3"/>
          </p:nvPr>
        </p:nvSpPr>
        <p:spPr>
          <a:xfrm>
            <a:off x="6022848" y="0"/>
            <a:ext cx="5186236" cy="823912"/>
          </a:xfrm>
        </p:spPr>
        <p:txBody>
          <a:bodyPr/>
          <a:lstStyle/>
          <a:p>
            <a:r>
              <a:rPr lang="en-IN" dirty="0" err="1" smtClean="0"/>
              <a:t>MLOps</a:t>
            </a:r>
            <a:endParaRPr lang="en-IN" dirty="0"/>
          </a:p>
        </p:txBody>
      </p:sp>
      <p:sp>
        <p:nvSpPr>
          <p:cNvPr id="6" name="Content Placeholder 5"/>
          <p:cNvSpPr>
            <a:spLocks noGrp="1"/>
          </p:cNvSpPr>
          <p:nvPr>
            <p:ph sz="quarter" idx="4"/>
          </p:nvPr>
        </p:nvSpPr>
        <p:spPr>
          <a:xfrm>
            <a:off x="6172200" y="1036320"/>
            <a:ext cx="5183188" cy="5153343"/>
          </a:xfrm>
        </p:spPr>
        <p:txBody>
          <a:bodyPr/>
          <a:lstStyle/>
          <a:p>
            <a:r>
              <a:rPr lang="en-IN" dirty="0"/>
              <a:t>in </a:t>
            </a:r>
            <a:r>
              <a:rPr lang="en-IN" dirty="0" err="1"/>
              <a:t>MLOps</a:t>
            </a:r>
            <a:r>
              <a:rPr lang="en-IN" dirty="0"/>
              <a:t>, code is done to build or train a machine learning model. Validation is done to check the accuracy of the model </a:t>
            </a:r>
            <a:r>
              <a:rPr lang="en-IN" dirty="0" err="1"/>
              <a:t>i.e</a:t>
            </a:r>
            <a:r>
              <a:rPr lang="en-IN" dirty="0"/>
              <a:t> how well it performs for test data. This cycle is repeated until the model gives a performance at a </a:t>
            </a:r>
            <a:r>
              <a:rPr lang="en-IN" dirty="0" smtClean="0"/>
              <a:t>threshold.</a:t>
            </a:r>
          </a:p>
          <a:p>
            <a:r>
              <a:rPr lang="en-IN" dirty="0"/>
              <a:t>in </a:t>
            </a:r>
            <a:r>
              <a:rPr lang="en-IN" dirty="0" err="1"/>
              <a:t>MLOps</a:t>
            </a:r>
            <a:r>
              <a:rPr lang="en-IN" dirty="0"/>
              <a:t> one additional thing is required and that is retraining</a:t>
            </a:r>
          </a:p>
        </p:txBody>
      </p:sp>
    </p:spTree>
    <p:extLst>
      <p:ext uri="{BB962C8B-B14F-4D97-AF65-F5344CB8AC3E}">
        <p14:creationId xmlns:p14="http://schemas.microsoft.com/office/powerpoint/2010/main" val="1547041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application&#10;&#10;Description automatically generated">
            <a:extLst>
              <a:ext uri="{FF2B5EF4-FFF2-40B4-BE49-F238E27FC236}">
                <a16:creationId xmlns:a16="http://schemas.microsoft.com/office/drawing/2014/main" xmlns="" id="{66F52049-4F7F-9ACB-39E7-725E7A8A7555}"/>
              </a:ext>
            </a:extLst>
          </p:cNvPr>
          <p:cNvPicPr>
            <a:picLocks noChangeAspect="1"/>
          </p:cNvPicPr>
          <p:nvPr/>
        </p:nvPicPr>
        <p:blipFill>
          <a:blip r:embed="rId2"/>
          <a:stretch>
            <a:fillRect/>
          </a:stretch>
        </p:blipFill>
        <p:spPr>
          <a:xfrm>
            <a:off x="641230" y="69551"/>
            <a:ext cx="11038935" cy="6503237"/>
          </a:xfrm>
          <a:prstGeom prst="rect">
            <a:avLst/>
          </a:prstGeom>
        </p:spPr>
      </p:pic>
      <p:sp>
        <p:nvSpPr>
          <p:cNvPr id="5" name="Rectangle 4">
            <a:extLst>
              <a:ext uri="{FF2B5EF4-FFF2-40B4-BE49-F238E27FC236}">
                <a16:creationId xmlns:a16="http://schemas.microsoft.com/office/drawing/2014/main" xmlns="" id="{498D92C3-C1FA-1B11-3785-AD9EEA419C31}"/>
              </a:ext>
            </a:extLst>
          </p:cNvPr>
          <p:cNvSpPr/>
          <p:nvPr/>
        </p:nvSpPr>
        <p:spPr>
          <a:xfrm>
            <a:off x="635479" y="5645989"/>
            <a:ext cx="11027433" cy="920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application&#10;&#10;Description automatically generated">
            <a:extLst>
              <a:ext uri="{FF2B5EF4-FFF2-40B4-BE49-F238E27FC236}">
                <a16:creationId xmlns:a16="http://schemas.microsoft.com/office/drawing/2014/main" xmlns="" id="{56C0810D-CDF6-ED35-550F-318E9B0BE144}"/>
              </a:ext>
            </a:extLst>
          </p:cNvPr>
          <p:cNvPicPr>
            <a:picLocks noGrp="1" noChangeAspect="1"/>
          </p:cNvPicPr>
          <p:nvPr>
            <p:ph idx="1"/>
          </p:nvPr>
        </p:nvPicPr>
        <p:blipFill>
          <a:blip r:embed="rId2"/>
          <a:stretch>
            <a:fillRect/>
          </a:stretch>
        </p:blipFill>
        <p:spPr>
          <a:xfrm>
            <a:off x="388189" y="374605"/>
            <a:ext cx="11660037" cy="5901905"/>
          </a:xfrm>
        </p:spPr>
      </p:pic>
      <p:sp>
        <p:nvSpPr>
          <p:cNvPr id="5" name="Rectangle 4">
            <a:extLst>
              <a:ext uri="{FF2B5EF4-FFF2-40B4-BE49-F238E27FC236}">
                <a16:creationId xmlns:a16="http://schemas.microsoft.com/office/drawing/2014/main" xmlns="" id="{9974C9EA-96DF-0D6A-534B-A67730E48E9E}"/>
              </a:ext>
            </a:extLst>
          </p:cNvPr>
          <p:cNvSpPr/>
          <p:nvPr/>
        </p:nvSpPr>
        <p:spPr>
          <a:xfrm>
            <a:off x="391064" y="5358442"/>
            <a:ext cx="11660036" cy="920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934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EF7E1-F19E-5BB8-82A5-C9EFEAD4C5E2}"/>
              </a:ext>
            </a:extLst>
          </p:cNvPr>
          <p:cNvSpPr>
            <a:spLocks noGrp="1"/>
          </p:cNvSpPr>
          <p:nvPr>
            <p:ph type="title"/>
          </p:nvPr>
        </p:nvSpPr>
        <p:spPr/>
        <p:txBody>
          <a:bodyPr/>
          <a:lstStyle/>
          <a:p>
            <a:endParaRPr lang="en-US"/>
          </a:p>
        </p:txBody>
      </p:sp>
      <p:pic>
        <p:nvPicPr>
          <p:cNvPr id="4" name="Picture 4" descr="Diagram&#10;&#10;Description automatically generated">
            <a:extLst>
              <a:ext uri="{FF2B5EF4-FFF2-40B4-BE49-F238E27FC236}">
                <a16:creationId xmlns:a16="http://schemas.microsoft.com/office/drawing/2014/main" xmlns="" id="{4B50B283-BD19-BF45-609C-B589E366A91F}"/>
              </a:ext>
            </a:extLst>
          </p:cNvPr>
          <p:cNvPicPr>
            <a:picLocks noGrp="1" noChangeAspect="1"/>
          </p:cNvPicPr>
          <p:nvPr>
            <p:ph idx="1"/>
          </p:nvPr>
        </p:nvPicPr>
        <p:blipFill>
          <a:blip r:embed="rId2"/>
          <a:stretch>
            <a:fillRect/>
          </a:stretch>
        </p:blipFill>
        <p:spPr>
          <a:xfrm>
            <a:off x="833887" y="360229"/>
            <a:ext cx="10524226" cy="6131942"/>
          </a:xfrm>
        </p:spPr>
      </p:pic>
    </p:spTree>
    <p:extLst>
      <p:ext uri="{BB962C8B-B14F-4D97-AF65-F5344CB8AC3E}">
        <p14:creationId xmlns:p14="http://schemas.microsoft.com/office/powerpoint/2010/main" val="203384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xmlns="" id="{1A396FAA-DA3A-B20D-EBF6-9916C9F7BE6B}"/>
              </a:ext>
            </a:extLst>
          </p:cNvPr>
          <p:cNvPicPr>
            <a:picLocks noChangeAspect="1"/>
          </p:cNvPicPr>
          <p:nvPr/>
        </p:nvPicPr>
        <p:blipFill>
          <a:blip r:embed="rId2"/>
          <a:stretch>
            <a:fillRect/>
          </a:stretch>
        </p:blipFill>
        <p:spPr>
          <a:xfrm>
            <a:off x="267420" y="256457"/>
            <a:ext cx="11585274" cy="6359463"/>
          </a:xfrm>
          <a:prstGeom prst="rect">
            <a:avLst/>
          </a:prstGeom>
        </p:spPr>
      </p:pic>
    </p:spTree>
    <p:extLst>
      <p:ext uri="{BB962C8B-B14F-4D97-AF65-F5344CB8AC3E}">
        <p14:creationId xmlns:p14="http://schemas.microsoft.com/office/powerpoint/2010/main" val="3814742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xmlns="" id="{11847AAB-190A-3D13-B77D-92067D5DF4CD}"/>
              </a:ext>
            </a:extLst>
          </p:cNvPr>
          <p:cNvPicPr>
            <a:picLocks noChangeAspect="1"/>
          </p:cNvPicPr>
          <p:nvPr/>
        </p:nvPicPr>
        <p:blipFill>
          <a:blip r:embed="rId2"/>
          <a:stretch>
            <a:fillRect/>
          </a:stretch>
        </p:blipFill>
        <p:spPr>
          <a:xfrm>
            <a:off x="583720" y="213324"/>
            <a:ext cx="10823274" cy="6100671"/>
          </a:xfrm>
          <a:prstGeom prst="rect">
            <a:avLst/>
          </a:prstGeom>
        </p:spPr>
      </p:pic>
    </p:spTree>
    <p:extLst>
      <p:ext uri="{BB962C8B-B14F-4D97-AF65-F5344CB8AC3E}">
        <p14:creationId xmlns:p14="http://schemas.microsoft.com/office/powerpoint/2010/main" val="2315675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xmlns="" id="{EE8BE4CD-8F75-DED6-893B-2AB1EA94987D}"/>
              </a:ext>
            </a:extLst>
          </p:cNvPr>
          <p:cNvPicPr>
            <a:picLocks noChangeAspect="1"/>
          </p:cNvPicPr>
          <p:nvPr/>
        </p:nvPicPr>
        <p:blipFill>
          <a:blip r:embed="rId2"/>
          <a:stretch>
            <a:fillRect/>
          </a:stretch>
        </p:blipFill>
        <p:spPr>
          <a:xfrm>
            <a:off x="411193" y="227702"/>
            <a:ext cx="11527764" cy="6431350"/>
          </a:xfrm>
          <a:prstGeom prst="rect">
            <a:avLst/>
          </a:prstGeom>
        </p:spPr>
      </p:pic>
    </p:spTree>
    <p:extLst>
      <p:ext uri="{BB962C8B-B14F-4D97-AF65-F5344CB8AC3E}">
        <p14:creationId xmlns:p14="http://schemas.microsoft.com/office/powerpoint/2010/main" val="3558801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xmlns="" id="{EA780952-B04A-614A-6E0C-8B16BD6CE386}"/>
              </a:ext>
            </a:extLst>
          </p:cNvPr>
          <p:cNvPicPr>
            <a:picLocks noGrp="1" noChangeAspect="1"/>
          </p:cNvPicPr>
          <p:nvPr>
            <p:ph idx="1"/>
          </p:nvPr>
        </p:nvPicPr>
        <p:blipFill>
          <a:blip r:embed="rId2"/>
          <a:stretch>
            <a:fillRect/>
          </a:stretch>
        </p:blipFill>
        <p:spPr>
          <a:xfrm>
            <a:off x="531962" y="259587"/>
            <a:ext cx="11257471" cy="6333225"/>
          </a:xfrm>
        </p:spPr>
      </p:pic>
    </p:spTree>
    <p:extLst>
      <p:ext uri="{BB962C8B-B14F-4D97-AF65-F5344CB8AC3E}">
        <p14:creationId xmlns:p14="http://schemas.microsoft.com/office/powerpoint/2010/main" val="3185280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Benefits of </a:t>
            </a:r>
            <a:r>
              <a:rPr lang="en-IN" b="1" dirty="0" err="1"/>
              <a:t>MLOps</a:t>
            </a:r>
            <a:r>
              <a:rPr lang="en-IN" b="1" dirty="0"/>
              <a:t/>
            </a:r>
            <a:br>
              <a:rPr lang="en-IN" b="1" dirty="0"/>
            </a:br>
            <a:endParaRPr lang="en-IN" dirty="0"/>
          </a:p>
        </p:txBody>
      </p:sp>
      <p:sp>
        <p:nvSpPr>
          <p:cNvPr id="3" name="Content Placeholder 2"/>
          <p:cNvSpPr>
            <a:spLocks noGrp="1"/>
          </p:cNvSpPr>
          <p:nvPr>
            <p:ph idx="1"/>
          </p:nvPr>
        </p:nvSpPr>
        <p:spPr>
          <a:xfrm>
            <a:off x="838200" y="1825624"/>
            <a:ext cx="10756392" cy="5032375"/>
          </a:xfrm>
        </p:spPr>
        <p:txBody>
          <a:bodyPr>
            <a:normAutofit fontScale="85000" lnSpcReduction="10000"/>
          </a:bodyPr>
          <a:lstStyle/>
          <a:p>
            <a:r>
              <a:rPr lang="en-IN" dirty="0"/>
              <a:t>Adopting </a:t>
            </a:r>
            <a:r>
              <a:rPr lang="en-IN" dirty="0" err="1"/>
              <a:t>MLOps</a:t>
            </a:r>
            <a:r>
              <a:rPr lang="en-IN" dirty="0"/>
              <a:t> practices gives you faster time-to-market for ML projects by delivering the following benefits.</a:t>
            </a:r>
          </a:p>
          <a:p>
            <a:r>
              <a:rPr lang="en-IN" b="1" dirty="0"/>
              <a:t>Productivity</a:t>
            </a:r>
            <a:r>
              <a:rPr lang="en-IN" dirty="0"/>
              <a:t>: Providing self-service environments with access to curated data sets lets data engineers and data scientists move faster and waste less time with missing or invalid data.</a:t>
            </a:r>
          </a:p>
          <a:p>
            <a:r>
              <a:rPr lang="en-IN" b="1" dirty="0"/>
              <a:t>Repeatability</a:t>
            </a:r>
            <a:r>
              <a:rPr lang="en-IN" dirty="0"/>
              <a:t>: Automating all the steps in the MLDC helps you ensure a repeatable process, including how the model is trained, evaluated, versioned, and deployed.</a:t>
            </a:r>
          </a:p>
          <a:p>
            <a:r>
              <a:rPr lang="en-IN" b="1" dirty="0"/>
              <a:t>Reliability</a:t>
            </a:r>
            <a:r>
              <a:rPr lang="en-IN" dirty="0"/>
              <a:t>: Incorporating CI/CD practices allows for the ability to not only deploy quickly but with increased quality and consistency.</a:t>
            </a:r>
          </a:p>
          <a:p>
            <a:r>
              <a:rPr lang="en-IN" b="1" dirty="0"/>
              <a:t>Auditability</a:t>
            </a:r>
            <a:r>
              <a:rPr lang="en-IN" dirty="0"/>
              <a:t>: Versioning all inputs and outputs, from data science experiments to source data to trained model, means that we can demonstrate exactly how the model was built and where it was deployed.</a:t>
            </a:r>
          </a:p>
          <a:p>
            <a:r>
              <a:rPr lang="en-IN" b="1" dirty="0"/>
              <a:t>Data and model quality</a:t>
            </a:r>
            <a:r>
              <a:rPr lang="en-IN" dirty="0"/>
              <a:t>: </a:t>
            </a:r>
            <a:r>
              <a:rPr lang="en-IN" dirty="0" err="1"/>
              <a:t>MLOps</a:t>
            </a:r>
            <a:r>
              <a:rPr lang="en-IN" dirty="0"/>
              <a:t> lets us enforce policies that guard against model bias and track changes to data statistical properties and model quality over time.</a:t>
            </a:r>
          </a:p>
          <a:p>
            <a:endParaRPr lang="en-IN" dirty="0"/>
          </a:p>
        </p:txBody>
      </p:sp>
    </p:spTree>
    <p:extLst>
      <p:ext uri="{BB962C8B-B14F-4D97-AF65-F5344CB8AC3E}">
        <p14:creationId xmlns:p14="http://schemas.microsoft.com/office/powerpoint/2010/main" val="296451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992" y="365125"/>
            <a:ext cx="11692128" cy="1325563"/>
          </a:xfrm>
        </p:spPr>
        <p:txBody>
          <a:bodyPr/>
          <a:lstStyle/>
          <a:p>
            <a:r>
              <a:rPr lang="en-IN" dirty="0" smtClean="0"/>
              <a:t>MLOPs Architecture (Using </a:t>
            </a:r>
            <a:r>
              <a:rPr lang="en-IN" dirty="0" err="1" smtClean="0"/>
              <a:t>SageMaker</a:t>
            </a:r>
            <a:r>
              <a:rPr lang="en-IN" dirty="0" smtClean="0"/>
              <a:t>)</a:t>
            </a:r>
            <a:endParaRPr lang="en-IN" dirty="0"/>
          </a:p>
        </p:txBody>
      </p:sp>
      <p:sp>
        <p:nvSpPr>
          <p:cNvPr id="3" name="Content Placeholder 2"/>
          <p:cNvSpPr>
            <a:spLocks noGrp="1"/>
          </p:cNvSpPr>
          <p:nvPr>
            <p:ph idx="1"/>
          </p:nvPr>
        </p:nvSpPr>
        <p:spPr/>
        <p:txBody>
          <a:bodyPr/>
          <a:lstStyle/>
          <a:p>
            <a:endParaRPr lang="en-IN"/>
          </a:p>
        </p:txBody>
      </p:sp>
      <p:pic>
        <p:nvPicPr>
          <p:cNvPr id="4" name="Picture 2" descr="Machine Learning Operations (MLOps) - how it works - Amazon Web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95" y="1572769"/>
            <a:ext cx="10626979" cy="5085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734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88040" cy="1097915"/>
          </a:xfrm>
        </p:spPr>
        <p:txBody>
          <a:bodyPr/>
          <a:lstStyle/>
          <a:p>
            <a:r>
              <a:rPr lang="en-IN" dirty="0" smtClean="0"/>
              <a:t>MLOPs (Using </a:t>
            </a:r>
            <a:r>
              <a:rPr lang="en-IN" dirty="0" err="1" smtClean="0"/>
              <a:t>SageMaker,Lambda,API</a:t>
            </a:r>
            <a:r>
              <a:rPr lang="en-IN" dirty="0" smtClean="0"/>
              <a:t> Gateway)</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472" y="2694433"/>
            <a:ext cx="8796528" cy="203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2305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MLOps</a:t>
            </a:r>
            <a:r>
              <a:rPr lang="en-IN" dirty="0"/>
              <a:t> CI/CD </a:t>
            </a:r>
            <a:r>
              <a:rPr lang="en-IN" dirty="0" smtClean="0"/>
              <a:t>pipeline(Using AWS Services)</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341120"/>
            <a:ext cx="12192000" cy="5839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5592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341376"/>
            <a:ext cx="10805160" cy="5835587"/>
          </a:xfrm>
        </p:spPr>
        <p:txBody>
          <a:bodyPr>
            <a:normAutofit fontScale="92500" lnSpcReduction="20000"/>
          </a:bodyPr>
          <a:lstStyle/>
          <a:p>
            <a:r>
              <a:rPr lang="en-IN" dirty="0"/>
              <a:t>The data scientist works on developing custom ML model code using their local notebook or a </a:t>
            </a:r>
            <a:r>
              <a:rPr lang="en-IN" dirty="0" err="1"/>
              <a:t>SageMaker</a:t>
            </a:r>
            <a:r>
              <a:rPr lang="en-IN" dirty="0"/>
              <a:t> notebook. They commit and push changes to a source code repository.</a:t>
            </a:r>
          </a:p>
          <a:p>
            <a:r>
              <a:rPr lang="en-IN" dirty="0"/>
              <a:t>A </a:t>
            </a:r>
            <a:r>
              <a:rPr lang="en-IN" dirty="0" err="1"/>
              <a:t>webhook</a:t>
            </a:r>
            <a:r>
              <a:rPr lang="en-IN" dirty="0"/>
              <a:t> on the code repository triggers a </a:t>
            </a:r>
            <a:r>
              <a:rPr lang="en-IN" dirty="0" err="1"/>
              <a:t>CodePipeline</a:t>
            </a:r>
            <a:r>
              <a:rPr lang="en-IN" dirty="0"/>
              <a:t> build in the AWS Cloud.</a:t>
            </a:r>
          </a:p>
          <a:p>
            <a:r>
              <a:rPr lang="en-IN" dirty="0" err="1"/>
              <a:t>CodePipeline</a:t>
            </a:r>
            <a:r>
              <a:rPr lang="en-IN" dirty="0"/>
              <a:t> downloads the source code and starts the build process.</a:t>
            </a:r>
          </a:p>
          <a:p>
            <a:r>
              <a:rPr lang="en-IN" dirty="0" err="1"/>
              <a:t>CodeBuild</a:t>
            </a:r>
            <a:r>
              <a:rPr lang="en-IN" dirty="0"/>
              <a:t> downloads the necessary source files and starts running commands to build and tag a local Docker container image.</a:t>
            </a:r>
          </a:p>
          <a:p>
            <a:r>
              <a:rPr lang="en-IN" dirty="0" err="1"/>
              <a:t>CodeBuild</a:t>
            </a:r>
            <a:r>
              <a:rPr lang="en-IN" dirty="0"/>
              <a:t> pushes the container image to Amazon ECR. The container image is tagged with a unique label derived from the repository commit hash.</a:t>
            </a:r>
          </a:p>
          <a:p>
            <a:r>
              <a:rPr lang="en-IN" dirty="0" err="1"/>
              <a:t>CodePipeline</a:t>
            </a:r>
            <a:r>
              <a:rPr lang="en-IN" dirty="0"/>
              <a:t> invokes Step Functions and passes the container image URI and the unique container image tag as parameters to Step Functions.</a:t>
            </a:r>
          </a:p>
          <a:p>
            <a:r>
              <a:rPr lang="en-IN" dirty="0"/>
              <a:t>Step Functions starts a workflow by initially calling the </a:t>
            </a:r>
            <a:r>
              <a:rPr lang="en-IN" dirty="0" err="1"/>
              <a:t>SageMaker</a:t>
            </a:r>
            <a:r>
              <a:rPr lang="en-IN" dirty="0"/>
              <a:t> training job and passing the necessary parameters.</a:t>
            </a:r>
          </a:p>
          <a:p>
            <a:r>
              <a:rPr lang="en-IN" dirty="0" err="1"/>
              <a:t>SageMaker</a:t>
            </a:r>
            <a:r>
              <a:rPr lang="en-IN" dirty="0"/>
              <a:t> downloads the necessary container image and starts the training job. When the job is complete, Step Functions directs </a:t>
            </a:r>
            <a:r>
              <a:rPr lang="en-IN" dirty="0" err="1"/>
              <a:t>SageMaker</a:t>
            </a:r>
            <a:r>
              <a:rPr lang="en-IN" dirty="0"/>
              <a:t> to create a model and store the model in the S3 bucket.</a:t>
            </a:r>
          </a:p>
          <a:p>
            <a:endParaRPr lang="en-IN" dirty="0"/>
          </a:p>
        </p:txBody>
      </p:sp>
    </p:spTree>
    <p:extLst>
      <p:ext uri="{BB962C8B-B14F-4D97-AF65-F5344CB8AC3E}">
        <p14:creationId xmlns:p14="http://schemas.microsoft.com/office/powerpoint/2010/main" val="4038008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82880"/>
            <a:ext cx="10805160" cy="5994083"/>
          </a:xfrm>
        </p:spPr>
        <p:txBody>
          <a:bodyPr>
            <a:normAutofit fontScale="77500" lnSpcReduction="20000"/>
          </a:bodyPr>
          <a:lstStyle/>
          <a:p>
            <a:r>
              <a:rPr lang="en-IN" dirty="0"/>
              <a:t>Step Functions starts a </a:t>
            </a:r>
            <a:r>
              <a:rPr lang="en-IN" dirty="0" err="1"/>
              <a:t>SageMaker</a:t>
            </a:r>
            <a:r>
              <a:rPr lang="en-IN" dirty="0"/>
              <a:t> batch transform job on the test data provided in the S3 bucket.</a:t>
            </a:r>
          </a:p>
          <a:p>
            <a:r>
              <a:rPr lang="en-IN" dirty="0"/>
              <a:t>When the batch transform job is complete, Step Functions sends an email to the user using </a:t>
            </a:r>
            <a:r>
              <a:rPr lang="en-IN" dirty="0">
                <a:hlinkClick r:id="rId2"/>
              </a:rPr>
              <a:t>Amazon Simple Notification Service</a:t>
            </a:r>
            <a:r>
              <a:rPr lang="en-IN" dirty="0"/>
              <a:t> (Amazon SNS). This email includes the details of the batch transform job and links to the test data prediction outcome stored in the S3 bucket. After sending the email, Step Function enters a manual wait phase.</a:t>
            </a:r>
          </a:p>
          <a:p>
            <a:r>
              <a:rPr lang="en-IN" dirty="0"/>
              <a:t>The email sent by Amazon SNS has links to either accept or reject the test results. The recipient can manually look at the test data prediction outcomes in the S3 bucket. If they’re not satisfied with the results, they can reject the changes to cancel the Step Functions workflow.</a:t>
            </a:r>
          </a:p>
          <a:p>
            <a:r>
              <a:rPr lang="en-IN" dirty="0"/>
              <a:t>If the recipient accepts the changes, an </a:t>
            </a:r>
            <a:r>
              <a:rPr lang="en-IN" dirty="0">
                <a:hlinkClick r:id="rId3"/>
              </a:rPr>
              <a:t>Amazon API Gateway</a:t>
            </a:r>
            <a:r>
              <a:rPr lang="en-IN" dirty="0"/>
              <a:t> endpoint invokes a Lambda function with an embedded token that references the waiting Step Functions step.</a:t>
            </a:r>
          </a:p>
          <a:p>
            <a:r>
              <a:rPr lang="en-IN" dirty="0"/>
              <a:t>The Lambda function calls Step Functions to continue the workflow.</a:t>
            </a:r>
          </a:p>
          <a:p>
            <a:r>
              <a:rPr lang="en-IN" dirty="0"/>
              <a:t>Step Functions resumes the workflow.</a:t>
            </a:r>
          </a:p>
          <a:p>
            <a:r>
              <a:rPr lang="en-IN" dirty="0"/>
              <a:t>Step Functions creates a </a:t>
            </a:r>
            <a:r>
              <a:rPr lang="en-IN" dirty="0" err="1"/>
              <a:t>SageMaker</a:t>
            </a:r>
            <a:r>
              <a:rPr lang="en-IN" dirty="0"/>
              <a:t> endpoint </a:t>
            </a:r>
            <a:r>
              <a:rPr lang="en-IN" dirty="0" err="1"/>
              <a:t>config</a:t>
            </a:r>
            <a:r>
              <a:rPr lang="en-IN" dirty="0"/>
              <a:t> and a </a:t>
            </a:r>
            <a:r>
              <a:rPr lang="en-IN" dirty="0" err="1"/>
              <a:t>SageMaker</a:t>
            </a:r>
            <a:r>
              <a:rPr lang="en-IN" dirty="0"/>
              <a:t> inference endpoint.</a:t>
            </a:r>
          </a:p>
          <a:p>
            <a:r>
              <a:rPr lang="en-IN" dirty="0"/>
              <a:t>When the workflow is successful, Step Functions sends an email with a link to the final </a:t>
            </a:r>
            <a:r>
              <a:rPr lang="en-IN" dirty="0" err="1"/>
              <a:t>SageMaker</a:t>
            </a:r>
            <a:r>
              <a:rPr lang="en-IN" dirty="0"/>
              <a:t> inference endpoint.</a:t>
            </a:r>
          </a:p>
          <a:p>
            <a:endParaRPr lang="en-IN" dirty="0"/>
          </a:p>
        </p:txBody>
      </p:sp>
    </p:spTree>
    <p:extLst>
      <p:ext uri="{BB962C8B-B14F-4D97-AF65-F5344CB8AC3E}">
        <p14:creationId xmlns:p14="http://schemas.microsoft.com/office/powerpoint/2010/main" val="52713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AWS Free Account Creation</a:t>
            </a:r>
            <a:endParaRPr lang="en-IN" dirty="0"/>
          </a:p>
        </p:txBody>
      </p:sp>
      <p:sp>
        <p:nvSpPr>
          <p:cNvPr id="3" name="Content Placeholder 2"/>
          <p:cNvSpPr>
            <a:spLocks noGrp="1"/>
          </p:cNvSpPr>
          <p:nvPr>
            <p:ph idx="1"/>
          </p:nvPr>
        </p:nvSpPr>
        <p:spPr/>
        <p:txBody>
          <a:bodyPr/>
          <a:lstStyle/>
          <a:p>
            <a:r>
              <a:rPr lang="en-IN" dirty="0"/>
              <a:t>https://aws.amazon.com/free</a:t>
            </a:r>
          </a:p>
        </p:txBody>
      </p:sp>
    </p:spTree>
    <p:extLst>
      <p:ext uri="{BB962C8B-B14F-4D97-AF65-F5344CB8AC3E}">
        <p14:creationId xmlns:p14="http://schemas.microsoft.com/office/powerpoint/2010/main" val="2554095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DVC (Data Version Control)</a:t>
            </a:r>
            <a:endParaRPr lang="en-IN" dirty="0"/>
          </a:p>
        </p:txBody>
      </p:sp>
      <p:sp>
        <p:nvSpPr>
          <p:cNvPr id="3" name="Content Placeholder 2"/>
          <p:cNvSpPr>
            <a:spLocks noGrp="1"/>
          </p:cNvSpPr>
          <p:nvPr>
            <p:ph idx="1"/>
          </p:nvPr>
        </p:nvSpPr>
        <p:spPr/>
        <p:txBody>
          <a:bodyPr/>
          <a:lstStyle/>
          <a:p>
            <a:r>
              <a:rPr lang="en-IN" dirty="0"/>
              <a:t>Data Version Control, or DVC, is a data and ML experiments management tool which is very similar to Git. It helps us to track and save data and ML models. DVC saves information about the data in special </a:t>
            </a:r>
            <a:r>
              <a:rPr lang="en-IN" u="sng" dirty="0">
                <a:hlinkClick r:id="rId2"/>
              </a:rPr>
              <a:t>metafiles</a:t>
            </a:r>
            <a:r>
              <a:rPr lang="en-IN" dirty="0"/>
              <a:t> that replace the data in the repository. These can be versioned with regular Git workflows (branches, pull requests, </a:t>
            </a:r>
            <a:r>
              <a:rPr lang="en-IN" dirty="0" err="1"/>
              <a:t>etc</a:t>
            </a:r>
            <a:r>
              <a:rPr lang="en-IN" dirty="0"/>
              <a:t>). DVC uses a built-in cache to store the data, and supports synchronizing it with remote storage options like was s3, google drive, Microsoft azure, google cloud etc.</a:t>
            </a:r>
          </a:p>
        </p:txBody>
      </p:sp>
    </p:spTree>
    <p:extLst>
      <p:ext uri="{BB962C8B-B14F-4D97-AF65-F5344CB8AC3E}">
        <p14:creationId xmlns:p14="http://schemas.microsoft.com/office/powerpoint/2010/main" val="3943811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AWS </a:t>
            </a:r>
            <a:r>
              <a:rPr lang="en-IN" b="1" smtClean="0"/>
              <a:t>S3 </a:t>
            </a:r>
            <a:r>
              <a:rPr lang="en-IN" b="1" dirty="0"/>
              <a:t/>
            </a:r>
            <a:br>
              <a:rPr lang="en-IN" b="1" dirty="0"/>
            </a:br>
            <a:endParaRPr lang="en-IN" dirty="0"/>
          </a:p>
        </p:txBody>
      </p:sp>
      <p:sp>
        <p:nvSpPr>
          <p:cNvPr id="3" name="Content Placeholder 2"/>
          <p:cNvSpPr>
            <a:spLocks noGrp="1"/>
          </p:cNvSpPr>
          <p:nvPr>
            <p:ph idx="1"/>
          </p:nvPr>
        </p:nvSpPr>
        <p:spPr/>
        <p:txBody>
          <a:bodyPr/>
          <a:lstStyle/>
          <a:p>
            <a:r>
              <a:rPr lang="en-IN" dirty="0"/>
              <a:t>Amazon Simple Storage Service (Amazon S3) is an object storage service offering industry-leading scalability, data availability, security, and performance. Customers of all sizes and industries can store and protect any amount of data for virtually any use case, such as data lakes, cloud-native applications, and mobile apps. With cost-effective storage classes and easy-to-use management features, you can optimize costs, organize data, and configure fine-tuned access controls to meet specific business, organizational, and compliance requirements.</a:t>
            </a:r>
          </a:p>
        </p:txBody>
      </p:sp>
    </p:spTree>
    <p:extLst>
      <p:ext uri="{BB962C8B-B14F-4D97-AF65-F5344CB8AC3E}">
        <p14:creationId xmlns:p14="http://schemas.microsoft.com/office/powerpoint/2010/main" val="28315962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1528</TotalTime>
  <Words>891</Words>
  <Application>Microsoft Office PowerPoint</Application>
  <PresentationFormat>Custom</PresentationFormat>
  <Paragraphs>66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What is ML-OPs</vt:lpstr>
      <vt:lpstr>PowerPoint Presentation</vt:lpstr>
      <vt:lpstr>PowerPoint Presentation</vt:lpstr>
      <vt:lpstr>MLOps is not a single tool or platform</vt:lpstr>
      <vt:lpstr>MLOPs Stack</vt:lpstr>
      <vt:lpstr>DevOps</vt:lpstr>
      <vt:lpstr>MLOps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Benefits of MLOps </vt:lpstr>
      <vt:lpstr>MLOPs Architecture (Using SageMaker)</vt:lpstr>
      <vt:lpstr>MLOPs (Using SageMaker,Lambda,API Gateway)</vt:lpstr>
      <vt:lpstr>MLOps CI/CD pipeline(Using AWS Services)</vt:lpstr>
      <vt:lpstr>PowerPoint Presentation</vt:lpstr>
      <vt:lpstr>PowerPoint Presentation</vt:lpstr>
      <vt:lpstr>AWS Free Account Creation</vt:lpstr>
      <vt:lpstr>DVC (Data Version Control)</vt:lpstr>
      <vt:lpstr>AWS S3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Nisha</dc:creator>
  <cp:lastModifiedBy>kumar</cp:lastModifiedBy>
  <cp:revision>81</cp:revision>
  <dcterms:created xsi:type="dcterms:W3CDTF">2022-07-08T02:44:44Z</dcterms:created>
  <dcterms:modified xsi:type="dcterms:W3CDTF">2022-07-18T13:17:23Z</dcterms:modified>
</cp:coreProperties>
</file>
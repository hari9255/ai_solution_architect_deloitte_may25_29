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C4E-45A7-4EED-5CAC-FF325F4FE5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2D0BB5-179F-F55F-2484-6A5EAEA365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7DA9048-300C-E12D-A8A8-B7FED29C3FD3}"/>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FE654EAA-1D98-61CB-2641-883E73FC0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399214-C028-C2AF-5BE2-785C45D472F6}"/>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1644826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430C7-DB7A-068B-12C1-B5EAD28A2E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D270F0-C9E9-8C03-2C64-197297453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ABD05A-ED53-D580-7141-860EB800BF26}"/>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0EA70871-5DAB-3232-4A80-DB0CE957E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06808C-2314-B532-BBA9-16FCC6131D43}"/>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149649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55329-181B-7C06-1263-A2B35DABE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C9D7E6-03FD-66A4-C0B0-1904808E31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9024FE-F481-719A-55D0-CBEE5EF05A74}"/>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924347D9-3143-9D61-D042-F6F69A7607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4727D5-FCC8-04AD-237B-589E2248CBAA}"/>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2444893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DC139-4367-2650-4A88-484CDF2662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370FE44-15E5-C80E-FF91-64EDB0A47B4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77BD57-33E5-F44B-DD16-A512B2B564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7D4B1C6-E9B3-3594-69B5-B78BE5AE1B3C}"/>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6" name="Footer Placeholder 5">
            <a:extLst>
              <a:ext uri="{FF2B5EF4-FFF2-40B4-BE49-F238E27FC236}">
                <a16:creationId xmlns:a16="http://schemas.microsoft.com/office/drawing/2014/main" id="{245D6F74-2653-6319-D1B1-7CCF694C7B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0BA695-48A2-0F8F-B399-FF45E6848AA5}"/>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233362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4A56-96A0-2750-4A68-5949823905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EC8047-DFF6-A105-0644-514DF9788A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61CA95-AF9C-2513-60D5-6CB8AA36DC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196ED6-C09E-A3E3-E8DD-EE91F44AA2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FFD335-FE6D-80E9-1C6D-E64ECB2360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671D6C-4041-6C89-1B8D-2BEFD2779EF0}"/>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8" name="Footer Placeholder 7">
            <a:extLst>
              <a:ext uri="{FF2B5EF4-FFF2-40B4-BE49-F238E27FC236}">
                <a16:creationId xmlns:a16="http://schemas.microsoft.com/office/drawing/2014/main" id="{491A8C32-4C30-A353-F3CB-E95615132D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6E9150-B482-A887-2438-9C63712D521F}"/>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161448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2D02D-AC8D-3233-93EB-2EFA026CA2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A30ABA-3EEA-61FD-320D-D04D9E540106}"/>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4" name="Footer Placeholder 3">
            <a:extLst>
              <a:ext uri="{FF2B5EF4-FFF2-40B4-BE49-F238E27FC236}">
                <a16:creationId xmlns:a16="http://schemas.microsoft.com/office/drawing/2014/main" id="{6B61F5A0-F4A8-253B-B3BA-EC9AC90394C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A6ED11E-6056-C134-ED2C-F2109537D1E9}"/>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3145379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1B36C-61AF-29CF-BA97-B09E0310ABA0}"/>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3" name="Footer Placeholder 2">
            <a:extLst>
              <a:ext uri="{FF2B5EF4-FFF2-40B4-BE49-F238E27FC236}">
                <a16:creationId xmlns:a16="http://schemas.microsoft.com/office/drawing/2014/main" id="{D90DB3B3-9F19-CC51-5696-A0CD4481CD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44810BE-BDC7-AEFD-C1AC-ADE22C67748F}"/>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1798642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F289-1C83-AF12-3DEE-E2696D13E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9BFDBA-2F6D-356C-8FD9-78264D5F42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918DAE-9775-B697-B79E-F4F02B5B3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311A7F-52B5-C42E-BD50-3B7064128666}"/>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6" name="Footer Placeholder 5">
            <a:extLst>
              <a:ext uri="{FF2B5EF4-FFF2-40B4-BE49-F238E27FC236}">
                <a16:creationId xmlns:a16="http://schemas.microsoft.com/office/drawing/2014/main" id="{1D04D55A-B51C-7ADC-5AD0-BDE082D8C6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E702E3-5BAC-08F1-B9A4-2FEDDF255DF2}"/>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11904283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1EAA-F96E-150C-1ABE-97BCDE76F6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1394BD-11DC-5E03-F771-29AFE3EED8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53DC7A-B9E6-01DD-8283-D733D1239A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95EA05-C582-C6D9-1DFC-B01F26DB3068}"/>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6" name="Footer Placeholder 5">
            <a:extLst>
              <a:ext uri="{FF2B5EF4-FFF2-40B4-BE49-F238E27FC236}">
                <a16:creationId xmlns:a16="http://schemas.microsoft.com/office/drawing/2014/main" id="{647994AC-6213-0FE6-2733-C4E9EA145C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404337-A64F-607D-7BB7-28A3619325EB}"/>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259697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78353-52FC-A5D4-C0DB-7E0C417E39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8686AB-9275-FDEA-C2C4-2F45052EA4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6AA898-157E-460A-1D84-C77D7B6EC991}"/>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49DC92F5-3198-AF0C-05E2-CE02056616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92379D-5E72-5E3E-9F72-03440102B6A9}"/>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285457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BB3EBD-300D-37E3-1EF7-5C8EEE63476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EA53E1-8F35-1F10-E196-6E6D0FF710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95B204-D6B0-51B3-F351-1C3230221DF4}"/>
              </a:ext>
            </a:extLst>
          </p:cNvPr>
          <p:cNvSpPr>
            <a:spLocks noGrp="1"/>
          </p:cNvSpPr>
          <p:nvPr>
            <p:ph type="dt" sz="half" idx="10"/>
          </p:nvPr>
        </p:nvSpPr>
        <p:spPr/>
        <p:txBody>
          <a:body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8AA547AF-AB03-5EEE-8B46-B6AE2580AA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6D60F8-A2CB-E236-FF55-65B973A92BE4}"/>
              </a:ext>
            </a:extLst>
          </p:cNvPr>
          <p:cNvSpPr>
            <a:spLocks noGrp="1"/>
          </p:cNvSpPr>
          <p:nvPr>
            <p:ph type="sldNum" sz="quarter" idx="12"/>
          </p:nvPr>
        </p:nvSpPr>
        <p:spPr/>
        <p:txBody>
          <a:bodyPr/>
          <a:lstStyle/>
          <a:p>
            <a:fld id="{129AEAFC-AEC4-4757-B5F9-CD92F08F4011}" type="slidenum">
              <a:rPr lang="en-IN" smtClean="0"/>
              <a:t>‹#›</a:t>
            </a:fld>
            <a:endParaRPr lang="en-IN"/>
          </a:p>
        </p:txBody>
      </p:sp>
    </p:spTree>
    <p:extLst>
      <p:ext uri="{BB962C8B-B14F-4D97-AF65-F5344CB8AC3E}">
        <p14:creationId xmlns:p14="http://schemas.microsoft.com/office/powerpoint/2010/main" val="38502023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73BF46-4BC1-AB22-C24C-C47668AB1E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3C1209-68E9-F085-FE86-F83F0925CA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E2DF20-826D-853C-AA12-E9EE2DF0F5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C35534-DF2C-4C75-AE00-49CCBC0F5917}" type="datetimeFigureOut">
              <a:rPr lang="en-IN" smtClean="0"/>
              <a:t>13-11-2024</a:t>
            </a:fld>
            <a:endParaRPr lang="en-IN"/>
          </a:p>
        </p:txBody>
      </p:sp>
      <p:sp>
        <p:nvSpPr>
          <p:cNvPr id="5" name="Footer Placeholder 4">
            <a:extLst>
              <a:ext uri="{FF2B5EF4-FFF2-40B4-BE49-F238E27FC236}">
                <a16:creationId xmlns:a16="http://schemas.microsoft.com/office/drawing/2014/main" id="{C6803D2C-6860-3104-387C-E377C74FA7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62BEE4C-9DEC-390D-066A-B07FD4710C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9AEAFC-AEC4-4757-B5F9-CD92F08F4011}" type="slidenum">
              <a:rPr lang="en-IN" smtClean="0"/>
              <a:t>‹#›</a:t>
            </a:fld>
            <a:endParaRPr lang="en-IN"/>
          </a:p>
        </p:txBody>
      </p:sp>
    </p:spTree>
    <p:extLst>
      <p:ext uri="{BB962C8B-B14F-4D97-AF65-F5344CB8AC3E}">
        <p14:creationId xmlns:p14="http://schemas.microsoft.com/office/powerpoint/2010/main" val="3044250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E669A-29F2-9FEA-610F-A019E5A34298}"/>
              </a:ext>
            </a:extLst>
          </p:cNvPr>
          <p:cNvSpPr>
            <a:spLocks noGrp="1"/>
          </p:cNvSpPr>
          <p:nvPr>
            <p:ph type="ctrTitle"/>
          </p:nvPr>
        </p:nvSpPr>
        <p:spPr/>
        <p:txBody>
          <a:bodyPr>
            <a:normAutofit fontScale="90000"/>
          </a:bodyPr>
          <a:lstStyle/>
          <a:p>
            <a:r>
              <a:rPr lang="en-IN" b="1" i="0" dirty="0">
                <a:effectLst/>
                <a:latin typeface="Poppins" panose="00000500000000000000" pitchFamily="2" charset="0"/>
              </a:rPr>
              <a:t>Evaluate RAG System</a:t>
            </a:r>
            <a:br>
              <a:rPr lang="en-IN" b="1" i="0" dirty="0">
                <a:effectLst/>
                <a:latin typeface="Poppins" panose="00000500000000000000" pitchFamily="2" charset="0"/>
              </a:rPr>
            </a:br>
            <a:r>
              <a:rPr lang="en-IN" b="1" i="0" dirty="0">
                <a:effectLst/>
                <a:latin typeface="Poppins" panose="00000500000000000000" pitchFamily="2" charset="0"/>
              </a:rPr>
              <a:t>&amp;</a:t>
            </a:r>
            <a:br>
              <a:rPr lang="en-IN" b="1" i="0" dirty="0">
                <a:effectLst/>
                <a:latin typeface="Poppins" panose="00000500000000000000" pitchFamily="2" charset="0"/>
              </a:rPr>
            </a:br>
            <a:r>
              <a:rPr lang="en-IN" b="1" i="0" dirty="0">
                <a:effectLst/>
                <a:latin typeface="Poppins" panose="00000500000000000000" pitchFamily="2" charset="0"/>
              </a:rPr>
              <a:t>Evaluation Metrics</a:t>
            </a:r>
            <a:br>
              <a:rPr lang="en-IN" b="1" i="0" dirty="0">
                <a:effectLst/>
                <a:latin typeface="Poppins" panose="00000500000000000000" pitchFamily="2" charset="0"/>
              </a:rPr>
            </a:br>
            <a:endParaRPr lang="en-IN" dirty="0"/>
          </a:p>
        </p:txBody>
      </p:sp>
    </p:spTree>
    <p:extLst>
      <p:ext uri="{BB962C8B-B14F-4D97-AF65-F5344CB8AC3E}">
        <p14:creationId xmlns:p14="http://schemas.microsoft.com/office/powerpoint/2010/main" val="1619023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189F0-A1D7-2E06-9787-8FBEFBC1178B}"/>
              </a:ext>
            </a:extLst>
          </p:cNvPr>
          <p:cNvSpPr>
            <a:spLocks noGrp="1"/>
          </p:cNvSpPr>
          <p:nvPr>
            <p:ph type="title"/>
          </p:nvPr>
        </p:nvSpPr>
        <p:spPr/>
        <p:txBody>
          <a:bodyPr/>
          <a:lstStyle/>
          <a:p>
            <a:r>
              <a:rPr lang="en-US" b="0" i="0" dirty="0">
                <a:solidFill>
                  <a:srgbClr val="2C3E50"/>
                </a:solidFill>
                <a:effectLst/>
                <a:latin typeface="PT Serif" panose="020F0502020204030204" pitchFamily="18" charset="0"/>
              </a:rPr>
              <a:t>components in a RAG system</a:t>
            </a:r>
            <a:endParaRPr lang="en-IN" dirty="0"/>
          </a:p>
        </p:txBody>
      </p:sp>
      <p:sp>
        <p:nvSpPr>
          <p:cNvPr id="3" name="Content Placeholder 2">
            <a:extLst>
              <a:ext uri="{FF2B5EF4-FFF2-40B4-BE49-F238E27FC236}">
                <a16:creationId xmlns:a16="http://schemas.microsoft.com/office/drawing/2014/main" id="{AE1A0A8E-7489-08C4-3D62-232D306DB7AC}"/>
              </a:ext>
            </a:extLst>
          </p:cNvPr>
          <p:cNvSpPr>
            <a:spLocks noGrp="1"/>
          </p:cNvSpPr>
          <p:nvPr>
            <p:ph idx="1"/>
          </p:nvPr>
        </p:nvSpPr>
        <p:spPr/>
        <p:txBody>
          <a:bodyPr>
            <a:normAutofit fontScale="92500" lnSpcReduction="20000"/>
          </a:bodyPr>
          <a:lstStyle/>
          <a:p>
            <a:r>
              <a:rPr lang="en-US" b="1" dirty="0"/>
              <a:t>Retriever</a:t>
            </a:r>
            <a:r>
              <a:rPr lang="en-US" dirty="0"/>
              <a:t>: It identifies the most relevant information from the vector database using the power of similarity search. This stage is the most critical part of any RAG system as it sets the foundation for the quality of the final output. The retriever searches a vector database to find documents relevant to the user query. It involves encoding the query and the documents into vectors and using similarity measures to find the closest matches.</a:t>
            </a:r>
          </a:p>
          <a:p>
            <a:endParaRPr lang="en-US" dirty="0"/>
          </a:p>
          <a:p>
            <a:r>
              <a:rPr lang="en-US" b="1" dirty="0"/>
              <a:t>Response generator</a:t>
            </a:r>
            <a:r>
              <a:rPr lang="en-US" dirty="0"/>
              <a:t>: Once the relevant documents are retrieved, the user query and the retrieved documents are passed to the LLM model to generate a coherent, relevant, and informative response. The generator (LLM) takes the context provided by the retriever and the original query to generate an accurate response.</a:t>
            </a:r>
            <a:endParaRPr lang="en-IN" dirty="0"/>
          </a:p>
        </p:txBody>
      </p:sp>
    </p:spTree>
    <p:extLst>
      <p:ext uri="{BB962C8B-B14F-4D97-AF65-F5344CB8AC3E}">
        <p14:creationId xmlns:p14="http://schemas.microsoft.com/office/powerpoint/2010/main" val="520886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09EA6-6B78-1A26-A858-E39E7A6DB55F}"/>
              </a:ext>
            </a:extLst>
          </p:cNvPr>
          <p:cNvSpPr>
            <a:spLocks noGrp="1"/>
          </p:cNvSpPr>
          <p:nvPr>
            <p:ph type="title"/>
          </p:nvPr>
        </p:nvSpPr>
        <p:spPr/>
        <p:txBody>
          <a:bodyPr/>
          <a:lstStyle/>
          <a:p>
            <a:r>
              <a:rPr lang="en-IN" b="1" i="0" dirty="0">
                <a:effectLst/>
                <a:latin typeface="Poppins" panose="00000500000000000000" pitchFamily="2" charset="0"/>
              </a:rPr>
              <a:t>Retrieval Evaluation</a:t>
            </a:r>
            <a:br>
              <a:rPr lang="en-IN"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D7423BCE-DCBE-9320-AE76-8BAE0ED354B6}"/>
              </a:ext>
            </a:extLst>
          </p:cNvPr>
          <p:cNvSpPr>
            <a:spLocks noGrp="1"/>
          </p:cNvSpPr>
          <p:nvPr>
            <p:ph idx="1"/>
          </p:nvPr>
        </p:nvSpPr>
        <p:spPr>
          <a:xfrm>
            <a:off x="838200" y="988117"/>
            <a:ext cx="10515600" cy="4351338"/>
          </a:xfrm>
        </p:spPr>
        <p:txBody>
          <a:bodyPr/>
          <a:lstStyle/>
          <a:p>
            <a:r>
              <a:rPr lang="en-US" b="0" i="0" dirty="0">
                <a:solidFill>
                  <a:srgbClr val="2C3E50"/>
                </a:solidFill>
                <a:effectLst/>
                <a:latin typeface="PT Serif" panose="020A0603040505020204" pitchFamily="18" charset="0"/>
              </a:rPr>
              <a:t>Retrieval evaluations are applied to the retriever component of an RAG system, which typically uses a vector database. These evaluations measure how effectively the retriever identifies and ranks relevant documents in response to a user query. The primary goal of retrieval evaluations is to assess </a:t>
            </a:r>
            <a:r>
              <a:rPr lang="en-US" b="1" i="0" dirty="0">
                <a:solidFill>
                  <a:srgbClr val="2C3E50"/>
                </a:solidFill>
                <a:effectLst/>
                <a:latin typeface="PT Serif" panose="020A0603040505020204" pitchFamily="18" charset="0"/>
              </a:rPr>
              <a:t>context relevance</a:t>
            </a:r>
            <a:r>
              <a:rPr lang="en-US" b="0" i="0" dirty="0">
                <a:solidFill>
                  <a:srgbClr val="2C3E50"/>
                </a:solidFill>
                <a:effectLst/>
                <a:latin typeface="PT Serif" panose="020A0603040505020204" pitchFamily="18" charset="0"/>
              </a:rPr>
              <a:t>—how well the retrieved documents align with the user's query. It ensures that the context provided to the generation component is pertinent and accurate.</a:t>
            </a:r>
            <a:endParaRPr lang="en-IN" dirty="0"/>
          </a:p>
        </p:txBody>
      </p:sp>
      <p:pic>
        <p:nvPicPr>
          <p:cNvPr id="1026" name="Picture 2" descr="Context">
            <a:extLst>
              <a:ext uri="{FF2B5EF4-FFF2-40B4-BE49-F238E27FC236}">
                <a16:creationId xmlns:a16="http://schemas.microsoft.com/office/drawing/2014/main" id="{3B088694-C527-69C1-BCA9-6DBFAE8E0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7022" y="4409872"/>
            <a:ext cx="4857750" cy="155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1914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72ED3-7336-F93E-B600-A16B14999CF3}"/>
              </a:ext>
            </a:extLst>
          </p:cNvPr>
          <p:cNvSpPr>
            <a:spLocks noGrp="1"/>
          </p:cNvSpPr>
          <p:nvPr>
            <p:ph type="title"/>
          </p:nvPr>
        </p:nvSpPr>
        <p:spPr/>
        <p:txBody>
          <a:bodyPr/>
          <a:lstStyle/>
          <a:p>
            <a:r>
              <a:rPr lang="en-IN" b="1" i="0" dirty="0">
                <a:effectLst/>
                <a:latin typeface="Poppins" panose="00000500000000000000" pitchFamily="2" charset="0"/>
              </a:rPr>
              <a:t>Retrieval Evaluation</a:t>
            </a:r>
            <a:endParaRPr lang="en-IN" dirty="0"/>
          </a:p>
        </p:txBody>
      </p:sp>
      <p:sp>
        <p:nvSpPr>
          <p:cNvPr id="3" name="Content Placeholder 2">
            <a:extLst>
              <a:ext uri="{FF2B5EF4-FFF2-40B4-BE49-F238E27FC236}">
                <a16:creationId xmlns:a16="http://schemas.microsoft.com/office/drawing/2014/main" id="{F9A60EB5-96E2-810D-DAA6-2A1A65B0863C}"/>
              </a:ext>
            </a:extLst>
          </p:cNvPr>
          <p:cNvSpPr>
            <a:spLocks noGrp="1"/>
          </p:cNvSpPr>
          <p:nvPr>
            <p:ph idx="1"/>
          </p:nvPr>
        </p:nvSpPr>
        <p:spPr/>
        <p:txBody>
          <a:bodyPr/>
          <a:lstStyle/>
          <a:p>
            <a:r>
              <a:rPr lang="en-US" b="1" dirty="0"/>
              <a:t>Precision</a:t>
            </a:r>
            <a:r>
              <a:rPr lang="en-US" dirty="0"/>
              <a:t> measures the accuracy of the retrieved documents. It is the ratio of the number of relevant documents retrieved to the total number of documents retrieved. It’s defined as:</a:t>
            </a:r>
          </a:p>
          <a:p>
            <a:endParaRPr lang="en-US" dirty="0"/>
          </a:p>
          <a:p>
            <a:endParaRPr lang="en-US" dirty="0"/>
          </a:p>
          <a:p>
            <a:endParaRPr lang="en-US" dirty="0"/>
          </a:p>
          <a:p>
            <a:endParaRPr lang="en-IN" dirty="0"/>
          </a:p>
        </p:txBody>
      </p:sp>
      <p:pic>
        <p:nvPicPr>
          <p:cNvPr id="6" name="Picture 5">
            <a:extLst>
              <a:ext uri="{FF2B5EF4-FFF2-40B4-BE49-F238E27FC236}">
                <a16:creationId xmlns:a16="http://schemas.microsoft.com/office/drawing/2014/main" id="{A86A246D-C481-6B80-8C57-5573E6E9064E}"/>
              </a:ext>
            </a:extLst>
          </p:cNvPr>
          <p:cNvPicPr>
            <a:picLocks noChangeAspect="1"/>
          </p:cNvPicPr>
          <p:nvPr/>
        </p:nvPicPr>
        <p:blipFill>
          <a:blip r:embed="rId2"/>
          <a:stretch>
            <a:fillRect/>
          </a:stretch>
        </p:blipFill>
        <p:spPr>
          <a:xfrm>
            <a:off x="1226104" y="3075354"/>
            <a:ext cx="8009314" cy="3101609"/>
          </a:xfrm>
          <a:prstGeom prst="rect">
            <a:avLst/>
          </a:prstGeom>
        </p:spPr>
      </p:pic>
    </p:spTree>
    <p:extLst>
      <p:ext uri="{BB962C8B-B14F-4D97-AF65-F5344CB8AC3E}">
        <p14:creationId xmlns:p14="http://schemas.microsoft.com/office/powerpoint/2010/main" val="139425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BB641-0A69-4DB7-71E8-8B965FCAD7EE}"/>
              </a:ext>
            </a:extLst>
          </p:cNvPr>
          <p:cNvSpPr>
            <a:spLocks noGrp="1"/>
          </p:cNvSpPr>
          <p:nvPr>
            <p:ph idx="1"/>
          </p:nvPr>
        </p:nvSpPr>
        <p:spPr>
          <a:xfrm>
            <a:off x="285135" y="167148"/>
            <a:ext cx="11068665" cy="6009815"/>
          </a:xfrm>
        </p:spPr>
        <p:txBody>
          <a:bodyPr/>
          <a:lstStyle/>
          <a:p>
            <a:r>
              <a:rPr lang="en-US" b="1" i="0" dirty="0">
                <a:solidFill>
                  <a:srgbClr val="2C3E50"/>
                </a:solidFill>
                <a:effectLst/>
                <a:latin typeface="PT Serif" panose="020A0603040505020204" pitchFamily="18" charset="0"/>
              </a:rPr>
              <a:t>Recall</a:t>
            </a:r>
            <a:r>
              <a:rPr lang="en-US" b="0" i="0" dirty="0">
                <a:solidFill>
                  <a:srgbClr val="2C3E50"/>
                </a:solidFill>
                <a:effectLst/>
                <a:latin typeface="PT Serif" panose="020A0603040505020204" pitchFamily="18" charset="0"/>
              </a:rPr>
              <a:t> measures the comprehensiveness of the retrieved documents. It is the ratio of the </a:t>
            </a:r>
            <a:r>
              <a:rPr lang="en-US" b="1" i="0" dirty="0">
                <a:solidFill>
                  <a:srgbClr val="2C3E50"/>
                </a:solidFill>
                <a:effectLst/>
                <a:latin typeface="PT Serif" panose="020A0603040505020204" pitchFamily="18" charset="0"/>
              </a:rPr>
              <a:t>number of relevant documents retrieved</a:t>
            </a:r>
            <a:r>
              <a:rPr lang="en-US" b="0" i="0" dirty="0">
                <a:solidFill>
                  <a:srgbClr val="2C3E50"/>
                </a:solidFill>
                <a:effectLst/>
                <a:latin typeface="PT Serif" panose="020A0603040505020204" pitchFamily="18" charset="0"/>
              </a:rPr>
              <a:t> to the </a:t>
            </a:r>
            <a:r>
              <a:rPr lang="en-US" b="1" i="0" dirty="0">
                <a:solidFill>
                  <a:srgbClr val="2C3E50"/>
                </a:solidFill>
                <a:effectLst/>
                <a:latin typeface="PT Serif" panose="020A0603040505020204" pitchFamily="18" charset="0"/>
              </a:rPr>
              <a:t>total number of relevant documents in the database</a:t>
            </a:r>
            <a:r>
              <a:rPr lang="en-US" b="0" i="0" dirty="0">
                <a:solidFill>
                  <a:srgbClr val="2C3E50"/>
                </a:solidFill>
                <a:effectLst/>
                <a:latin typeface="PT Serif" panose="020A0603040505020204" pitchFamily="18" charset="0"/>
              </a:rPr>
              <a:t> for the given query. It’s defined as:</a:t>
            </a:r>
          </a:p>
          <a:p>
            <a:endParaRPr lang="en-US" dirty="0">
              <a:solidFill>
                <a:srgbClr val="2C3E50"/>
              </a:solidFill>
              <a:latin typeface="PT Serif" panose="020A0603040505020204" pitchFamily="18" charset="0"/>
            </a:endParaRPr>
          </a:p>
          <a:p>
            <a:endParaRPr lang="en-IN" dirty="0"/>
          </a:p>
        </p:txBody>
      </p:sp>
      <p:pic>
        <p:nvPicPr>
          <p:cNvPr id="5" name="Picture 4">
            <a:extLst>
              <a:ext uri="{FF2B5EF4-FFF2-40B4-BE49-F238E27FC236}">
                <a16:creationId xmlns:a16="http://schemas.microsoft.com/office/drawing/2014/main" id="{FAE5AD82-8B89-E498-F6CA-73E1C25B71D4}"/>
              </a:ext>
            </a:extLst>
          </p:cNvPr>
          <p:cNvPicPr>
            <a:picLocks noChangeAspect="1"/>
          </p:cNvPicPr>
          <p:nvPr/>
        </p:nvPicPr>
        <p:blipFill>
          <a:blip r:embed="rId2"/>
          <a:stretch>
            <a:fillRect/>
          </a:stretch>
        </p:blipFill>
        <p:spPr>
          <a:xfrm>
            <a:off x="1342732" y="2317794"/>
            <a:ext cx="8169348" cy="2804403"/>
          </a:xfrm>
          <a:prstGeom prst="rect">
            <a:avLst/>
          </a:prstGeom>
        </p:spPr>
      </p:pic>
    </p:spTree>
    <p:extLst>
      <p:ext uri="{BB962C8B-B14F-4D97-AF65-F5344CB8AC3E}">
        <p14:creationId xmlns:p14="http://schemas.microsoft.com/office/powerpoint/2010/main" val="711633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47B84C-2446-1FCE-6238-5C0CC4E9D439}"/>
              </a:ext>
            </a:extLst>
          </p:cNvPr>
          <p:cNvSpPr>
            <a:spLocks noGrp="1"/>
          </p:cNvSpPr>
          <p:nvPr>
            <p:ph idx="1"/>
          </p:nvPr>
        </p:nvSpPr>
        <p:spPr>
          <a:xfrm>
            <a:off x="422787" y="294968"/>
            <a:ext cx="10931013" cy="5881995"/>
          </a:xfrm>
        </p:spPr>
        <p:txBody>
          <a:bodyPr/>
          <a:lstStyle/>
          <a:p>
            <a:r>
              <a:rPr lang="en-US" b="1" i="0" dirty="0">
                <a:solidFill>
                  <a:srgbClr val="2C3E50"/>
                </a:solidFill>
                <a:effectLst/>
                <a:latin typeface="PT Serif" panose="020A0603040505020204" pitchFamily="18" charset="0"/>
              </a:rPr>
              <a:t>Mean Reciprocal Rank (MRR) </a:t>
            </a:r>
            <a:r>
              <a:rPr lang="en-US" b="0" i="0" dirty="0">
                <a:solidFill>
                  <a:srgbClr val="2C3E50"/>
                </a:solidFill>
                <a:effectLst/>
                <a:latin typeface="PT Serif" panose="020A0603040505020204" pitchFamily="18" charset="0"/>
              </a:rPr>
              <a:t>is a metric that evaluates the effectiveness of the retrieval system by considering the rank position of the first relevant document. It is particularly useful when only the first relevant document is of primary interest. The reciprocal rank is the inverse of the rank at which the first relevant document is found. MRR is the average of these reciprocal ranks across multiple queries. The formula for MRR is:</a:t>
            </a:r>
          </a:p>
          <a:p>
            <a:endParaRPr lang="en-IN" dirty="0"/>
          </a:p>
        </p:txBody>
      </p:sp>
      <p:pic>
        <p:nvPicPr>
          <p:cNvPr id="5" name="Picture 4">
            <a:extLst>
              <a:ext uri="{FF2B5EF4-FFF2-40B4-BE49-F238E27FC236}">
                <a16:creationId xmlns:a16="http://schemas.microsoft.com/office/drawing/2014/main" id="{810EE939-8B2E-3462-A261-AEED79BF04B8}"/>
              </a:ext>
            </a:extLst>
          </p:cNvPr>
          <p:cNvPicPr>
            <a:picLocks noChangeAspect="1"/>
          </p:cNvPicPr>
          <p:nvPr/>
        </p:nvPicPr>
        <p:blipFill>
          <a:blip r:embed="rId2"/>
          <a:stretch>
            <a:fillRect/>
          </a:stretch>
        </p:blipFill>
        <p:spPr>
          <a:xfrm>
            <a:off x="1686248" y="3130462"/>
            <a:ext cx="8131245" cy="2956816"/>
          </a:xfrm>
          <a:prstGeom prst="rect">
            <a:avLst/>
          </a:prstGeom>
        </p:spPr>
      </p:pic>
    </p:spTree>
    <p:extLst>
      <p:ext uri="{BB962C8B-B14F-4D97-AF65-F5344CB8AC3E}">
        <p14:creationId xmlns:p14="http://schemas.microsoft.com/office/powerpoint/2010/main" val="848865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92B6E4-6E12-8792-466D-B084F30827A8}"/>
              </a:ext>
            </a:extLst>
          </p:cNvPr>
          <p:cNvSpPr>
            <a:spLocks noGrp="1"/>
          </p:cNvSpPr>
          <p:nvPr>
            <p:ph idx="1"/>
          </p:nvPr>
        </p:nvSpPr>
        <p:spPr>
          <a:xfrm>
            <a:off x="334297" y="117987"/>
            <a:ext cx="11019503" cy="6058976"/>
          </a:xfrm>
        </p:spPr>
        <p:txBody>
          <a:bodyPr/>
          <a:lstStyle/>
          <a:p>
            <a:r>
              <a:rPr lang="en-US" b="1" i="0" dirty="0">
                <a:solidFill>
                  <a:srgbClr val="2C3E50"/>
                </a:solidFill>
                <a:effectLst/>
                <a:latin typeface="PT Serif" panose="020A0603040505020204" pitchFamily="18" charset="0"/>
              </a:rPr>
              <a:t>Mean Average Precision (MAP) </a:t>
            </a:r>
            <a:r>
              <a:rPr lang="en-US" b="0" i="0" dirty="0">
                <a:solidFill>
                  <a:srgbClr val="2C3E50"/>
                </a:solidFill>
                <a:effectLst/>
                <a:latin typeface="PT Serif" panose="020A0603040505020204" pitchFamily="18" charset="0"/>
              </a:rPr>
              <a:t>is a metric that evaluates the precision of retrieval across multiple queries. It takes into account both the precision of the retrieval and the order of the retrieved documents. MAP is defined as the mean of the average precision scores for a set of queries. To calculate the average precision for a single query, the precision is computed at each position in the ranked list of retrieved documents, considering only the top-K retrieved documents, where each precision is weighted by whether the document is relevant or not. The formula for MAP across multiple queries is:</a:t>
            </a:r>
            <a:endParaRPr lang="en-IN" dirty="0"/>
          </a:p>
        </p:txBody>
      </p:sp>
      <p:pic>
        <p:nvPicPr>
          <p:cNvPr id="5" name="Picture 4">
            <a:extLst>
              <a:ext uri="{FF2B5EF4-FFF2-40B4-BE49-F238E27FC236}">
                <a16:creationId xmlns:a16="http://schemas.microsoft.com/office/drawing/2014/main" id="{00286CEE-44A7-A13C-01E3-4B30A2258B38}"/>
              </a:ext>
            </a:extLst>
          </p:cNvPr>
          <p:cNvPicPr>
            <a:picLocks noChangeAspect="1"/>
          </p:cNvPicPr>
          <p:nvPr/>
        </p:nvPicPr>
        <p:blipFill>
          <a:blip r:embed="rId2"/>
          <a:stretch>
            <a:fillRect/>
          </a:stretch>
        </p:blipFill>
        <p:spPr>
          <a:xfrm>
            <a:off x="1663733" y="4000630"/>
            <a:ext cx="8687553" cy="2651990"/>
          </a:xfrm>
          <a:prstGeom prst="rect">
            <a:avLst/>
          </a:prstGeom>
        </p:spPr>
      </p:pic>
    </p:spTree>
    <p:extLst>
      <p:ext uri="{BB962C8B-B14F-4D97-AF65-F5344CB8AC3E}">
        <p14:creationId xmlns:p14="http://schemas.microsoft.com/office/powerpoint/2010/main" val="3030181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B2E2A-807C-53BC-CEFE-DECF0C0D8EAB}"/>
              </a:ext>
            </a:extLst>
          </p:cNvPr>
          <p:cNvSpPr>
            <a:spLocks noGrp="1"/>
          </p:cNvSpPr>
          <p:nvPr>
            <p:ph type="title"/>
          </p:nvPr>
        </p:nvSpPr>
        <p:spPr/>
        <p:txBody>
          <a:bodyPr>
            <a:normAutofit fontScale="90000"/>
          </a:bodyPr>
          <a:lstStyle/>
          <a:p>
            <a:r>
              <a:rPr lang="en-US" b="1" i="0" dirty="0">
                <a:effectLst/>
                <a:latin typeface="Poppins" panose="00000500000000000000" pitchFamily="2" charset="0"/>
              </a:rPr>
              <a:t>overview of the retrieval evaluations</a:t>
            </a:r>
            <a:br>
              <a:rPr lang="en-US"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1ADED702-942F-5CFA-B8DE-2799A7A76660}"/>
              </a:ext>
            </a:extLst>
          </p:cNvPr>
          <p:cNvSpPr>
            <a:spLocks noGrp="1"/>
          </p:cNvSpPr>
          <p:nvPr>
            <p:ph idx="1"/>
          </p:nvPr>
        </p:nvSpPr>
        <p:spPr/>
        <p:txBody>
          <a:bodyPr/>
          <a:lstStyle/>
          <a:p>
            <a:pPr algn="l">
              <a:buFont typeface="Arial" panose="020B0604020202020204" pitchFamily="34" charset="0"/>
              <a:buChar char="•"/>
            </a:pPr>
            <a:r>
              <a:rPr lang="en-US" b="1" i="0" dirty="0">
                <a:solidFill>
                  <a:srgbClr val="2C3E50"/>
                </a:solidFill>
                <a:effectLst/>
                <a:latin typeface="PT Serif" panose="020A0603040505020204" pitchFamily="18" charset="0"/>
              </a:rPr>
              <a:t>Precision</a:t>
            </a:r>
            <a:r>
              <a:rPr lang="en-US" b="0" i="0" dirty="0">
                <a:solidFill>
                  <a:srgbClr val="2C3E50"/>
                </a:solidFill>
                <a:effectLst/>
                <a:latin typeface="PT Serif" panose="020A0603040505020204" pitchFamily="18" charset="0"/>
              </a:rPr>
              <a:t>: Quality of retrieved results.</a:t>
            </a:r>
          </a:p>
          <a:p>
            <a:pPr algn="l">
              <a:buFont typeface="Arial" panose="020B0604020202020204" pitchFamily="34" charset="0"/>
              <a:buChar char="•"/>
            </a:pPr>
            <a:r>
              <a:rPr lang="en-US" b="1" i="0" dirty="0">
                <a:solidFill>
                  <a:srgbClr val="2C3E50"/>
                </a:solidFill>
                <a:effectLst/>
                <a:latin typeface="PT Serif" panose="020A0603040505020204" pitchFamily="18" charset="0"/>
              </a:rPr>
              <a:t>Recall</a:t>
            </a:r>
            <a:r>
              <a:rPr lang="en-US" b="0" i="0" dirty="0">
                <a:solidFill>
                  <a:srgbClr val="2C3E50"/>
                </a:solidFill>
                <a:effectLst/>
                <a:latin typeface="PT Serif" panose="020A0603040505020204" pitchFamily="18" charset="0"/>
              </a:rPr>
              <a:t>: Completeness of retrieved results.</a:t>
            </a:r>
          </a:p>
          <a:p>
            <a:pPr algn="l">
              <a:buFont typeface="Arial" panose="020B0604020202020204" pitchFamily="34" charset="0"/>
              <a:buChar char="•"/>
            </a:pPr>
            <a:r>
              <a:rPr lang="en-US" b="1" i="0" dirty="0">
                <a:solidFill>
                  <a:srgbClr val="2C3E50"/>
                </a:solidFill>
                <a:effectLst/>
                <a:latin typeface="PT Serif" panose="020A0603040505020204" pitchFamily="18" charset="0"/>
              </a:rPr>
              <a:t>MRR</a:t>
            </a:r>
            <a:r>
              <a:rPr lang="en-US" b="0" i="0" dirty="0">
                <a:solidFill>
                  <a:srgbClr val="2C3E50"/>
                </a:solidFill>
                <a:effectLst/>
                <a:latin typeface="PT Serif" panose="020A0603040505020204" pitchFamily="18" charset="0"/>
              </a:rPr>
              <a:t>: How quickly the first relevant document is retrieved.</a:t>
            </a:r>
          </a:p>
          <a:p>
            <a:pPr algn="l">
              <a:buFont typeface="Arial" panose="020B0604020202020204" pitchFamily="34" charset="0"/>
              <a:buChar char="•"/>
            </a:pPr>
            <a:r>
              <a:rPr lang="en-US" b="1" i="0" dirty="0">
                <a:solidFill>
                  <a:srgbClr val="2C3E50"/>
                </a:solidFill>
                <a:effectLst/>
                <a:latin typeface="PT Serif" panose="020A0603040505020204" pitchFamily="18" charset="0"/>
              </a:rPr>
              <a:t>MAP</a:t>
            </a:r>
            <a:r>
              <a:rPr lang="en-US" b="0" i="0" dirty="0">
                <a:solidFill>
                  <a:srgbClr val="2C3E50"/>
                </a:solidFill>
                <a:effectLst/>
                <a:latin typeface="PT Serif" panose="020A0603040505020204" pitchFamily="18" charset="0"/>
              </a:rPr>
              <a:t>: Comprehensive evaluation combining precision and rank of relevant documents</a:t>
            </a:r>
          </a:p>
          <a:p>
            <a:endParaRPr lang="en-IN" dirty="0"/>
          </a:p>
        </p:txBody>
      </p:sp>
    </p:spTree>
    <p:extLst>
      <p:ext uri="{BB962C8B-B14F-4D97-AF65-F5344CB8AC3E}">
        <p14:creationId xmlns:p14="http://schemas.microsoft.com/office/powerpoint/2010/main" val="3638425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24E0B-9CBA-C0B0-069B-D062202211A4}"/>
              </a:ext>
            </a:extLst>
          </p:cNvPr>
          <p:cNvSpPr>
            <a:spLocks noGrp="1"/>
          </p:cNvSpPr>
          <p:nvPr>
            <p:ph type="title"/>
          </p:nvPr>
        </p:nvSpPr>
        <p:spPr/>
        <p:txBody>
          <a:bodyPr/>
          <a:lstStyle/>
          <a:p>
            <a:r>
              <a:rPr lang="en-US" b="1" i="0" dirty="0">
                <a:effectLst/>
                <a:latin typeface="Poppins" panose="00000500000000000000" pitchFamily="2" charset="0"/>
              </a:rPr>
              <a:t>Response Evaluation</a:t>
            </a:r>
            <a:br>
              <a:rPr lang="en-US"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2550B873-9529-D9AC-2F95-2FF1D015E531}"/>
              </a:ext>
            </a:extLst>
          </p:cNvPr>
          <p:cNvSpPr>
            <a:spLocks noGrp="1"/>
          </p:cNvSpPr>
          <p:nvPr>
            <p:ph idx="1"/>
          </p:nvPr>
        </p:nvSpPr>
        <p:spPr/>
        <p:txBody>
          <a:bodyPr/>
          <a:lstStyle/>
          <a:p>
            <a:pPr algn="l"/>
            <a:r>
              <a:rPr lang="en-US" b="0" i="0" dirty="0">
                <a:solidFill>
                  <a:srgbClr val="2C3E50"/>
                </a:solidFill>
                <a:effectLst/>
                <a:latin typeface="PT Serif" panose="020A0603040505020204" pitchFamily="18" charset="0"/>
              </a:rPr>
              <a:t>Response evaluations are applied to the generation component of a system. These evaluations measure how effectively the system generates responses based on the context provided by the retrieved documents. We divide response evaluations into two types:</a:t>
            </a:r>
          </a:p>
          <a:p>
            <a:pPr algn="l">
              <a:buFont typeface="Arial" panose="020B0604020202020204" pitchFamily="34" charset="0"/>
              <a:buChar char="•"/>
            </a:pPr>
            <a:r>
              <a:rPr lang="en-US" b="0" i="0" dirty="0">
                <a:solidFill>
                  <a:srgbClr val="2C3E50"/>
                </a:solidFill>
                <a:effectLst/>
                <a:latin typeface="PT Serif" panose="020A0603040505020204" pitchFamily="18" charset="0"/>
              </a:rPr>
              <a:t>Faithfulness (</a:t>
            </a:r>
            <a:r>
              <a:rPr lang="en-US" b="0" i="0" dirty="0" err="1">
                <a:solidFill>
                  <a:srgbClr val="2C3E50"/>
                </a:solidFill>
                <a:effectLst/>
                <a:latin typeface="PT Serif" panose="020A0603040505020204" pitchFamily="18" charset="0"/>
              </a:rPr>
              <a:t>Groundedness</a:t>
            </a:r>
            <a:r>
              <a:rPr lang="en-US" b="0" i="0" dirty="0">
                <a:solidFill>
                  <a:srgbClr val="2C3E50"/>
                </a:solidFill>
                <a:effectLst/>
                <a:latin typeface="PT Serif" panose="020A0603040505020204" pitchFamily="18" charset="0"/>
              </a:rPr>
              <a:t>)</a:t>
            </a:r>
          </a:p>
          <a:p>
            <a:pPr algn="l">
              <a:buFont typeface="Arial" panose="020B0604020202020204" pitchFamily="34" charset="0"/>
              <a:buChar char="•"/>
            </a:pPr>
            <a:r>
              <a:rPr lang="en-US" b="0" i="0" dirty="0">
                <a:solidFill>
                  <a:srgbClr val="2C3E50"/>
                </a:solidFill>
                <a:effectLst/>
                <a:latin typeface="PT Serif" panose="020A0603040505020204" pitchFamily="18" charset="0"/>
              </a:rPr>
              <a:t>Answer Relevance</a:t>
            </a:r>
          </a:p>
          <a:p>
            <a:endParaRPr lang="en-IN" dirty="0"/>
          </a:p>
        </p:txBody>
      </p:sp>
    </p:spTree>
    <p:extLst>
      <p:ext uri="{BB962C8B-B14F-4D97-AF65-F5344CB8AC3E}">
        <p14:creationId xmlns:p14="http://schemas.microsoft.com/office/powerpoint/2010/main" val="4047906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AE02-AFFB-B77A-4491-6055F061DF63}"/>
              </a:ext>
            </a:extLst>
          </p:cNvPr>
          <p:cNvSpPr>
            <a:spLocks noGrp="1"/>
          </p:cNvSpPr>
          <p:nvPr>
            <p:ph type="title"/>
          </p:nvPr>
        </p:nvSpPr>
        <p:spPr/>
        <p:txBody>
          <a:bodyPr>
            <a:normAutofit fontScale="90000"/>
          </a:bodyPr>
          <a:lstStyle/>
          <a:p>
            <a:br>
              <a:rPr lang="en-IN" b="1" i="0" dirty="0">
                <a:effectLst/>
                <a:latin typeface="Poppins" panose="00000500000000000000" pitchFamily="2" charset="0"/>
              </a:rPr>
            </a:br>
            <a:r>
              <a:rPr lang="en-IN" b="1" i="0" dirty="0">
                <a:effectLst/>
                <a:latin typeface="Poppins" panose="00000500000000000000" pitchFamily="2" charset="0"/>
              </a:rPr>
              <a:t>Faithfulness (</a:t>
            </a:r>
            <a:r>
              <a:rPr lang="en-IN" b="1" i="0" dirty="0" err="1">
                <a:effectLst/>
                <a:latin typeface="Poppins" panose="00000500000000000000" pitchFamily="2" charset="0"/>
              </a:rPr>
              <a:t>Groundedness</a:t>
            </a:r>
            <a:r>
              <a:rPr lang="en-IN" b="1" i="0" dirty="0">
                <a:effectLst/>
                <a:latin typeface="Poppins" panose="00000500000000000000" pitchFamily="2" charset="0"/>
              </a:rPr>
              <a:t>)</a:t>
            </a:r>
            <a:br>
              <a:rPr lang="en-IN"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91840F28-3965-E51F-D8CF-6937C9D05F2D}"/>
              </a:ext>
            </a:extLst>
          </p:cNvPr>
          <p:cNvSpPr>
            <a:spLocks noGrp="1"/>
          </p:cNvSpPr>
          <p:nvPr>
            <p:ph idx="1"/>
          </p:nvPr>
        </p:nvSpPr>
        <p:spPr>
          <a:xfrm>
            <a:off x="838200" y="1356852"/>
            <a:ext cx="10515600" cy="4820111"/>
          </a:xfrm>
        </p:spPr>
        <p:txBody>
          <a:bodyPr>
            <a:normAutofit fontScale="70000" lnSpcReduction="20000"/>
          </a:bodyPr>
          <a:lstStyle/>
          <a:p>
            <a:pPr algn="l"/>
            <a:r>
              <a:rPr lang="en-US" b="0" i="0" dirty="0">
                <a:solidFill>
                  <a:srgbClr val="2C3E50"/>
                </a:solidFill>
                <a:effectLst/>
                <a:latin typeface="PT Serif" panose="020A0603040505020204" pitchFamily="18" charset="0"/>
              </a:rPr>
              <a:t>Faithfulness evaluates whether the generated response is accurate and grounded in the retrieved documents. It ensures that the response does not contain hallucinations or incorrect information. This metric is crucial because it traces the generated response back to its source, ensuring the information is based on a verifiable ground truth. Faithfulness helps prevent hallucinations, where the system generates plausible-sounding but factually incorrect responses.</a:t>
            </a:r>
          </a:p>
          <a:p>
            <a:pPr algn="l"/>
            <a:r>
              <a:rPr lang="en-US" b="0" i="0" dirty="0">
                <a:solidFill>
                  <a:srgbClr val="2C3E50"/>
                </a:solidFill>
                <a:effectLst/>
                <a:latin typeface="PT Serif" panose="020A0603040505020204" pitchFamily="18" charset="0"/>
              </a:rPr>
              <a:t>To measure faithfulness, the following methods are commonly used:</a:t>
            </a:r>
          </a:p>
          <a:p>
            <a:pPr algn="l">
              <a:buFont typeface="Arial" panose="020B0604020202020204" pitchFamily="34" charset="0"/>
              <a:buChar char="•"/>
            </a:pPr>
            <a:r>
              <a:rPr lang="en-US" b="1" i="0" dirty="0">
                <a:solidFill>
                  <a:srgbClr val="2C3E50"/>
                </a:solidFill>
                <a:effectLst/>
                <a:latin typeface="PT Serif" panose="020A0603040505020204" pitchFamily="18" charset="0"/>
              </a:rPr>
              <a:t>Human Evaluation</a:t>
            </a:r>
            <a:r>
              <a:rPr lang="en-US" b="0" i="0" dirty="0">
                <a:solidFill>
                  <a:srgbClr val="2C3E50"/>
                </a:solidFill>
                <a:effectLst/>
                <a:latin typeface="PT Serif" panose="020A0603040505020204" pitchFamily="18" charset="0"/>
              </a:rPr>
              <a:t>: Experts manually assess whether the generated responses are factually accurate and correctly referenced from the retrieved documents. This process involves checking each response against the source documents to ensure all claims are substantiated.</a:t>
            </a:r>
          </a:p>
          <a:p>
            <a:pPr algn="l">
              <a:buFont typeface="Arial" panose="020B0604020202020204" pitchFamily="34" charset="0"/>
              <a:buChar char="•"/>
            </a:pPr>
            <a:r>
              <a:rPr lang="en-US" b="1" i="0" dirty="0">
                <a:solidFill>
                  <a:srgbClr val="2C3E50"/>
                </a:solidFill>
                <a:effectLst/>
                <a:latin typeface="PT Serif" panose="020A0603040505020204" pitchFamily="18" charset="0"/>
              </a:rPr>
              <a:t>Automated Fact-Checking Tools</a:t>
            </a:r>
            <a:r>
              <a:rPr lang="en-US" b="0" i="0" dirty="0">
                <a:solidFill>
                  <a:srgbClr val="2C3E50"/>
                </a:solidFill>
                <a:effectLst/>
                <a:latin typeface="PT Serif" panose="020A0603040505020204" pitchFamily="18" charset="0"/>
              </a:rPr>
              <a:t>: These tools compare the generated response against a database of verified facts to identify inaccuracies. They provide an automated way to check the validity of the information without human intervention.</a:t>
            </a:r>
          </a:p>
          <a:p>
            <a:pPr algn="l">
              <a:buFont typeface="Arial" panose="020B0604020202020204" pitchFamily="34" charset="0"/>
              <a:buChar char="•"/>
            </a:pPr>
            <a:r>
              <a:rPr lang="en-US" b="1" i="0" dirty="0">
                <a:solidFill>
                  <a:srgbClr val="2C3E50"/>
                </a:solidFill>
                <a:effectLst/>
                <a:latin typeface="PT Serif" panose="020A0603040505020204" pitchFamily="18" charset="0"/>
              </a:rPr>
              <a:t>Consistency Checks</a:t>
            </a:r>
            <a:r>
              <a:rPr lang="en-US" b="0" i="0" dirty="0">
                <a:solidFill>
                  <a:srgbClr val="2C3E50"/>
                </a:solidFill>
                <a:effectLst/>
                <a:latin typeface="PT Serif" panose="020A0603040505020204" pitchFamily="18" charset="0"/>
              </a:rPr>
              <a:t>: These evaluate if the model consistently provides the same factual information across different queries. This ensures that the model is reliable and does not produce contradictory information.</a:t>
            </a:r>
          </a:p>
          <a:p>
            <a:endParaRPr lang="en-IN" dirty="0"/>
          </a:p>
        </p:txBody>
      </p:sp>
    </p:spTree>
    <p:extLst>
      <p:ext uri="{BB962C8B-B14F-4D97-AF65-F5344CB8AC3E}">
        <p14:creationId xmlns:p14="http://schemas.microsoft.com/office/powerpoint/2010/main" val="1649261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F600B-A841-7878-1EA2-38E34C8E8147}"/>
              </a:ext>
            </a:extLst>
          </p:cNvPr>
          <p:cNvSpPr>
            <a:spLocks noGrp="1"/>
          </p:cNvSpPr>
          <p:nvPr>
            <p:ph type="title"/>
          </p:nvPr>
        </p:nvSpPr>
        <p:spPr/>
        <p:txBody>
          <a:bodyPr/>
          <a:lstStyle/>
          <a:p>
            <a:r>
              <a:rPr lang="en-US" b="1" i="0" dirty="0">
                <a:effectLst/>
                <a:latin typeface="Poppins" panose="00000500000000000000" pitchFamily="2" charset="0"/>
              </a:rPr>
              <a:t>Answer Relevance</a:t>
            </a:r>
            <a:br>
              <a:rPr lang="en-US"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820FD94B-7772-7CB5-EF3B-B87650AC708A}"/>
              </a:ext>
            </a:extLst>
          </p:cNvPr>
          <p:cNvSpPr>
            <a:spLocks noGrp="1"/>
          </p:cNvSpPr>
          <p:nvPr>
            <p:ph idx="1"/>
          </p:nvPr>
        </p:nvSpPr>
        <p:spPr/>
        <p:txBody>
          <a:bodyPr/>
          <a:lstStyle/>
          <a:p>
            <a:pPr algn="l"/>
            <a:r>
              <a:rPr lang="en-US" b="0" i="0" dirty="0">
                <a:solidFill>
                  <a:srgbClr val="2C3E50"/>
                </a:solidFill>
                <a:effectLst/>
                <a:latin typeface="PT Serif" panose="020A0603040505020204" pitchFamily="18" charset="0"/>
              </a:rPr>
              <a:t>Answer relevance measures how well the generated response addresses the user's query and provides useful information.</a:t>
            </a:r>
          </a:p>
          <a:p>
            <a:endParaRPr lang="en-IN" dirty="0"/>
          </a:p>
        </p:txBody>
      </p:sp>
    </p:spTree>
    <p:extLst>
      <p:ext uri="{BB962C8B-B14F-4D97-AF65-F5344CB8AC3E}">
        <p14:creationId xmlns:p14="http://schemas.microsoft.com/office/powerpoint/2010/main" val="2122815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DC435-E0F8-BBF1-B8C6-043A87A31386}"/>
              </a:ext>
            </a:extLst>
          </p:cNvPr>
          <p:cNvSpPr>
            <a:spLocks noGrp="1"/>
          </p:cNvSpPr>
          <p:nvPr>
            <p:ph type="title"/>
          </p:nvPr>
        </p:nvSpPr>
        <p:spPr/>
        <p:txBody>
          <a:bodyPr>
            <a:normAutofit fontScale="90000"/>
          </a:bodyPr>
          <a:lstStyle/>
          <a:p>
            <a:r>
              <a:rPr lang="en-IN" b="1" i="0" dirty="0">
                <a:effectLst/>
                <a:latin typeface="Poppins" panose="00000500000000000000" pitchFamily="2" charset="0"/>
              </a:rPr>
              <a:t>BLEU (Bilingual Evaluation Understudy)</a:t>
            </a:r>
            <a:br>
              <a:rPr lang="en-IN" b="1" i="0" dirty="0">
                <a:effectLst/>
                <a:latin typeface="Poppins" panose="00000500000000000000" pitchFamily="2" charset="0"/>
              </a:rPr>
            </a:br>
            <a:endParaRPr lang="en-IN" dirty="0"/>
          </a:p>
        </p:txBody>
      </p:sp>
      <p:pic>
        <p:nvPicPr>
          <p:cNvPr id="5" name="Content Placeholder 4">
            <a:extLst>
              <a:ext uri="{FF2B5EF4-FFF2-40B4-BE49-F238E27FC236}">
                <a16:creationId xmlns:a16="http://schemas.microsoft.com/office/drawing/2014/main" id="{2DC15AE5-F28E-CDD2-6D65-C66E4C238466}"/>
              </a:ext>
            </a:extLst>
          </p:cNvPr>
          <p:cNvPicPr>
            <a:picLocks noGrp="1" noChangeAspect="1"/>
          </p:cNvPicPr>
          <p:nvPr>
            <p:ph idx="1"/>
          </p:nvPr>
        </p:nvPicPr>
        <p:blipFill>
          <a:blip r:embed="rId2"/>
          <a:stretch>
            <a:fillRect/>
          </a:stretch>
        </p:blipFill>
        <p:spPr>
          <a:xfrm>
            <a:off x="838201" y="1170039"/>
            <a:ext cx="10311580" cy="5004619"/>
          </a:xfrm>
        </p:spPr>
      </p:pic>
      <p:sp>
        <p:nvSpPr>
          <p:cNvPr id="4" name="TextBox 3">
            <a:extLst>
              <a:ext uri="{FF2B5EF4-FFF2-40B4-BE49-F238E27FC236}">
                <a16:creationId xmlns:a16="http://schemas.microsoft.com/office/drawing/2014/main" id="{BC3FF2E4-273F-61C8-60DD-0F3359565327}"/>
              </a:ext>
            </a:extLst>
          </p:cNvPr>
          <p:cNvSpPr txBox="1"/>
          <p:nvPr/>
        </p:nvSpPr>
        <p:spPr>
          <a:xfrm>
            <a:off x="1111046" y="6169709"/>
            <a:ext cx="7177548" cy="646331"/>
          </a:xfrm>
          <a:prstGeom prst="rect">
            <a:avLst/>
          </a:prstGeom>
          <a:noFill/>
        </p:spPr>
        <p:txBody>
          <a:bodyPr wrap="square">
            <a:spAutoFit/>
          </a:bodyPr>
          <a:lstStyle/>
          <a:p>
            <a:r>
              <a:rPr lang="en-IN" dirty="0"/>
              <a:t>https://medium.com/data-science-in-your-pocket/llm-evaluation-metrics-explained-af14f26536d2</a:t>
            </a:r>
          </a:p>
        </p:txBody>
      </p:sp>
    </p:spTree>
    <p:extLst>
      <p:ext uri="{BB962C8B-B14F-4D97-AF65-F5344CB8AC3E}">
        <p14:creationId xmlns:p14="http://schemas.microsoft.com/office/powerpoint/2010/main" val="24104267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B6E30-934A-A4D2-D896-FFC11FE2EB20}"/>
              </a:ext>
            </a:extLst>
          </p:cNvPr>
          <p:cNvSpPr>
            <a:spLocks noGrp="1"/>
          </p:cNvSpPr>
          <p:nvPr>
            <p:ph type="title"/>
          </p:nvPr>
        </p:nvSpPr>
        <p:spPr/>
        <p:txBody>
          <a:bodyPr>
            <a:normAutofit fontScale="90000"/>
          </a:bodyPr>
          <a:lstStyle/>
          <a:p>
            <a:r>
              <a:rPr lang="en-US" b="1" i="0" dirty="0">
                <a:effectLst/>
                <a:latin typeface="Poppins" panose="00000500000000000000" pitchFamily="2" charset="0"/>
              </a:rPr>
              <a:t>ROUGE (Recall-Oriented Understudy for </a:t>
            </a:r>
            <a:r>
              <a:rPr lang="en-US" b="1" i="0" dirty="0" err="1">
                <a:effectLst/>
                <a:latin typeface="Poppins" panose="00000500000000000000" pitchFamily="2" charset="0"/>
              </a:rPr>
              <a:t>Gisting</a:t>
            </a:r>
            <a:r>
              <a:rPr lang="en-US" b="1" i="0" dirty="0">
                <a:effectLst/>
                <a:latin typeface="Poppins" panose="00000500000000000000" pitchFamily="2" charset="0"/>
              </a:rPr>
              <a:t> Evaluation)</a:t>
            </a:r>
            <a:br>
              <a:rPr lang="en-US"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A17060E2-84D0-72FD-3FE1-B96CDAE15394}"/>
              </a:ext>
            </a:extLst>
          </p:cNvPr>
          <p:cNvSpPr>
            <a:spLocks noGrp="1"/>
          </p:cNvSpPr>
          <p:nvPr>
            <p:ph idx="1"/>
          </p:nvPr>
        </p:nvSpPr>
        <p:spPr/>
        <p:txBody>
          <a:bodyPr/>
          <a:lstStyle/>
          <a:p>
            <a:r>
              <a:rPr lang="en-US" b="0" i="0" dirty="0">
                <a:solidFill>
                  <a:srgbClr val="2C3E50"/>
                </a:solidFill>
                <a:effectLst/>
                <a:latin typeface="PT Serif" panose="020A0603040505020204" pitchFamily="18" charset="0"/>
              </a:rPr>
              <a:t>ROUGE measures the overlap of n-grams, word sequences, and word pairs between the generated and reference responses, considering both recall and precision. The most common variant, ROUGE-N, measures the overlap of n-grams between the generated and reference responses. The formula for ROUGE-N is:</a:t>
            </a:r>
          </a:p>
          <a:p>
            <a:endParaRPr lang="en-IN" dirty="0"/>
          </a:p>
        </p:txBody>
      </p:sp>
      <p:pic>
        <p:nvPicPr>
          <p:cNvPr id="5" name="Picture 4">
            <a:extLst>
              <a:ext uri="{FF2B5EF4-FFF2-40B4-BE49-F238E27FC236}">
                <a16:creationId xmlns:a16="http://schemas.microsoft.com/office/drawing/2014/main" id="{3CC5BA26-352F-168E-540C-7BD84D07ADAF}"/>
              </a:ext>
            </a:extLst>
          </p:cNvPr>
          <p:cNvPicPr>
            <a:picLocks noChangeAspect="1"/>
          </p:cNvPicPr>
          <p:nvPr/>
        </p:nvPicPr>
        <p:blipFill>
          <a:blip r:embed="rId2"/>
          <a:stretch>
            <a:fillRect/>
          </a:stretch>
        </p:blipFill>
        <p:spPr>
          <a:xfrm>
            <a:off x="1795309" y="4552276"/>
            <a:ext cx="7087214" cy="1371719"/>
          </a:xfrm>
          <a:prstGeom prst="rect">
            <a:avLst/>
          </a:prstGeom>
        </p:spPr>
      </p:pic>
    </p:spTree>
    <p:extLst>
      <p:ext uri="{BB962C8B-B14F-4D97-AF65-F5344CB8AC3E}">
        <p14:creationId xmlns:p14="http://schemas.microsoft.com/office/powerpoint/2010/main" val="2384034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2F9CC-0CDA-79F0-21A2-5BA822C35AB4}"/>
              </a:ext>
            </a:extLst>
          </p:cNvPr>
          <p:cNvSpPr>
            <a:spLocks noGrp="1"/>
          </p:cNvSpPr>
          <p:nvPr>
            <p:ph type="title"/>
          </p:nvPr>
        </p:nvSpPr>
        <p:spPr/>
        <p:txBody>
          <a:bodyPr>
            <a:normAutofit fontScale="90000"/>
          </a:bodyPr>
          <a:lstStyle/>
          <a:p>
            <a:r>
              <a:rPr lang="en-US" b="1" i="0" dirty="0">
                <a:effectLst/>
                <a:latin typeface="Poppins" panose="00000500000000000000" pitchFamily="2" charset="0"/>
              </a:rPr>
              <a:t>METEOR (Metric for Evaluation of Translation with Explicit </a:t>
            </a:r>
            <a:r>
              <a:rPr lang="en-US" b="1" i="0" dirty="0" err="1">
                <a:effectLst/>
                <a:latin typeface="Poppins" panose="00000500000000000000" pitchFamily="2" charset="0"/>
              </a:rPr>
              <a:t>ORdering</a:t>
            </a:r>
            <a:r>
              <a:rPr lang="en-US" b="1" i="0" dirty="0">
                <a:effectLst/>
                <a:latin typeface="Poppins" panose="00000500000000000000" pitchFamily="2" charset="0"/>
              </a:rPr>
              <a:t>)</a:t>
            </a:r>
            <a:br>
              <a:rPr lang="en-US"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228B436B-300C-00AC-9F7A-B242CAF6F8B6}"/>
              </a:ext>
            </a:extLst>
          </p:cNvPr>
          <p:cNvSpPr>
            <a:spLocks noGrp="1"/>
          </p:cNvSpPr>
          <p:nvPr>
            <p:ph idx="1"/>
          </p:nvPr>
        </p:nvSpPr>
        <p:spPr/>
        <p:txBody>
          <a:bodyPr/>
          <a:lstStyle/>
          <a:p>
            <a:r>
              <a:rPr lang="en-US" b="0" i="0" dirty="0">
                <a:solidFill>
                  <a:srgbClr val="2C3E50"/>
                </a:solidFill>
                <a:effectLst/>
                <a:latin typeface="PT Serif" panose="020A0603040505020204" pitchFamily="18" charset="0"/>
              </a:rPr>
              <a:t>METEOR considers synonymy, stemming, and word order to evaluate the similarity between the generated response and the reference responses. The formula for the METEOR score is:</a:t>
            </a:r>
          </a:p>
          <a:p>
            <a:endParaRPr lang="en-IN" dirty="0"/>
          </a:p>
        </p:txBody>
      </p:sp>
      <p:pic>
        <p:nvPicPr>
          <p:cNvPr id="5" name="Picture 4">
            <a:extLst>
              <a:ext uri="{FF2B5EF4-FFF2-40B4-BE49-F238E27FC236}">
                <a16:creationId xmlns:a16="http://schemas.microsoft.com/office/drawing/2014/main" id="{B445288C-9310-2161-86AB-2B304194D62B}"/>
              </a:ext>
            </a:extLst>
          </p:cNvPr>
          <p:cNvPicPr>
            <a:picLocks noChangeAspect="1"/>
          </p:cNvPicPr>
          <p:nvPr/>
        </p:nvPicPr>
        <p:blipFill>
          <a:blip r:embed="rId2"/>
          <a:stretch>
            <a:fillRect/>
          </a:stretch>
        </p:blipFill>
        <p:spPr>
          <a:xfrm>
            <a:off x="1355069" y="3304431"/>
            <a:ext cx="9332596" cy="2872531"/>
          </a:xfrm>
          <a:prstGeom prst="rect">
            <a:avLst/>
          </a:prstGeom>
        </p:spPr>
      </p:pic>
    </p:spTree>
    <p:extLst>
      <p:ext uri="{BB962C8B-B14F-4D97-AF65-F5344CB8AC3E}">
        <p14:creationId xmlns:p14="http://schemas.microsoft.com/office/powerpoint/2010/main" val="3235272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66FF1-388C-1CC6-8331-11707C53B68A}"/>
              </a:ext>
            </a:extLst>
          </p:cNvPr>
          <p:cNvSpPr>
            <a:spLocks noGrp="1"/>
          </p:cNvSpPr>
          <p:nvPr>
            <p:ph type="title"/>
          </p:nvPr>
        </p:nvSpPr>
        <p:spPr/>
        <p:txBody>
          <a:bodyPr/>
          <a:lstStyle/>
          <a:p>
            <a:r>
              <a:rPr lang="en-IN" b="1" i="0" dirty="0">
                <a:effectLst/>
                <a:latin typeface="Poppins" panose="00000500000000000000" pitchFamily="2" charset="0"/>
              </a:rPr>
              <a:t>Embedding-Based Evaluation</a:t>
            </a:r>
            <a:br>
              <a:rPr lang="en-IN" b="1" i="0" dirty="0">
                <a:effectLst/>
                <a:latin typeface="Poppins" panose="00000500000000000000" pitchFamily="2" charset="0"/>
              </a:rPr>
            </a:br>
            <a:endParaRPr lang="en-IN" dirty="0"/>
          </a:p>
        </p:txBody>
      </p:sp>
      <p:sp>
        <p:nvSpPr>
          <p:cNvPr id="3" name="Content Placeholder 2">
            <a:extLst>
              <a:ext uri="{FF2B5EF4-FFF2-40B4-BE49-F238E27FC236}">
                <a16:creationId xmlns:a16="http://schemas.microsoft.com/office/drawing/2014/main" id="{797B3593-595E-6FCD-2361-0FA94FDAF1C0}"/>
              </a:ext>
            </a:extLst>
          </p:cNvPr>
          <p:cNvSpPr>
            <a:spLocks noGrp="1"/>
          </p:cNvSpPr>
          <p:nvPr>
            <p:ph idx="1"/>
          </p:nvPr>
        </p:nvSpPr>
        <p:spPr/>
        <p:txBody>
          <a:bodyPr/>
          <a:lstStyle/>
          <a:p>
            <a:r>
              <a:rPr lang="en-US" b="0" i="0" dirty="0">
                <a:solidFill>
                  <a:srgbClr val="2C3E50"/>
                </a:solidFill>
                <a:effectLst/>
                <a:latin typeface="PT Serif" panose="020A0603040505020204" pitchFamily="18" charset="0"/>
              </a:rPr>
              <a:t>This method uses vector representations of words (embeddings) to measure the semantic similarity between the generated response and the reference responses. Techniques such as cosine similarity are used to compare the embeddings, providing an evaluation based on the meaning of the words rather than their exact matches.</a:t>
            </a:r>
            <a:endParaRPr lang="en-IN" dirty="0"/>
          </a:p>
        </p:txBody>
      </p:sp>
    </p:spTree>
    <p:extLst>
      <p:ext uri="{BB962C8B-B14F-4D97-AF65-F5344CB8AC3E}">
        <p14:creationId xmlns:p14="http://schemas.microsoft.com/office/powerpoint/2010/main" val="23247804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D6E9E-5F43-356E-3968-40B1B321A07A}"/>
              </a:ext>
            </a:extLst>
          </p:cNvPr>
          <p:cNvSpPr>
            <a:spLocks noGrp="1"/>
          </p:cNvSpPr>
          <p:nvPr>
            <p:ph type="title"/>
          </p:nvPr>
        </p:nvSpPr>
        <p:spPr/>
        <p:txBody>
          <a:bodyPr/>
          <a:lstStyle/>
          <a:p>
            <a:r>
              <a:rPr lang="en-IN" b="1" i="0" dirty="0" err="1">
                <a:solidFill>
                  <a:srgbClr val="242424"/>
                </a:solidFill>
                <a:effectLst/>
                <a:latin typeface="sohne"/>
              </a:rPr>
              <a:t>BERTScore</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D22E348E-CA9E-DFB7-BA3B-E55D88D05A48}"/>
              </a:ext>
            </a:extLst>
          </p:cNvPr>
          <p:cNvSpPr>
            <a:spLocks noGrp="1"/>
          </p:cNvSpPr>
          <p:nvPr>
            <p:ph idx="1"/>
          </p:nvPr>
        </p:nvSpPr>
        <p:spPr/>
        <p:txBody>
          <a:bodyPr/>
          <a:lstStyle/>
          <a:p>
            <a:r>
              <a:rPr lang="en-US" b="0" i="0" dirty="0" err="1">
                <a:solidFill>
                  <a:srgbClr val="242424"/>
                </a:solidFill>
                <a:effectLst/>
                <a:latin typeface="source-serif-pro"/>
              </a:rPr>
              <a:t>BERTScore</a:t>
            </a:r>
            <a:r>
              <a:rPr lang="en-US" b="0" i="0" dirty="0">
                <a:solidFill>
                  <a:srgbClr val="242424"/>
                </a:solidFill>
                <a:effectLst/>
                <a:latin typeface="source-serif-pro"/>
              </a:rPr>
              <a:t> uses a pre-trained BERT model to evaluate the quality of generated text compared to a reference text. It measures the semantic similarity between the two texts using BERT embeddings.</a:t>
            </a:r>
            <a:endParaRPr lang="en-IN" dirty="0"/>
          </a:p>
        </p:txBody>
      </p:sp>
    </p:spTree>
    <p:extLst>
      <p:ext uri="{BB962C8B-B14F-4D97-AF65-F5344CB8AC3E}">
        <p14:creationId xmlns:p14="http://schemas.microsoft.com/office/powerpoint/2010/main" val="6494955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FEACC-A34C-9707-86E0-C83A54EDB284}"/>
              </a:ext>
            </a:extLst>
          </p:cNvPr>
          <p:cNvSpPr>
            <a:spLocks noGrp="1"/>
          </p:cNvSpPr>
          <p:nvPr>
            <p:ph type="title"/>
          </p:nvPr>
        </p:nvSpPr>
        <p:spPr/>
        <p:txBody>
          <a:bodyPr/>
          <a:lstStyle/>
          <a:p>
            <a:r>
              <a:rPr lang="en-IN" dirty="0"/>
              <a:t>General Purpose Metric</a:t>
            </a:r>
          </a:p>
        </p:txBody>
      </p:sp>
      <p:sp>
        <p:nvSpPr>
          <p:cNvPr id="3" name="Content Placeholder 2">
            <a:extLst>
              <a:ext uri="{FF2B5EF4-FFF2-40B4-BE49-F238E27FC236}">
                <a16:creationId xmlns:a16="http://schemas.microsoft.com/office/drawing/2014/main" id="{3596569A-048D-FF1B-2947-6A3459A05318}"/>
              </a:ext>
            </a:extLst>
          </p:cNvPr>
          <p:cNvSpPr>
            <a:spLocks noGrp="1"/>
          </p:cNvSpPr>
          <p:nvPr>
            <p:ph idx="1"/>
          </p:nvPr>
        </p:nvSpPr>
        <p:spPr/>
        <p:txBody>
          <a:bodyPr/>
          <a:lstStyle/>
          <a:p>
            <a:r>
              <a:rPr lang="en-IN" b="1" i="0" dirty="0">
                <a:solidFill>
                  <a:srgbClr val="242424"/>
                </a:solidFill>
                <a:effectLst/>
                <a:latin typeface="sohne"/>
              </a:rPr>
              <a:t>Perplexity</a:t>
            </a:r>
          </a:p>
          <a:p>
            <a:r>
              <a:rPr lang="en-US" b="0" i="0" dirty="0">
                <a:solidFill>
                  <a:srgbClr val="242424"/>
                </a:solidFill>
                <a:effectLst/>
                <a:latin typeface="source-serif-pro"/>
              </a:rPr>
              <a:t>Perplexity but it is a key metric used to evaluate how well a language model predicts a sequence of words in the answer. Also, it doesn’t require Ground Truth!</a:t>
            </a:r>
          </a:p>
          <a:p>
            <a:endParaRPr lang="en-IN" dirty="0"/>
          </a:p>
        </p:txBody>
      </p:sp>
    </p:spTree>
    <p:extLst>
      <p:ext uri="{BB962C8B-B14F-4D97-AF65-F5344CB8AC3E}">
        <p14:creationId xmlns:p14="http://schemas.microsoft.com/office/powerpoint/2010/main" val="7501512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78D90C-5931-D279-11A7-1A2C96A481B4}"/>
              </a:ext>
            </a:extLst>
          </p:cNvPr>
          <p:cNvPicPr>
            <a:picLocks noChangeAspect="1"/>
          </p:cNvPicPr>
          <p:nvPr/>
        </p:nvPicPr>
        <p:blipFill>
          <a:blip r:embed="rId2"/>
          <a:stretch>
            <a:fillRect/>
          </a:stretch>
        </p:blipFill>
        <p:spPr>
          <a:xfrm>
            <a:off x="1415767" y="161122"/>
            <a:ext cx="8740955" cy="5768840"/>
          </a:xfrm>
          <a:prstGeom prst="rect">
            <a:avLst/>
          </a:prstGeom>
        </p:spPr>
      </p:pic>
    </p:spTree>
    <p:extLst>
      <p:ext uri="{BB962C8B-B14F-4D97-AF65-F5344CB8AC3E}">
        <p14:creationId xmlns:p14="http://schemas.microsoft.com/office/powerpoint/2010/main" val="26446508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1034</Words>
  <Application>Microsoft Office PowerPoint</Application>
  <PresentationFormat>Widescreen</PresentationFormat>
  <Paragraphs>44</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Poppins</vt:lpstr>
      <vt:lpstr>PT Serif</vt:lpstr>
      <vt:lpstr>sohne</vt:lpstr>
      <vt:lpstr>source-serif-pro</vt:lpstr>
      <vt:lpstr>Office Theme</vt:lpstr>
      <vt:lpstr>Evaluate RAG System &amp; Evaluation Metrics </vt:lpstr>
      <vt:lpstr>components in a RAG system</vt:lpstr>
      <vt:lpstr>Retrieval Evaluation </vt:lpstr>
      <vt:lpstr>Retrieval Evaluation</vt:lpstr>
      <vt:lpstr>PowerPoint Presentation</vt:lpstr>
      <vt:lpstr>PowerPoint Presentation</vt:lpstr>
      <vt:lpstr>PowerPoint Presentation</vt:lpstr>
      <vt:lpstr>overview of the retrieval evaluations </vt:lpstr>
      <vt:lpstr>Response Evaluation </vt:lpstr>
      <vt:lpstr> Faithfulness (Groundedness) </vt:lpstr>
      <vt:lpstr>Answer Relevance </vt:lpstr>
      <vt:lpstr>BLEU (Bilingual Evaluation Understudy) </vt:lpstr>
      <vt:lpstr>ROUGE (Recall-Oriented Understudy for Gisting Evaluation) </vt:lpstr>
      <vt:lpstr>METEOR (Metric for Evaluation of Translation with Explicit ORdering) </vt:lpstr>
      <vt:lpstr>Embedding-Based Evaluation </vt:lpstr>
      <vt:lpstr>BERTScore </vt:lpstr>
      <vt:lpstr>General Purpose Metric</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harish kumar</dc:creator>
  <cp:lastModifiedBy>harish kumar</cp:lastModifiedBy>
  <cp:revision>2</cp:revision>
  <dcterms:created xsi:type="dcterms:W3CDTF">2024-11-12T23:12:27Z</dcterms:created>
  <dcterms:modified xsi:type="dcterms:W3CDTF">2024-11-12T23:53:07Z</dcterms:modified>
</cp:coreProperties>
</file>
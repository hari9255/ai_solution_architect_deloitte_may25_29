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6"/>
  </p:notesMasterIdLst>
  <p:sldIdLst>
    <p:sldId id="346" r:id="rId2"/>
    <p:sldId id="355" r:id="rId3"/>
    <p:sldId id="356" r:id="rId4"/>
    <p:sldId id="357" r:id="rId5"/>
    <p:sldId id="282" r:id="rId6"/>
    <p:sldId id="358" r:id="rId7"/>
    <p:sldId id="359" r:id="rId8"/>
    <p:sldId id="349" r:id="rId9"/>
    <p:sldId id="285" r:id="rId10"/>
    <p:sldId id="288" r:id="rId11"/>
    <p:sldId id="348" r:id="rId12"/>
    <p:sldId id="347" r:id="rId13"/>
    <p:sldId id="351" r:id="rId14"/>
    <p:sldId id="352" r:id="rId15"/>
    <p:sldId id="353" r:id="rId16"/>
    <p:sldId id="354" r:id="rId17"/>
    <p:sldId id="289" r:id="rId18"/>
    <p:sldId id="290" r:id="rId19"/>
    <p:sldId id="330" r:id="rId20"/>
    <p:sldId id="294" r:id="rId21"/>
    <p:sldId id="295" r:id="rId22"/>
    <p:sldId id="296" r:id="rId23"/>
    <p:sldId id="360" r:id="rId24"/>
    <p:sldId id="350" r:id="rId2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204" autoAdjust="0"/>
    <p:restoredTop sz="93842" autoAdjust="0"/>
  </p:normalViewPr>
  <p:slideViewPr>
    <p:cSldViewPr>
      <p:cViewPr varScale="1">
        <p:scale>
          <a:sx n="82" d="100"/>
          <a:sy n="82" d="100"/>
        </p:scale>
        <p:origin x="1493" y="7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B816130-3B0C-4704-9D18-126B00DA598A}" type="datetimeFigureOut">
              <a:rPr lang="en-US" smtClean="0"/>
              <a:t>11/11/2024</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4F57A8A-3F08-4FE1-BCC5-367007971922}" type="slidenum">
              <a:rPr lang="en-US" smtClean="0"/>
              <a:t>‹#›</a:t>
            </a:fld>
            <a:endParaRPr lang="en-US"/>
          </a:p>
        </p:txBody>
      </p:sp>
    </p:spTree>
    <p:extLst>
      <p:ext uri="{BB962C8B-B14F-4D97-AF65-F5344CB8AC3E}">
        <p14:creationId xmlns:p14="http://schemas.microsoft.com/office/powerpoint/2010/main" val="39700049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DAC182DE-0154-4111-AA9F-2D368317A739}" type="datetimeFigureOut">
              <a:rPr lang="en-IN" smtClean="0"/>
              <a:t>11-11-2024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C62C721-F152-4524-97F0-71D27776427B}" type="slidenum">
              <a:rPr lang="en-IN" smtClean="0"/>
              <a:t>‹#›</a:t>
            </a:fld>
            <a:endParaRPr lang="en-IN"/>
          </a:p>
        </p:txBody>
      </p:sp>
    </p:spTree>
    <p:extLst>
      <p:ext uri="{BB962C8B-B14F-4D97-AF65-F5344CB8AC3E}">
        <p14:creationId xmlns:p14="http://schemas.microsoft.com/office/powerpoint/2010/main" val="9996707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DAC182DE-0154-4111-AA9F-2D368317A739}" type="datetimeFigureOut">
              <a:rPr lang="en-IN" smtClean="0"/>
              <a:t>11-11-2024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C62C721-F152-4524-97F0-71D27776427B}" type="slidenum">
              <a:rPr lang="en-IN" smtClean="0"/>
              <a:t>‹#›</a:t>
            </a:fld>
            <a:endParaRPr lang="en-IN"/>
          </a:p>
        </p:txBody>
      </p:sp>
    </p:spTree>
    <p:extLst>
      <p:ext uri="{BB962C8B-B14F-4D97-AF65-F5344CB8AC3E}">
        <p14:creationId xmlns:p14="http://schemas.microsoft.com/office/powerpoint/2010/main" val="35810397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AC182DE-0154-4111-AA9F-2D368317A739}" type="datetimeFigureOut">
              <a:rPr lang="en-IN" smtClean="0"/>
              <a:t>11-11-2024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C62C721-F152-4524-97F0-71D27776427B}" type="slidenum">
              <a:rPr lang="en-IN" smtClean="0"/>
              <a:t>‹#›</a:t>
            </a:fld>
            <a:endParaRPr lang="en-IN"/>
          </a:p>
        </p:txBody>
      </p:sp>
    </p:spTree>
    <p:extLst>
      <p:ext uri="{BB962C8B-B14F-4D97-AF65-F5344CB8AC3E}">
        <p14:creationId xmlns:p14="http://schemas.microsoft.com/office/powerpoint/2010/main" val="19712898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DAC182DE-0154-4111-AA9F-2D368317A739}" type="datetimeFigureOut">
              <a:rPr lang="en-IN" smtClean="0"/>
              <a:t>11-11-2024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C62C721-F152-4524-97F0-71D27776427B}" type="slidenum">
              <a:rPr lang="en-IN" smtClean="0"/>
              <a:t>‹#›</a:t>
            </a:fld>
            <a:endParaRPr lang="en-IN"/>
          </a:p>
        </p:txBody>
      </p:sp>
    </p:spTree>
    <p:extLst>
      <p:ext uri="{BB962C8B-B14F-4D97-AF65-F5344CB8AC3E}">
        <p14:creationId xmlns:p14="http://schemas.microsoft.com/office/powerpoint/2010/main" val="9116133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DAC182DE-0154-4111-AA9F-2D368317A739}" type="datetimeFigureOut">
              <a:rPr lang="en-IN" smtClean="0"/>
              <a:t>11-11-2024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1C62C721-F152-4524-97F0-71D27776427B}" type="slidenum">
              <a:rPr lang="en-IN" smtClean="0"/>
              <a:t>‹#›</a:t>
            </a:fld>
            <a:endParaRPr lang="en-IN"/>
          </a:p>
        </p:txBody>
      </p:sp>
    </p:spTree>
    <p:extLst>
      <p:ext uri="{BB962C8B-B14F-4D97-AF65-F5344CB8AC3E}">
        <p14:creationId xmlns:p14="http://schemas.microsoft.com/office/powerpoint/2010/main" val="7586210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DAC182DE-0154-4111-AA9F-2D368317A739}" type="datetimeFigureOut">
              <a:rPr lang="en-IN" smtClean="0"/>
              <a:t>11-11-2024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1C62C721-F152-4524-97F0-71D27776427B}" type="slidenum">
              <a:rPr lang="en-IN" smtClean="0"/>
              <a:t>‹#›</a:t>
            </a:fld>
            <a:endParaRPr lang="en-IN"/>
          </a:p>
        </p:txBody>
      </p:sp>
    </p:spTree>
    <p:extLst>
      <p:ext uri="{BB962C8B-B14F-4D97-AF65-F5344CB8AC3E}">
        <p14:creationId xmlns:p14="http://schemas.microsoft.com/office/powerpoint/2010/main" val="1382573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AC182DE-0154-4111-AA9F-2D368317A739}" type="datetimeFigureOut">
              <a:rPr lang="en-IN" smtClean="0"/>
              <a:t>11-11-2024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1C62C721-F152-4524-97F0-71D27776427B}" type="slidenum">
              <a:rPr lang="en-IN" smtClean="0"/>
              <a:t>‹#›</a:t>
            </a:fld>
            <a:endParaRPr lang="en-IN"/>
          </a:p>
        </p:txBody>
      </p:sp>
    </p:spTree>
    <p:extLst>
      <p:ext uri="{BB962C8B-B14F-4D97-AF65-F5344CB8AC3E}">
        <p14:creationId xmlns:p14="http://schemas.microsoft.com/office/powerpoint/2010/main" val="1044565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AC182DE-0154-4111-AA9F-2D368317A739}" type="datetimeFigureOut">
              <a:rPr lang="en-IN" smtClean="0"/>
              <a:t>11-11-2024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C62C721-F152-4524-97F0-71D27776427B}" type="slidenum">
              <a:rPr lang="en-IN" smtClean="0"/>
              <a:t>‹#›</a:t>
            </a:fld>
            <a:endParaRPr lang="en-IN"/>
          </a:p>
        </p:txBody>
      </p:sp>
    </p:spTree>
    <p:extLst>
      <p:ext uri="{BB962C8B-B14F-4D97-AF65-F5344CB8AC3E}">
        <p14:creationId xmlns:p14="http://schemas.microsoft.com/office/powerpoint/2010/main" val="997770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AC182DE-0154-4111-AA9F-2D368317A739}" type="datetimeFigureOut">
              <a:rPr lang="en-IN" smtClean="0"/>
              <a:t>11-11-2024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C62C721-F152-4524-97F0-71D27776427B}" type="slidenum">
              <a:rPr lang="en-IN" smtClean="0"/>
              <a:t>‹#›</a:t>
            </a:fld>
            <a:endParaRPr lang="en-IN"/>
          </a:p>
        </p:txBody>
      </p:sp>
    </p:spTree>
    <p:extLst>
      <p:ext uri="{BB962C8B-B14F-4D97-AF65-F5344CB8AC3E}">
        <p14:creationId xmlns:p14="http://schemas.microsoft.com/office/powerpoint/2010/main" val="8010917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DAC182DE-0154-4111-AA9F-2D368317A739}" type="datetimeFigureOut">
              <a:rPr lang="en-IN" smtClean="0"/>
              <a:t>11-11-2024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C62C721-F152-4524-97F0-71D27776427B}" type="slidenum">
              <a:rPr lang="en-IN" smtClean="0"/>
              <a:t>‹#›</a:t>
            </a:fld>
            <a:endParaRPr lang="en-IN"/>
          </a:p>
        </p:txBody>
      </p:sp>
    </p:spTree>
    <p:extLst>
      <p:ext uri="{BB962C8B-B14F-4D97-AF65-F5344CB8AC3E}">
        <p14:creationId xmlns:p14="http://schemas.microsoft.com/office/powerpoint/2010/main" val="32202501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DAC182DE-0154-4111-AA9F-2D368317A739}" type="datetimeFigureOut">
              <a:rPr lang="en-IN" smtClean="0"/>
              <a:t>11-11-2024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C62C721-F152-4524-97F0-71D27776427B}" type="slidenum">
              <a:rPr lang="en-IN" smtClean="0"/>
              <a:t>‹#›</a:t>
            </a:fld>
            <a:endParaRPr lang="en-IN"/>
          </a:p>
        </p:txBody>
      </p:sp>
    </p:spTree>
    <p:extLst>
      <p:ext uri="{BB962C8B-B14F-4D97-AF65-F5344CB8AC3E}">
        <p14:creationId xmlns:p14="http://schemas.microsoft.com/office/powerpoint/2010/main" val="584794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AC182DE-0154-4111-AA9F-2D368317A739}" type="datetimeFigureOut">
              <a:rPr lang="en-IN" smtClean="0"/>
              <a:t>11-11-2024</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C62C721-F152-4524-97F0-71D27776427B}" type="slidenum">
              <a:rPr lang="en-IN" smtClean="0"/>
              <a:t>‹#›</a:t>
            </a:fld>
            <a:endParaRPr lang="en-IN"/>
          </a:p>
        </p:txBody>
      </p:sp>
      <p:pic>
        <p:nvPicPr>
          <p:cNvPr id="7" name="Picture 6"/>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7308304" y="0"/>
            <a:ext cx="1854324" cy="449772"/>
          </a:xfrm>
          <a:prstGeom prst="rect">
            <a:avLst/>
          </a:prstGeom>
        </p:spPr>
      </p:pic>
    </p:spTree>
    <p:extLst>
      <p:ext uri="{BB962C8B-B14F-4D97-AF65-F5344CB8AC3E}">
        <p14:creationId xmlns:p14="http://schemas.microsoft.com/office/powerpoint/2010/main" val="131907278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hyperlink" Target="https://www.pinecone.io/learn/vector-embeddings-for-developers/" TargetMode="Externa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hyperlink" Target="https://docs.trychroma.com/api-reference" TargetMode="External"/><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F896990-1B0F-2015-8CCB-BA649CD03014}"/>
              </a:ext>
            </a:extLst>
          </p:cNvPr>
          <p:cNvSpPr txBox="1"/>
          <p:nvPr/>
        </p:nvSpPr>
        <p:spPr>
          <a:xfrm>
            <a:off x="1979712" y="2204864"/>
            <a:ext cx="4581524" cy="523220"/>
          </a:xfrm>
          <a:prstGeom prst="rect">
            <a:avLst/>
          </a:prstGeom>
          <a:noFill/>
        </p:spPr>
        <p:txBody>
          <a:bodyPr wrap="square">
            <a:spAutoFit/>
          </a:bodyPr>
          <a:lstStyle/>
          <a:p>
            <a:r>
              <a:rPr lang="en-US" sz="2800" b="1" dirty="0">
                <a:latin typeface="Times New Roman" panose="02020603050405020304" pitchFamily="18" charset="0"/>
                <a:cs typeface="Times New Roman" panose="02020603050405020304" pitchFamily="18" charset="0"/>
              </a:rPr>
              <a:t>VECTOR DATABASE</a:t>
            </a:r>
          </a:p>
        </p:txBody>
      </p:sp>
    </p:spTree>
    <p:extLst>
      <p:ext uri="{BB962C8B-B14F-4D97-AF65-F5344CB8AC3E}">
        <p14:creationId xmlns:p14="http://schemas.microsoft.com/office/powerpoint/2010/main" val="7961248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BFDCF323-88A4-284B-6E49-4F7254EB101E}"/>
              </a:ext>
            </a:extLst>
          </p:cNvPr>
          <p:cNvSpPr>
            <a:spLocks noGrp="1"/>
          </p:cNvSpPr>
          <p:nvPr>
            <p:ph type="subTitle" idx="1"/>
          </p:nvPr>
        </p:nvSpPr>
        <p:spPr>
          <a:xfrm>
            <a:off x="467544" y="1556792"/>
            <a:ext cx="8496944" cy="4082008"/>
          </a:xfrm>
        </p:spPr>
        <p:txBody>
          <a:bodyPr>
            <a:normAutofit lnSpcReduction="10000"/>
          </a:bodyPr>
          <a:lstStyle/>
          <a:p>
            <a:pPr algn="l"/>
            <a:r>
              <a:rPr lang="en-IN" dirty="0">
                <a:solidFill>
                  <a:srgbClr val="FF0000"/>
                </a:solidFill>
              </a:rPr>
              <a:t>Existing Problem:</a:t>
            </a:r>
          </a:p>
          <a:p>
            <a:pPr algn="l"/>
            <a:r>
              <a:rPr lang="en-US" b="0" i="0" dirty="0">
                <a:solidFill>
                  <a:srgbClr val="091E42"/>
                </a:solidFill>
                <a:effectLst/>
                <a:latin typeface="freight-text-pro"/>
              </a:rPr>
              <a:t>While easy, retrieving and storing vector embeddings locally, such as in a </a:t>
            </a:r>
            <a:r>
              <a:rPr lang="en-US" b="0" i="0" dirty="0" err="1">
                <a:solidFill>
                  <a:srgbClr val="091E42"/>
                </a:solidFill>
                <a:effectLst/>
                <a:latin typeface="freight-text-pro"/>
              </a:rPr>
              <a:t>dataframe</a:t>
            </a:r>
            <a:r>
              <a:rPr lang="en-US" b="0" i="0" dirty="0">
                <a:solidFill>
                  <a:srgbClr val="091E42"/>
                </a:solidFill>
                <a:effectLst/>
                <a:latin typeface="freight-text-pro"/>
              </a:rPr>
              <a:t>, is quite time-consuming when the operation is scaled to include multiple documents. This can give rise to latency issues in our semantic search application, especially when real-time search and retrieval are required. </a:t>
            </a:r>
            <a:endParaRPr lang="en-IN" dirty="0"/>
          </a:p>
        </p:txBody>
      </p:sp>
    </p:spTree>
    <p:extLst>
      <p:ext uri="{BB962C8B-B14F-4D97-AF65-F5344CB8AC3E}">
        <p14:creationId xmlns:p14="http://schemas.microsoft.com/office/powerpoint/2010/main" val="17651333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FA9533-2C6B-19F0-973F-1CBB8B4D5D38}"/>
              </a:ext>
            </a:extLst>
          </p:cNvPr>
          <p:cNvSpPr>
            <a:spLocks noGrp="1"/>
          </p:cNvSpPr>
          <p:nvPr>
            <p:ph type="title"/>
          </p:nvPr>
        </p:nvSpPr>
        <p:spPr/>
        <p:txBody>
          <a:bodyPr/>
          <a:lstStyle/>
          <a:p>
            <a:r>
              <a:rPr lang="en-IN" b="1" i="0" dirty="0">
                <a:solidFill>
                  <a:srgbClr val="091E42"/>
                </a:solidFill>
                <a:effectLst/>
                <a:latin typeface="circular"/>
              </a:rPr>
              <a:t>Vector Stores</a:t>
            </a:r>
            <a:endParaRPr lang="en-IN" dirty="0"/>
          </a:p>
        </p:txBody>
      </p:sp>
      <p:sp>
        <p:nvSpPr>
          <p:cNvPr id="3" name="Content Placeholder 2">
            <a:extLst>
              <a:ext uri="{FF2B5EF4-FFF2-40B4-BE49-F238E27FC236}">
                <a16:creationId xmlns:a16="http://schemas.microsoft.com/office/drawing/2014/main" id="{21FBB69E-89B9-82EC-9493-E56DB0A38CFB}"/>
              </a:ext>
            </a:extLst>
          </p:cNvPr>
          <p:cNvSpPr>
            <a:spLocks noGrp="1"/>
          </p:cNvSpPr>
          <p:nvPr>
            <p:ph idx="1"/>
          </p:nvPr>
        </p:nvSpPr>
        <p:spPr/>
        <p:txBody>
          <a:bodyPr/>
          <a:lstStyle/>
          <a:p>
            <a:r>
              <a:rPr lang="en-US" b="0" i="0" dirty="0">
                <a:solidFill>
                  <a:srgbClr val="091E42"/>
                </a:solidFill>
                <a:effectLst/>
                <a:latin typeface="freight-text-pro"/>
              </a:rPr>
              <a:t>a vector store is a data storage system that is specially designed to store, index and retrieve high-dimensional vectors quickly. They can store and retrieve vectors much faster than traditional relational databases (RDBMS) and local storage options such as </a:t>
            </a:r>
            <a:r>
              <a:rPr lang="en-US" b="0" i="0" dirty="0" err="1">
                <a:solidFill>
                  <a:srgbClr val="091E42"/>
                </a:solidFill>
                <a:effectLst/>
                <a:latin typeface="freight-text-pro"/>
              </a:rPr>
              <a:t>dataframes</a:t>
            </a:r>
            <a:r>
              <a:rPr lang="en-US" b="0" i="0" dirty="0">
                <a:solidFill>
                  <a:srgbClr val="091E42"/>
                </a:solidFill>
                <a:effectLst/>
                <a:latin typeface="freight-text-pro"/>
              </a:rPr>
              <a:t> or flat files (.csv, .xlsx etc.). </a:t>
            </a:r>
            <a:endParaRPr lang="en-IN" dirty="0"/>
          </a:p>
        </p:txBody>
      </p:sp>
    </p:spTree>
    <p:extLst>
      <p:ext uri="{BB962C8B-B14F-4D97-AF65-F5344CB8AC3E}">
        <p14:creationId xmlns:p14="http://schemas.microsoft.com/office/powerpoint/2010/main" val="39635939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62EF2C-FFEB-687C-135D-FA4217A01985}"/>
              </a:ext>
            </a:extLst>
          </p:cNvPr>
          <p:cNvSpPr>
            <a:spLocks noGrp="1"/>
          </p:cNvSpPr>
          <p:nvPr>
            <p:ph type="title"/>
          </p:nvPr>
        </p:nvSpPr>
        <p:spPr/>
        <p:txBody>
          <a:bodyPr/>
          <a:lstStyle/>
          <a:p>
            <a:r>
              <a:rPr lang="en-IN" dirty="0"/>
              <a:t>RDMS vs Vector Store</a:t>
            </a:r>
          </a:p>
        </p:txBody>
      </p:sp>
      <p:pic>
        <p:nvPicPr>
          <p:cNvPr id="1028" name="Picture 4" descr="key differences between relational databases and vector stores">
            <a:extLst>
              <a:ext uri="{FF2B5EF4-FFF2-40B4-BE49-F238E27FC236}">
                <a16:creationId xmlns:a16="http://schemas.microsoft.com/office/drawing/2014/main" id="{FB9E6D84-EEED-F16E-9C4A-2CEEF3D848C4}"/>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57200" y="1805781"/>
            <a:ext cx="8229600" cy="4114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451663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7AB5DF1-AD0C-A762-69F6-BFBF501180AE}"/>
              </a:ext>
            </a:extLst>
          </p:cNvPr>
          <p:cNvSpPr txBox="1"/>
          <p:nvPr/>
        </p:nvSpPr>
        <p:spPr>
          <a:xfrm>
            <a:off x="1475656" y="332656"/>
            <a:ext cx="4582160" cy="523220"/>
          </a:xfrm>
          <a:prstGeom prst="rect">
            <a:avLst/>
          </a:prstGeom>
          <a:noFill/>
        </p:spPr>
        <p:txBody>
          <a:bodyPr wrap="square">
            <a:spAutoFit/>
          </a:bodyPr>
          <a:lstStyle/>
          <a:p>
            <a:pPr algn="l"/>
            <a:r>
              <a:rPr lang="en-US" sz="2800" b="1" i="0" dirty="0">
                <a:effectLst/>
                <a:latin typeface="Times New Roman" panose="02020603050405020304" pitchFamily="18" charset="0"/>
                <a:cs typeface="Times New Roman" panose="02020603050405020304" pitchFamily="18" charset="0"/>
              </a:rPr>
              <a:t>What</a:t>
            </a:r>
            <a:r>
              <a:rPr lang="en-US" sz="2800" b="1" i="0" dirty="0">
                <a:effectLst/>
                <a:latin typeface="__mediumLLWeb_4813c6"/>
              </a:rPr>
              <a:t> is a Vector Database?</a:t>
            </a:r>
          </a:p>
        </p:txBody>
      </p:sp>
      <p:sp>
        <p:nvSpPr>
          <p:cNvPr id="7" name="TextBox 6">
            <a:extLst>
              <a:ext uri="{FF2B5EF4-FFF2-40B4-BE49-F238E27FC236}">
                <a16:creationId xmlns:a16="http://schemas.microsoft.com/office/drawing/2014/main" id="{4C221606-C8D8-AB61-6593-B3BB8155B276}"/>
              </a:ext>
            </a:extLst>
          </p:cNvPr>
          <p:cNvSpPr txBox="1"/>
          <p:nvPr/>
        </p:nvSpPr>
        <p:spPr>
          <a:xfrm>
            <a:off x="323528" y="1196752"/>
            <a:ext cx="8568952" cy="3970318"/>
          </a:xfrm>
          <a:prstGeom prst="rect">
            <a:avLst/>
          </a:prstGeom>
          <a:noFill/>
        </p:spPr>
        <p:txBody>
          <a:bodyPr wrap="square">
            <a:spAutoFit/>
          </a:bodyPr>
          <a:lstStyle/>
          <a:p>
            <a:pPr algn="l"/>
            <a:r>
              <a:rPr lang="en-US" b="0" i="0" dirty="0">
                <a:solidFill>
                  <a:srgbClr val="000000"/>
                </a:solidFill>
                <a:effectLst/>
                <a:latin typeface="__mediumLLWeb_4813c6"/>
              </a:rPr>
              <a:t>All of these new applications rely on</a:t>
            </a:r>
            <a:r>
              <a:rPr lang="en-US" dirty="0">
                <a:solidFill>
                  <a:srgbClr val="000000"/>
                </a:solidFill>
                <a:latin typeface="__mediumLLWeb_4813c6"/>
              </a:rPr>
              <a:t> </a:t>
            </a:r>
            <a:r>
              <a:rPr lang="en-US" dirty="0">
                <a:solidFill>
                  <a:srgbClr val="000000"/>
                </a:solidFill>
                <a:latin typeface="__mediumLLWeb_4813c6"/>
                <a:hlinkClick r:id="rId2">
                  <a:extLst>
                    <a:ext uri="{A12FA001-AC4F-418D-AE19-62706E023703}">
                      <ahyp:hlinkClr xmlns:ahyp="http://schemas.microsoft.com/office/drawing/2018/hyperlinkcolor" val="tx"/>
                    </a:ext>
                  </a:extLst>
                </a:hlinkClick>
              </a:rPr>
              <a:t>vector embeddings</a:t>
            </a:r>
            <a:r>
              <a:rPr lang="en-US" dirty="0">
                <a:solidFill>
                  <a:srgbClr val="000000"/>
                </a:solidFill>
                <a:latin typeface="__mediumLLWeb_4813c6"/>
              </a:rPr>
              <a:t>, a </a:t>
            </a:r>
            <a:r>
              <a:rPr lang="en-US" b="0" i="0" dirty="0">
                <a:solidFill>
                  <a:srgbClr val="000000"/>
                </a:solidFill>
                <a:effectLst/>
                <a:latin typeface="__mediumLLWeb_4813c6"/>
              </a:rPr>
              <a:t>type of data representation that carries within it semantic information that’s critical for the AI to gain understanding and maintain a long-term memory they can draw upon when executing complex tasks.</a:t>
            </a:r>
          </a:p>
          <a:p>
            <a:pPr algn="l"/>
            <a:r>
              <a:rPr lang="en-US" b="1" i="0" dirty="0">
                <a:solidFill>
                  <a:srgbClr val="000000"/>
                </a:solidFill>
                <a:effectLst/>
                <a:latin typeface="__mediumLLWeb_4813c6"/>
              </a:rPr>
              <a:t>Embeddings</a:t>
            </a:r>
            <a:r>
              <a:rPr lang="en-US" b="0" i="0" dirty="0">
                <a:solidFill>
                  <a:srgbClr val="000000"/>
                </a:solidFill>
                <a:effectLst/>
                <a:latin typeface="__mediumLLWeb_4813c6"/>
              </a:rPr>
              <a:t> are generated by AI models (such as Large Language Models) and have a large number of attributes or features, making their representation challenging to manage. In the context of AI and machine learning, these features represent different dimensions of the data that are essential for understanding patterns, relationships, and underlying structures.</a:t>
            </a:r>
          </a:p>
          <a:p>
            <a:pPr algn="l"/>
            <a:r>
              <a:rPr lang="en-US" b="0" i="0" dirty="0">
                <a:solidFill>
                  <a:srgbClr val="000000"/>
                </a:solidFill>
                <a:effectLst/>
                <a:latin typeface="__mediumLLWeb_4813c6"/>
              </a:rPr>
              <a:t>That is why we need a specialized database designed specifically for handling this type of data. </a:t>
            </a:r>
            <a:r>
              <a:rPr lang="en-US" b="1" i="0" dirty="0">
                <a:solidFill>
                  <a:srgbClr val="000000"/>
                </a:solidFill>
                <a:effectLst/>
                <a:latin typeface="__mediumLLWeb_4813c6"/>
              </a:rPr>
              <a:t>Vector databases</a:t>
            </a:r>
            <a:r>
              <a:rPr lang="en-US" b="0" i="0" dirty="0">
                <a:solidFill>
                  <a:srgbClr val="000000"/>
                </a:solidFill>
                <a:effectLst/>
                <a:latin typeface="__mediumLLWeb_4813c6"/>
              </a:rPr>
              <a:t> like </a:t>
            </a:r>
            <a:r>
              <a:rPr lang="en-US" dirty="0">
                <a:solidFill>
                  <a:srgbClr val="000000"/>
                </a:solidFill>
                <a:latin typeface="__mediumLLWeb_4813c6"/>
              </a:rPr>
              <a:t>Chroma DB </a:t>
            </a:r>
            <a:r>
              <a:rPr lang="en-US" b="0" i="0" dirty="0">
                <a:solidFill>
                  <a:srgbClr val="000000"/>
                </a:solidFill>
                <a:effectLst/>
                <a:latin typeface="__mediumLLWeb_4813c6"/>
              </a:rPr>
              <a:t>fulfill this requirement by offering optimized storage and querying capabilities for embeddings. Vector databases have the capabilities of a traditional database that are absent in standalone vector indexes and the specialization of dealing with vector embeddings, which traditional scalar-based databases lack.</a:t>
            </a:r>
          </a:p>
        </p:txBody>
      </p:sp>
    </p:spTree>
    <p:extLst>
      <p:ext uri="{BB962C8B-B14F-4D97-AF65-F5344CB8AC3E}">
        <p14:creationId xmlns:p14="http://schemas.microsoft.com/office/powerpoint/2010/main" val="6098782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D04704-1C88-881E-A3B1-06AB4C808567}"/>
              </a:ext>
            </a:extLst>
          </p:cNvPr>
          <p:cNvSpPr>
            <a:spLocks noGrp="1"/>
          </p:cNvSpPr>
          <p:nvPr>
            <p:ph type="title"/>
          </p:nvPr>
        </p:nvSpPr>
        <p:spPr/>
        <p:txBody>
          <a:bodyPr/>
          <a:lstStyle/>
          <a:p>
            <a:r>
              <a:rPr lang="en-IN" dirty="0"/>
              <a:t>Type of Vector Store</a:t>
            </a:r>
          </a:p>
        </p:txBody>
      </p:sp>
      <p:sp>
        <p:nvSpPr>
          <p:cNvPr id="3" name="Text Placeholder 2">
            <a:extLst>
              <a:ext uri="{FF2B5EF4-FFF2-40B4-BE49-F238E27FC236}">
                <a16:creationId xmlns:a16="http://schemas.microsoft.com/office/drawing/2014/main" id="{E79BCFE4-B96E-E8A9-6254-7607B0F97F83}"/>
              </a:ext>
            </a:extLst>
          </p:cNvPr>
          <p:cNvSpPr>
            <a:spLocks noGrp="1"/>
          </p:cNvSpPr>
          <p:nvPr>
            <p:ph type="body" idx="1"/>
          </p:nvPr>
        </p:nvSpPr>
        <p:spPr>
          <a:xfrm>
            <a:off x="395536" y="1268760"/>
            <a:ext cx="4101852" cy="906115"/>
          </a:xfrm>
        </p:spPr>
        <p:txBody>
          <a:bodyPr>
            <a:normAutofit/>
          </a:bodyPr>
          <a:lstStyle/>
          <a:p>
            <a:r>
              <a:rPr lang="en-IN" sz="3600" b="0" i="0" dirty="0">
                <a:solidFill>
                  <a:srgbClr val="091E42"/>
                </a:solidFill>
                <a:effectLst/>
              </a:rPr>
              <a:t>vector libraries </a:t>
            </a:r>
            <a:endParaRPr lang="en-IN" sz="3600" dirty="0"/>
          </a:p>
        </p:txBody>
      </p:sp>
      <p:sp>
        <p:nvSpPr>
          <p:cNvPr id="4" name="Content Placeholder 3">
            <a:extLst>
              <a:ext uri="{FF2B5EF4-FFF2-40B4-BE49-F238E27FC236}">
                <a16:creationId xmlns:a16="http://schemas.microsoft.com/office/drawing/2014/main" id="{F06B563E-C132-2289-767C-02A073CD8784}"/>
              </a:ext>
            </a:extLst>
          </p:cNvPr>
          <p:cNvSpPr>
            <a:spLocks noGrp="1"/>
          </p:cNvSpPr>
          <p:nvPr>
            <p:ph sz="half" idx="2"/>
          </p:nvPr>
        </p:nvSpPr>
        <p:spPr>
          <a:xfrm>
            <a:off x="107504" y="2174874"/>
            <a:ext cx="4389884" cy="4566493"/>
          </a:xfrm>
        </p:spPr>
        <p:txBody>
          <a:bodyPr>
            <a:normAutofit fontScale="77500" lnSpcReduction="20000"/>
          </a:bodyPr>
          <a:lstStyle/>
          <a:p>
            <a:r>
              <a:rPr lang="en-US" b="0" i="0" dirty="0">
                <a:solidFill>
                  <a:srgbClr val="091E42"/>
                </a:solidFill>
                <a:effectLst/>
                <a:latin typeface="freight-text-pro"/>
              </a:rPr>
              <a:t>Vector libraries (also referred to as vector indices or vector search libraries) are popular for quick prototyping purposes and when the data size is considerably small. </a:t>
            </a:r>
          </a:p>
          <a:p>
            <a:endParaRPr lang="en-US" dirty="0">
              <a:solidFill>
                <a:srgbClr val="091E42"/>
              </a:solidFill>
              <a:latin typeface="freight-text-pro"/>
            </a:endParaRPr>
          </a:p>
          <a:p>
            <a:endParaRPr lang="en-US" b="0" i="0" dirty="0">
              <a:solidFill>
                <a:srgbClr val="091E42"/>
              </a:solidFill>
              <a:effectLst/>
              <a:latin typeface="freight-text-pro"/>
            </a:endParaRPr>
          </a:p>
          <a:p>
            <a:endParaRPr lang="en-US" b="0" i="0" dirty="0">
              <a:solidFill>
                <a:srgbClr val="091E42"/>
              </a:solidFill>
              <a:effectLst/>
              <a:latin typeface="freight-text-pro"/>
            </a:endParaRPr>
          </a:p>
          <a:p>
            <a:r>
              <a:rPr lang="en-US" b="0" i="0" dirty="0">
                <a:solidFill>
                  <a:srgbClr val="091E42"/>
                </a:solidFill>
                <a:effectLst/>
                <a:latin typeface="freight-text-pro"/>
              </a:rPr>
              <a:t>These libraries do not support the usual create, read, update and delete (CRUD) support that traditional relational databases and vector databases offer; hence, they are not suitable for building scalable applications. </a:t>
            </a:r>
            <a:endParaRPr lang="en-IN" dirty="0"/>
          </a:p>
        </p:txBody>
      </p:sp>
      <p:sp>
        <p:nvSpPr>
          <p:cNvPr id="5" name="Text Placeholder 4">
            <a:extLst>
              <a:ext uri="{FF2B5EF4-FFF2-40B4-BE49-F238E27FC236}">
                <a16:creationId xmlns:a16="http://schemas.microsoft.com/office/drawing/2014/main" id="{5013C8C3-351D-9110-E04C-A3C0A7A55DD7}"/>
              </a:ext>
            </a:extLst>
          </p:cNvPr>
          <p:cNvSpPr>
            <a:spLocks noGrp="1"/>
          </p:cNvSpPr>
          <p:nvPr>
            <p:ph type="body" sz="quarter" idx="3"/>
          </p:nvPr>
        </p:nvSpPr>
        <p:spPr/>
        <p:txBody>
          <a:bodyPr>
            <a:noAutofit/>
          </a:bodyPr>
          <a:lstStyle/>
          <a:p>
            <a:r>
              <a:rPr lang="en-IN" sz="3600" b="0" i="0" dirty="0">
                <a:solidFill>
                  <a:srgbClr val="091E42"/>
                </a:solidFill>
                <a:effectLst/>
              </a:rPr>
              <a:t>vector databases</a:t>
            </a:r>
            <a:endParaRPr lang="en-IN" sz="3600" dirty="0"/>
          </a:p>
        </p:txBody>
      </p:sp>
      <p:sp>
        <p:nvSpPr>
          <p:cNvPr id="6" name="Content Placeholder 5">
            <a:extLst>
              <a:ext uri="{FF2B5EF4-FFF2-40B4-BE49-F238E27FC236}">
                <a16:creationId xmlns:a16="http://schemas.microsoft.com/office/drawing/2014/main" id="{22F35D82-F763-6CFF-817D-FCA2CB525D2C}"/>
              </a:ext>
            </a:extLst>
          </p:cNvPr>
          <p:cNvSpPr>
            <a:spLocks noGrp="1"/>
          </p:cNvSpPr>
          <p:nvPr>
            <p:ph sz="quarter" idx="4"/>
          </p:nvPr>
        </p:nvSpPr>
        <p:spPr>
          <a:xfrm>
            <a:off x="4645025" y="2174875"/>
            <a:ext cx="4498975" cy="3951288"/>
          </a:xfrm>
        </p:spPr>
        <p:txBody>
          <a:bodyPr>
            <a:normAutofit fontScale="77500" lnSpcReduction="20000"/>
          </a:bodyPr>
          <a:lstStyle/>
          <a:p>
            <a:r>
              <a:rPr lang="en-US" b="0" i="0" dirty="0">
                <a:solidFill>
                  <a:srgbClr val="091E42"/>
                </a:solidFill>
                <a:effectLst/>
                <a:latin typeface="freight-text-pro"/>
              </a:rPr>
              <a:t>Vector databases are optimized for storage and the retrieval of vector embeddings with the additional capabilities to store and update the vector embeddings, as they support CRUD operations natively. </a:t>
            </a:r>
          </a:p>
          <a:p>
            <a:endParaRPr lang="en-US" dirty="0">
              <a:solidFill>
                <a:srgbClr val="091E42"/>
              </a:solidFill>
              <a:latin typeface="freight-text-pro"/>
            </a:endParaRPr>
          </a:p>
          <a:p>
            <a:r>
              <a:rPr lang="en-US" b="0" i="0" dirty="0">
                <a:solidFill>
                  <a:srgbClr val="091E42"/>
                </a:solidFill>
                <a:effectLst/>
                <a:latin typeface="freight-text-pro"/>
              </a:rPr>
              <a:t>This makes them a great choice for applications that require low-latency search, such as recommendation systems, search engines and chatbots. Vector databases are typically more focused on enterprise-level production deployments as opposed to vector libraries that are used for quick prototyping.</a:t>
            </a:r>
            <a:endParaRPr lang="en-IN" dirty="0"/>
          </a:p>
        </p:txBody>
      </p:sp>
    </p:spTree>
    <p:extLst>
      <p:ext uri="{BB962C8B-B14F-4D97-AF65-F5344CB8AC3E}">
        <p14:creationId xmlns:p14="http://schemas.microsoft.com/office/powerpoint/2010/main" val="17758708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5DA4B260-932B-260A-19C2-F328799A61AC}"/>
              </a:ext>
            </a:extLst>
          </p:cNvPr>
          <p:cNvSpPr>
            <a:spLocks noGrp="1"/>
          </p:cNvSpPr>
          <p:nvPr>
            <p:ph type="title"/>
          </p:nvPr>
        </p:nvSpPr>
        <p:spPr/>
        <p:txBody>
          <a:bodyPr/>
          <a:lstStyle/>
          <a:p>
            <a:r>
              <a:rPr lang="en-IN" dirty="0"/>
              <a:t>Vector Libraries vs Vector DB</a:t>
            </a:r>
          </a:p>
        </p:txBody>
      </p:sp>
      <p:sp>
        <p:nvSpPr>
          <p:cNvPr id="9" name="Content Placeholder 8">
            <a:extLst>
              <a:ext uri="{FF2B5EF4-FFF2-40B4-BE49-F238E27FC236}">
                <a16:creationId xmlns:a16="http://schemas.microsoft.com/office/drawing/2014/main" id="{2D47CF0C-2110-CC3F-2CFE-4EDE6C5BCC28}"/>
              </a:ext>
            </a:extLst>
          </p:cNvPr>
          <p:cNvSpPr>
            <a:spLocks noGrp="1"/>
          </p:cNvSpPr>
          <p:nvPr>
            <p:ph sz="half" idx="2"/>
          </p:nvPr>
        </p:nvSpPr>
        <p:spPr/>
        <p:txBody>
          <a:bodyPr/>
          <a:lstStyle/>
          <a:p>
            <a:r>
              <a:rPr lang="en-IN" dirty="0"/>
              <a:t>Chroma</a:t>
            </a:r>
          </a:p>
          <a:p>
            <a:r>
              <a:rPr lang="en-IN" dirty="0" err="1"/>
              <a:t>PineCone</a:t>
            </a:r>
            <a:endParaRPr lang="en-IN" dirty="0"/>
          </a:p>
          <a:p>
            <a:r>
              <a:rPr lang="en-IN" dirty="0"/>
              <a:t>Milvus</a:t>
            </a:r>
          </a:p>
          <a:p>
            <a:r>
              <a:rPr lang="en-IN" dirty="0" err="1"/>
              <a:t>Weviate</a:t>
            </a:r>
            <a:endParaRPr lang="en-IN" dirty="0"/>
          </a:p>
          <a:p>
            <a:r>
              <a:rPr lang="en-IN" dirty="0" err="1"/>
              <a:t>Qdrant</a:t>
            </a:r>
            <a:endParaRPr lang="en-IN" dirty="0"/>
          </a:p>
        </p:txBody>
      </p:sp>
      <p:sp>
        <p:nvSpPr>
          <p:cNvPr id="12" name="Content Placeholder 11">
            <a:extLst>
              <a:ext uri="{FF2B5EF4-FFF2-40B4-BE49-F238E27FC236}">
                <a16:creationId xmlns:a16="http://schemas.microsoft.com/office/drawing/2014/main" id="{75D7B5AB-37F1-0100-386C-32C32A1CF18E}"/>
              </a:ext>
            </a:extLst>
          </p:cNvPr>
          <p:cNvSpPr>
            <a:spLocks noGrp="1"/>
          </p:cNvSpPr>
          <p:nvPr>
            <p:ph sz="half" idx="1"/>
          </p:nvPr>
        </p:nvSpPr>
        <p:spPr/>
        <p:txBody>
          <a:bodyPr/>
          <a:lstStyle/>
          <a:p>
            <a:r>
              <a:rPr lang="en-IN" dirty="0"/>
              <a:t>Facebook- FAISS</a:t>
            </a:r>
          </a:p>
          <a:p>
            <a:r>
              <a:rPr lang="en-IN" dirty="0"/>
              <a:t>Spotify- ANNOY</a:t>
            </a:r>
          </a:p>
          <a:p>
            <a:r>
              <a:rPr lang="en-IN" dirty="0"/>
              <a:t>Google – </a:t>
            </a:r>
            <a:r>
              <a:rPr lang="en-IN" dirty="0" err="1"/>
              <a:t>SCaNN</a:t>
            </a:r>
            <a:endParaRPr lang="en-IN" dirty="0"/>
          </a:p>
          <a:p>
            <a:r>
              <a:rPr lang="en-IN" dirty="0"/>
              <a:t>NMSLIB</a:t>
            </a:r>
          </a:p>
        </p:txBody>
      </p:sp>
    </p:spTree>
    <p:extLst>
      <p:ext uri="{BB962C8B-B14F-4D97-AF65-F5344CB8AC3E}">
        <p14:creationId xmlns:p14="http://schemas.microsoft.com/office/powerpoint/2010/main" val="18338989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FC5528B-B27E-78F2-F31E-91788D4DA53E}"/>
              </a:ext>
            </a:extLst>
          </p:cNvPr>
          <p:cNvSpPr txBox="1"/>
          <p:nvPr/>
        </p:nvSpPr>
        <p:spPr>
          <a:xfrm>
            <a:off x="179512" y="741924"/>
            <a:ext cx="8964488" cy="1200329"/>
          </a:xfrm>
          <a:prstGeom prst="rect">
            <a:avLst/>
          </a:prstGeom>
          <a:noFill/>
        </p:spPr>
        <p:txBody>
          <a:bodyPr wrap="square">
            <a:spAutoFit/>
          </a:bodyPr>
          <a:lstStyle/>
          <a:p>
            <a:r>
              <a:rPr lang="en-US" b="1" i="0" dirty="0" err="1">
                <a:solidFill>
                  <a:srgbClr val="2E2F30"/>
                </a:solidFill>
                <a:effectLst/>
                <a:latin typeface="Inter"/>
              </a:rPr>
              <a:t>Faiss</a:t>
            </a:r>
            <a:r>
              <a:rPr lang="en-US" b="0" i="0" dirty="0">
                <a:solidFill>
                  <a:srgbClr val="2E2F30"/>
                </a:solidFill>
                <a:effectLst/>
                <a:latin typeface="Inter"/>
              </a:rPr>
              <a:t>: </a:t>
            </a:r>
            <a:r>
              <a:rPr lang="en-US" b="0" i="0" dirty="0" err="1">
                <a:solidFill>
                  <a:srgbClr val="2E2F30"/>
                </a:solidFill>
                <a:effectLst/>
                <a:latin typeface="Inter"/>
              </a:rPr>
              <a:t>Faiss</a:t>
            </a:r>
            <a:r>
              <a:rPr lang="en-US" b="0" i="0" dirty="0">
                <a:solidFill>
                  <a:srgbClr val="2E2F30"/>
                </a:solidFill>
                <a:effectLst/>
                <a:latin typeface="Inter"/>
              </a:rPr>
              <a:t> is a library for efficient similarity search and clustering of dense vectors. It supports various index types and offers features such as searching multiple vectors at once, different distance metrics, and saving the index to disk. </a:t>
            </a:r>
            <a:r>
              <a:rPr lang="en-US" b="0" i="0" dirty="0" err="1">
                <a:solidFill>
                  <a:srgbClr val="2E2F30"/>
                </a:solidFill>
                <a:effectLst/>
                <a:latin typeface="Inter"/>
              </a:rPr>
              <a:t>Faiss</a:t>
            </a:r>
            <a:r>
              <a:rPr lang="en-US" b="0" i="0" dirty="0">
                <a:solidFill>
                  <a:srgbClr val="2E2F30"/>
                </a:solidFill>
                <a:effectLst/>
                <a:latin typeface="Inter"/>
              </a:rPr>
              <a:t> is primarily developed by the Metas Fundamental AI Research group and is widely used for similarity search</a:t>
            </a:r>
            <a:endParaRPr lang="en-US" dirty="0"/>
          </a:p>
        </p:txBody>
      </p:sp>
      <p:pic>
        <p:nvPicPr>
          <p:cNvPr id="5" name="Picture 4">
            <a:extLst>
              <a:ext uri="{FF2B5EF4-FFF2-40B4-BE49-F238E27FC236}">
                <a16:creationId xmlns:a16="http://schemas.microsoft.com/office/drawing/2014/main" id="{8D38D8F1-F518-F45F-A8F8-99DD940D71DD}"/>
              </a:ext>
            </a:extLst>
          </p:cNvPr>
          <p:cNvPicPr>
            <a:picLocks noChangeAspect="1"/>
          </p:cNvPicPr>
          <p:nvPr/>
        </p:nvPicPr>
        <p:blipFill>
          <a:blip r:embed="rId2"/>
          <a:stretch>
            <a:fillRect/>
          </a:stretch>
        </p:blipFill>
        <p:spPr>
          <a:xfrm>
            <a:off x="26293" y="1942253"/>
            <a:ext cx="9144000" cy="4887916"/>
          </a:xfrm>
          <a:prstGeom prst="rect">
            <a:avLst/>
          </a:prstGeom>
        </p:spPr>
      </p:pic>
      <p:sp>
        <p:nvSpPr>
          <p:cNvPr id="7" name="TextBox 6">
            <a:extLst>
              <a:ext uri="{FF2B5EF4-FFF2-40B4-BE49-F238E27FC236}">
                <a16:creationId xmlns:a16="http://schemas.microsoft.com/office/drawing/2014/main" id="{F8717E48-D990-17B9-D139-0293CD3A5190}"/>
              </a:ext>
            </a:extLst>
          </p:cNvPr>
          <p:cNvSpPr txBox="1"/>
          <p:nvPr/>
        </p:nvSpPr>
        <p:spPr>
          <a:xfrm>
            <a:off x="1115616" y="55521"/>
            <a:ext cx="4581524" cy="523220"/>
          </a:xfrm>
          <a:prstGeom prst="rect">
            <a:avLst/>
          </a:prstGeom>
          <a:noFill/>
        </p:spPr>
        <p:txBody>
          <a:bodyPr wrap="square">
            <a:spAutoFit/>
          </a:bodyPr>
          <a:lstStyle/>
          <a:p>
            <a:pPr algn="l"/>
            <a:r>
              <a:rPr lang="en-US" sz="2800" b="1" i="0" dirty="0">
                <a:effectLst/>
                <a:latin typeface="Times New Roman" panose="02020603050405020304" pitchFamily="18" charset="0"/>
                <a:cs typeface="Times New Roman" panose="02020603050405020304" pitchFamily="18" charset="0"/>
              </a:rPr>
              <a:t>Vector Library</a:t>
            </a:r>
            <a:endParaRPr lang="en-US" sz="2800" b="1" i="0" dirty="0">
              <a:effectLst/>
              <a:latin typeface="__mediumLLWeb_4813c6"/>
            </a:endParaRPr>
          </a:p>
        </p:txBody>
      </p:sp>
    </p:spTree>
    <p:extLst>
      <p:ext uri="{BB962C8B-B14F-4D97-AF65-F5344CB8AC3E}">
        <p14:creationId xmlns:p14="http://schemas.microsoft.com/office/powerpoint/2010/main" val="27046058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D2EEB30-45EA-A1BE-1BFF-030CECB57E64}"/>
              </a:ext>
            </a:extLst>
          </p:cNvPr>
          <p:cNvPicPr>
            <a:picLocks noChangeAspect="1"/>
          </p:cNvPicPr>
          <p:nvPr/>
        </p:nvPicPr>
        <p:blipFill>
          <a:blip r:embed="rId2"/>
          <a:stretch>
            <a:fillRect/>
          </a:stretch>
        </p:blipFill>
        <p:spPr>
          <a:xfrm>
            <a:off x="0" y="979045"/>
            <a:ext cx="9144000" cy="4899910"/>
          </a:xfrm>
          <a:prstGeom prst="rect">
            <a:avLst/>
          </a:prstGeom>
        </p:spPr>
      </p:pic>
    </p:spTree>
    <p:extLst>
      <p:ext uri="{BB962C8B-B14F-4D97-AF65-F5344CB8AC3E}">
        <p14:creationId xmlns:p14="http://schemas.microsoft.com/office/powerpoint/2010/main" val="9286961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B66E8A8-D97A-15CF-A95B-7B337ED85F42}"/>
              </a:ext>
            </a:extLst>
          </p:cNvPr>
          <p:cNvPicPr>
            <a:picLocks noChangeAspect="1"/>
          </p:cNvPicPr>
          <p:nvPr/>
        </p:nvPicPr>
        <p:blipFill>
          <a:blip r:embed="rId2"/>
          <a:stretch>
            <a:fillRect/>
          </a:stretch>
        </p:blipFill>
        <p:spPr>
          <a:xfrm>
            <a:off x="0" y="1053445"/>
            <a:ext cx="9144000" cy="4751109"/>
          </a:xfrm>
          <a:prstGeom prst="rect">
            <a:avLst/>
          </a:prstGeom>
        </p:spPr>
      </p:pic>
    </p:spTree>
    <p:extLst>
      <p:ext uri="{BB962C8B-B14F-4D97-AF65-F5344CB8AC3E}">
        <p14:creationId xmlns:p14="http://schemas.microsoft.com/office/powerpoint/2010/main" val="2500780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26CFF3F-7B82-3DEB-11CC-2F5942B44413}"/>
              </a:ext>
            </a:extLst>
          </p:cNvPr>
          <p:cNvSpPr txBox="1"/>
          <p:nvPr/>
        </p:nvSpPr>
        <p:spPr>
          <a:xfrm>
            <a:off x="179512" y="1124744"/>
            <a:ext cx="8856984" cy="1200329"/>
          </a:xfrm>
          <a:prstGeom prst="rect">
            <a:avLst/>
          </a:prstGeom>
          <a:noFill/>
        </p:spPr>
        <p:txBody>
          <a:bodyPr wrap="square">
            <a:spAutoFit/>
          </a:bodyPr>
          <a:lstStyle/>
          <a:p>
            <a:r>
              <a:rPr lang="en-US" b="1" i="0" dirty="0">
                <a:solidFill>
                  <a:srgbClr val="2E2F30"/>
                </a:solidFill>
                <a:effectLst/>
                <a:latin typeface="Inter"/>
              </a:rPr>
              <a:t>Pinecone</a:t>
            </a:r>
            <a:r>
              <a:rPr lang="en-US" b="0" i="0" dirty="0">
                <a:solidFill>
                  <a:srgbClr val="2E2F30"/>
                </a:solidFill>
                <a:effectLst/>
                <a:latin typeface="Inter"/>
              </a:rPr>
              <a:t>: Pinecone is a cloud-based managed vector database designed for building and deploying large-scale machine learning applications. It offers a simple and intuitive interface, making it developer-friendly. Pinecone uses closed-source code and provides an infrastructure management layer, allowing developers to focus on application development</a:t>
            </a:r>
            <a:endParaRPr lang="en-US" dirty="0"/>
          </a:p>
        </p:txBody>
      </p:sp>
      <p:pic>
        <p:nvPicPr>
          <p:cNvPr id="5" name="Picture 4">
            <a:extLst>
              <a:ext uri="{FF2B5EF4-FFF2-40B4-BE49-F238E27FC236}">
                <a16:creationId xmlns:a16="http://schemas.microsoft.com/office/drawing/2014/main" id="{E6DCC1D8-750C-D9E3-894E-BD5BF6E725D2}"/>
              </a:ext>
            </a:extLst>
          </p:cNvPr>
          <p:cNvPicPr>
            <a:picLocks noChangeAspect="1"/>
          </p:cNvPicPr>
          <p:nvPr/>
        </p:nvPicPr>
        <p:blipFill>
          <a:blip r:embed="rId2"/>
          <a:stretch>
            <a:fillRect/>
          </a:stretch>
        </p:blipFill>
        <p:spPr>
          <a:xfrm>
            <a:off x="1331640" y="2492896"/>
            <a:ext cx="6105525" cy="3609975"/>
          </a:xfrm>
          <a:prstGeom prst="rect">
            <a:avLst/>
          </a:prstGeom>
        </p:spPr>
      </p:pic>
      <p:sp>
        <p:nvSpPr>
          <p:cNvPr id="7" name="TextBox 6">
            <a:extLst>
              <a:ext uri="{FF2B5EF4-FFF2-40B4-BE49-F238E27FC236}">
                <a16:creationId xmlns:a16="http://schemas.microsoft.com/office/drawing/2014/main" id="{0D5FDF10-48ED-4404-9C60-ACB56E2EF8D9}"/>
              </a:ext>
            </a:extLst>
          </p:cNvPr>
          <p:cNvSpPr txBox="1"/>
          <p:nvPr/>
        </p:nvSpPr>
        <p:spPr>
          <a:xfrm>
            <a:off x="1475656" y="361012"/>
            <a:ext cx="4581524" cy="523220"/>
          </a:xfrm>
          <a:prstGeom prst="rect">
            <a:avLst/>
          </a:prstGeom>
          <a:noFill/>
        </p:spPr>
        <p:txBody>
          <a:bodyPr wrap="square">
            <a:spAutoFit/>
          </a:bodyPr>
          <a:lstStyle/>
          <a:p>
            <a:pPr algn="l"/>
            <a:r>
              <a:rPr lang="en-US" sz="2800" b="1" i="0" dirty="0">
                <a:effectLst/>
                <a:latin typeface="Times New Roman" panose="02020603050405020304" pitchFamily="18" charset="0"/>
                <a:cs typeface="Times New Roman" panose="02020603050405020304" pitchFamily="18" charset="0"/>
              </a:rPr>
              <a:t>Types of Vector Database</a:t>
            </a:r>
            <a:endParaRPr lang="en-US" sz="2800" b="1" i="0" dirty="0">
              <a:effectLst/>
              <a:latin typeface="__mediumLLWeb_4813c6"/>
            </a:endParaRPr>
          </a:p>
        </p:txBody>
      </p:sp>
    </p:spTree>
    <p:extLst>
      <p:ext uri="{BB962C8B-B14F-4D97-AF65-F5344CB8AC3E}">
        <p14:creationId xmlns:p14="http://schemas.microsoft.com/office/powerpoint/2010/main" val="8735099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C2C5C2E-D803-833F-6433-96FAB2F56D88}"/>
              </a:ext>
            </a:extLst>
          </p:cNvPr>
          <p:cNvSpPr txBox="1"/>
          <p:nvPr/>
        </p:nvSpPr>
        <p:spPr>
          <a:xfrm>
            <a:off x="1835696" y="476672"/>
            <a:ext cx="4581524" cy="523220"/>
          </a:xfrm>
          <a:prstGeom prst="rect">
            <a:avLst/>
          </a:prstGeom>
          <a:noFill/>
        </p:spPr>
        <p:txBody>
          <a:bodyPr wrap="square">
            <a:spAutoFit/>
          </a:bodyPr>
          <a:lstStyle/>
          <a:p>
            <a:pPr algn="l"/>
            <a:r>
              <a:rPr lang="en-US" sz="2800" b="1" i="0" dirty="0">
                <a:effectLst/>
                <a:latin typeface="Times New Roman" panose="02020603050405020304" pitchFamily="18" charset="0"/>
                <a:cs typeface="Times New Roman" panose="02020603050405020304" pitchFamily="18" charset="0"/>
              </a:rPr>
              <a:t>Types of Vector Database</a:t>
            </a:r>
            <a:endParaRPr lang="en-US" sz="1800" b="1" i="0" dirty="0">
              <a:effectLst/>
              <a:latin typeface="__mediumLLWeb_4813c6"/>
            </a:endParaRPr>
          </a:p>
        </p:txBody>
      </p:sp>
      <p:sp>
        <p:nvSpPr>
          <p:cNvPr id="5" name="TextBox 4">
            <a:extLst>
              <a:ext uri="{FF2B5EF4-FFF2-40B4-BE49-F238E27FC236}">
                <a16:creationId xmlns:a16="http://schemas.microsoft.com/office/drawing/2014/main" id="{3D5F7476-7E0E-DC93-B49B-9D34975C5422}"/>
              </a:ext>
            </a:extLst>
          </p:cNvPr>
          <p:cNvSpPr txBox="1"/>
          <p:nvPr/>
        </p:nvSpPr>
        <p:spPr>
          <a:xfrm>
            <a:off x="179512" y="1484784"/>
            <a:ext cx="8964488" cy="3246530"/>
          </a:xfrm>
          <a:prstGeom prst="rect">
            <a:avLst/>
          </a:prstGeom>
          <a:noFill/>
        </p:spPr>
        <p:txBody>
          <a:bodyPr wrap="square">
            <a:spAutoFit/>
          </a:bodyPr>
          <a:lstStyle/>
          <a:p>
            <a:pPr>
              <a:lnSpc>
                <a:spcPct val="150000"/>
              </a:lnSpc>
            </a:pPr>
            <a:r>
              <a:rPr lang="en-US" sz="2800" b="1" i="0" dirty="0">
                <a:solidFill>
                  <a:srgbClr val="2E2F30"/>
                </a:solidFill>
                <a:effectLst/>
                <a:latin typeface="Times New Roman" panose="02020603050405020304" pitchFamily="18" charset="0"/>
                <a:cs typeface="Times New Roman" panose="02020603050405020304" pitchFamily="18" charset="0"/>
              </a:rPr>
              <a:t>Chroma</a:t>
            </a:r>
            <a:r>
              <a:rPr lang="en-US" sz="2800" b="0" i="0" dirty="0">
                <a:solidFill>
                  <a:srgbClr val="2E2F30"/>
                </a:solidFill>
                <a:effectLst/>
                <a:latin typeface="Times New Roman" panose="02020603050405020304" pitchFamily="18" charset="0"/>
                <a:cs typeface="Times New Roman" panose="02020603050405020304" pitchFamily="18" charset="0"/>
              </a:rPr>
              <a:t>: Chroma is a flexible vector database solution that can be deployed on the cloud or as an on-premise solution. It supports multiple data types and formats, making it suitable for a wide range of applications, especially audio-based search engines and music recommendations</a:t>
            </a:r>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393623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F84C630-3FDF-6436-971C-F39F51F73F8F}"/>
              </a:ext>
            </a:extLst>
          </p:cNvPr>
          <p:cNvSpPr txBox="1"/>
          <p:nvPr/>
        </p:nvSpPr>
        <p:spPr>
          <a:xfrm>
            <a:off x="0" y="1124744"/>
            <a:ext cx="9144000" cy="923330"/>
          </a:xfrm>
          <a:prstGeom prst="rect">
            <a:avLst/>
          </a:prstGeom>
          <a:noFill/>
        </p:spPr>
        <p:txBody>
          <a:bodyPr wrap="square">
            <a:spAutoFit/>
          </a:bodyPr>
          <a:lstStyle/>
          <a:p>
            <a:r>
              <a:rPr lang="en-US" b="1" i="0" dirty="0">
                <a:solidFill>
                  <a:srgbClr val="2E2F30"/>
                </a:solidFill>
                <a:effectLst/>
                <a:latin typeface="Inter"/>
              </a:rPr>
              <a:t>Milvus</a:t>
            </a:r>
            <a:r>
              <a:rPr lang="en-US" b="0" i="0" dirty="0">
                <a:solidFill>
                  <a:srgbClr val="2E2F30"/>
                </a:solidFill>
                <a:effectLst/>
                <a:latin typeface="Inter"/>
              </a:rPr>
              <a:t>: Milvus is an open-source vector database that can manage trillions of vector datasets. It supports multiple vector search indexes and built-in filtering. Milvus is designed for scalability and provides features such as time travel and user-defined functions (UDFs)</a:t>
            </a:r>
            <a:endParaRPr lang="en-US" dirty="0"/>
          </a:p>
        </p:txBody>
      </p:sp>
      <p:pic>
        <p:nvPicPr>
          <p:cNvPr id="5" name="Picture 4">
            <a:extLst>
              <a:ext uri="{FF2B5EF4-FFF2-40B4-BE49-F238E27FC236}">
                <a16:creationId xmlns:a16="http://schemas.microsoft.com/office/drawing/2014/main" id="{6D680C57-B7F5-D746-6038-F62D9DB87A5E}"/>
              </a:ext>
            </a:extLst>
          </p:cNvPr>
          <p:cNvPicPr>
            <a:picLocks noChangeAspect="1"/>
          </p:cNvPicPr>
          <p:nvPr/>
        </p:nvPicPr>
        <p:blipFill>
          <a:blip r:embed="rId2"/>
          <a:stretch>
            <a:fillRect/>
          </a:stretch>
        </p:blipFill>
        <p:spPr>
          <a:xfrm>
            <a:off x="0" y="2424309"/>
            <a:ext cx="9144000" cy="3308947"/>
          </a:xfrm>
          <a:prstGeom prst="rect">
            <a:avLst/>
          </a:prstGeom>
        </p:spPr>
      </p:pic>
      <p:sp>
        <p:nvSpPr>
          <p:cNvPr id="7" name="TextBox 6">
            <a:extLst>
              <a:ext uri="{FF2B5EF4-FFF2-40B4-BE49-F238E27FC236}">
                <a16:creationId xmlns:a16="http://schemas.microsoft.com/office/drawing/2014/main" id="{FA34A7D6-78E1-53CB-06B3-0B125F33514D}"/>
              </a:ext>
            </a:extLst>
          </p:cNvPr>
          <p:cNvSpPr txBox="1"/>
          <p:nvPr/>
        </p:nvSpPr>
        <p:spPr>
          <a:xfrm>
            <a:off x="1115616" y="310553"/>
            <a:ext cx="4581524" cy="523220"/>
          </a:xfrm>
          <a:prstGeom prst="rect">
            <a:avLst/>
          </a:prstGeom>
          <a:noFill/>
        </p:spPr>
        <p:txBody>
          <a:bodyPr wrap="square">
            <a:spAutoFit/>
          </a:bodyPr>
          <a:lstStyle/>
          <a:p>
            <a:pPr algn="l"/>
            <a:r>
              <a:rPr lang="en-US" sz="2800" b="1" i="0" dirty="0">
                <a:effectLst/>
                <a:latin typeface="Times New Roman" panose="02020603050405020304" pitchFamily="18" charset="0"/>
                <a:cs typeface="Times New Roman" panose="02020603050405020304" pitchFamily="18" charset="0"/>
              </a:rPr>
              <a:t>Types of Vector Database</a:t>
            </a:r>
            <a:endParaRPr lang="en-US" sz="2800" b="1" i="0" dirty="0">
              <a:effectLst/>
              <a:latin typeface="__mediumLLWeb_4813c6"/>
            </a:endParaRPr>
          </a:p>
        </p:txBody>
      </p:sp>
    </p:spTree>
    <p:extLst>
      <p:ext uri="{BB962C8B-B14F-4D97-AF65-F5344CB8AC3E}">
        <p14:creationId xmlns:p14="http://schemas.microsoft.com/office/powerpoint/2010/main" val="17241671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07851B4-545F-4755-9BFC-BF3715391C9D}"/>
              </a:ext>
            </a:extLst>
          </p:cNvPr>
          <p:cNvSpPr txBox="1"/>
          <p:nvPr/>
        </p:nvSpPr>
        <p:spPr>
          <a:xfrm>
            <a:off x="179512" y="836712"/>
            <a:ext cx="8964488" cy="6186309"/>
          </a:xfrm>
          <a:prstGeom prst="rect">
            <a:avLst/>
          </a:prstGeom>
          <a:noFill/>
        </p:spPr>
        <p:txBody>
          <a:bodyPr wrap="square">
            <a:spAutoFit/>
          </a:bodyPr>
          <a:lstStyle/>
          <a:p>
            <a:endParaRPr lang="en-US" dirty="0"/>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Traditional databases and search engines are not designed to handle the complexity and high dimensionality of modern data, such as images, videos, and text embeddings.</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Vector databases index data as vectors and use similarity search algorithms to efficiently search for and retrieve similar data points based on their distance or similarity to a query point.</a:t>
            </a:r>
          </a:p>
          <a:p>
            <a:pPr marL="342900" indent="-342900">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This enables faster and more accurate analysis of high-dimensional data, unlocking the potential for a wide range of applications, such as e-commerce recommendations, autonomous vehicle systems, and natural language processing.</a:t>
            </a:r>
          </a:p>
          <a:p>
            <a:pPr marL="342900" indent="-342900">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Vector databases like Pinecone can provide real-time indexing and search capabilities, making them well-suited for applications with low latency requirements.</a:t>
            </a:r>
          </a:p>
          <a:p>
            <a:endParaRPr lang="en-US" dirty="0"/>
          </a:p>
        </p:txBody>
      </p:sp>
      <p:sp>
        <p:nvSpPr>
          <p:cNvPr id="5" name="TextBox 4">
            <a:extLst>
              <a:ext uri="{FF2B5EF4-FFF2-40B4-BE49-F238E27FC236}">
                <a16:creationId xmlns:a16="http://schemas.microsoft.com/office/drawing/2014/main" id="{BE084799-BCE5-5FC6-6AFB-58961760D96A}"/>
              </a:ext>
            </a:extLst>
          </p:cNvPr>
          <p:cNvSpPr txBox="1"/>
          <p:nvPr/>
        </p:nvSpPr>
        <p:spPr>
          <a:xfrm>
            <a:off x="1763688" y="467380"/>
            <a:ext cx="4605336" cy="523220"/>
          </a:xfrm>
          <a:prstGeom prst="rect">
            <a:avLst/>
          </a:prstGeom>
          <a:noFill/>
        </p:spPr>
        <p:txBody>
          <a:bodyPr wrap="square">
            <a:spAutoFit/>
          </a:bodyPr>
          <a:lstStyle/>
          <a:p>
            <a:r>
              <a:rPr lang="en-US" sz="2800" b="1" dirty="0">
                <a:latin typeface="Times New Roman" panose="02020603050405020304" pitchFamily="18" charset="0"/>
                <a:cs typeface="Times New Roman" panose="02020603050405020304" pitchFamily="18" charset="0"/>
              </a:rPr>
              <a:t>Need for Vector DB</a:t>
            </a:r>
          </a:p>
        </p:txBody>
      </p:sp>
    </p:spTree>
    <p:extLst>
      <p:ext uri="{BB962C8B-B14F-4D97-AF65-F5344CB8AC3E}">
        <p14:creationId xmlns:p14="http://schemas.microsoft.com/office/powerpoint/2010/main" val="206661478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596FDC1-1542-7CDB-8DDE-89703E65994B}"/>
              </a:ext>
            </a:extLst>
          </p:cNvPr>
          <p:cNvSpPr txBox="1"/>
          <p:nvPr/>
        </p:nvSpPr>
        <p:spPr>
          <a:xfrm>
            <a:off x="0" y="1700808"/>
            <a:ext cx="8964488" cy="2126864"/>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dirty="0"/>
              <a:t>Vector databases can also be easily scaled to handle large amounts of data and traffic, and can be integrated with a variety of existing systems and platforms.</a:t>
            </a:r>
          </a:p>
          <a:p>
            <a:pPr marL="285750" indent="-285750">
              <a:lnSpc>
                <a:spcPct val="150000"/>
              </a:lnSpc>
              <a:buFont typeface="Arial" panose="020B0604020202020204" pitchFamily="34" charset="0"/>
              <a:buChar char="•"/>
            </a:pPr>
            <a:r>
              <a:rPr lang="en-US" dirty="0"/>
              <a:t>The need for vector databases will only continue to grow as the amount of high-dimensional data continues to increase, making them an important technology for data-driven industries and applications</a:t>
            </a:r>
          </a:p>
        </p:txBody>
      </p:sp>
      <p:sp>
        <p:nvSpPr>
          <p:cNvPr id="5" name="TextBox 4">
            <a:extLst>
              <a:ext uri="{FF2B5EF4-FFF2-40B4-BE49-F238E27FC236}">
                <a16:creationId xmlns:a16="http://schemas.microsoft.com/office/drawing/2014/main" id="{72EB55A0-B883-4925-DA2B-9FD67129FCBB}"/>
              </a:ext>
            </a:extLst>
          </p:cNvPr>
          <p:cNvSpPr txBox="1"/>
          <p:nvPr/>
        </p:nvSpPr>
        <p:spPr>
          <a:xfrm>
            <a:off x="1547664" y="692696"/>
            <a:ext cx="4605336" cy="523220"/>
          </a:xfrm>
          <a:prstGeom prst="rect">
            <a:avLst/>
          </a:prstGeom>
          <a:noFill/>
        </p:spPr>
        <p:txBody>
          <a:bodyPr wrap="square">
            <a:spAutoFit/>
          </a:bodyPr>
          <a:lstStyle/>
          <a:p>
            <a:r>
              <a:rPr lang="en-US" sz="2800" b="1" dirty="0">
                <a:latin typeface="Times New Roman" panose="02020603050405020304" pitchFamily="18" charset="0"/>
                <a:cs typeface="Times New Roman" panose="02020603050405020304" pitchFamily="18" charset="0"/>
              </a:rPr>
              <a:t>Need for Vector DB</a:t>
            </a:r>
          </a:p>
        </p:txBody>
      </p:sp>
    </p:spTree>
    <p:extLst>
      <p:ext uri="{BB962C8B-B14F-4D97-AF65-F5344CB8AC3E}">
        <p14:creationId xmlns:p14="http://schemas.microsoft.com/office/powerpoint/2010/main" val="417607762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960947F-3B88-FF9B-3D3E-7352B95D4DDF}"/>
              </a:ext>
            </a:extLst>
          </p:cNvPr>
          <p:cNvSpPr txBox="1"/>
          <p:nvPr/>
        </p:nvSpPr>
        <p:spPr>
          <a:xfrm>
            <a:off x="165956" y="519420"/>
            <a:ext cx="8812088" cy="6370975"/>
          </a:xfrm>
          <a:prstGeom prst="rect">
            <a:avLst/>
          </a:prstGeom>
          <a:noFill/>
        </p:spPr>
        <p:txBody>
          <a:bodyPr wrap="square">
            <a:spAutoFit/>
          </a:bodyPr>
          <a:lstStyle/>
          <a:p>
            <a:pPr algn="l">
              <a:buFont typeface="+mj-lt"/>
              <a:buAutoNum type="arabicPeriod"/>
            </a:pPr>
            <a:r>
              <a:rPr lang="en-US" sz="2400" b="0" i="0" dirty="0">
                <a:solidFill>
                  <a:srgbClr val="242424"/>
                </a:solidFill>
                <a:effectLst/>
                <a:latin typeface="Times New Roman" panose="02020603050405020304" pitchFamily="18" charset="0"/>
                <a:cs typeface="Times New Roman" panose="02020603050405020304" pitchFamily="18" charset="0"/>
              </a:rPr>
              <a:t>Scalability: One of the main advantages of Pinecone is its scalability. It can scale to handle large datasets without sacrificing performance. However, as the dataset size increases, the cost of running Pinecone may also increase, depending on the specific use case.</a:t>
            </a:r>
          </a:p>
          <a:p>
            <a:pPr algn="l">
              <a:buFont typeface="+mj-lt"/>
              <a:buAutoNum type="arabicPeriod"/>
            </a:pPr>
            <a:r>
              <a:rPr lang="en-US" sz="2400" b="0" i="0" dirty="0">
                <a:solidFill>
                  <a:srgbClr val="242424"/>
                </a:solidFill>
                <a:effectLst/>
                <a:latin typeface="Times New Roman" panose="02020603050405020304" pitchFamily="18" charset="0"/>
                <a:cs typeface="Times New Roman" panose="02020603050405020304" pitchFamily="18" charset="0"/>
              </a:rPr>
              <a:t>Performance: Pinecone’s real-time similarity search capabilities are a major advantage, particularly in applications where real-time decisions need to be made. However, achieving high performance may require specialized hardware or software, which could increase the overall cost of using Pinecone.</a:t>
            </a:r>
          </a:p>
          <a:p>
            <a:pPr algn="l">
              <a:buFont typeface="+mj-lt"/>
              <a:buAutoNum type="arabicPeriod"/>
            </a:pPr>
            <a:r>
              <a:rPr lang="en-US" sz="2400" b="0" i="0" dirty="0">
                <a:solidFill>
                  <a:srgbClr val="242424"/>
                </a:solidFill>
                <a:effectLst/>
                <a:latin typeface="Times New Roman" panose="02020603050405020304" pitchFamily="18" charset="0"/>
                <a:cs typeface="Times New Roman" panose="02020603050405020304" pitchFamily="18" charset="0"/>
              </a:rPr>
              <a:t>Flexibility: Pinecone can be used for a variety of applications, making it a flexible tool for developers. However, it may require some level of technical expertise to use effectively.</a:t>
            </a:r>
          </a:p>
          <a:p>
            <a:pPr algn="l">
              <a:buFont typeface="+mj-lt"/>
              <a:buAutoNum type="arabicPeriod"/>
            </a:pPr>
            <a:r>
              <a:rPr lang="en-US" sz="2400" b="0" i="0" dirty="0">
                <a:solidFill>
                  <a:srgbClr val="242424"/>
                </a:solidFill>
                <a:effectLst/>
                <a:latin typeface="Times New Roman" panose="02020603050405020304" pitchFamily="18" charset="0"/>
                <a:cs typeface="Times New Roman" panose="02020603050405020304" pitchFamily="18" charset="0"/>
              </a:rPr>
              <a:t>Maintenance: Pinecone is relatively easy to maintain and update, which can save time and resources. However, ongoing support and monitoring may be required to ensure the system continues to perform optimally.</a:t>
            </a:r>
          </a:p>
        </p:txBody>
      </p:sp>
      <p:sp>
        <p:nvSpPr>
          <p:cNvPr id="5" name="TextBox 4">
            <a:extLst>
              <a:ext uri="{FF2B5EF4-FFF2-40B4-BE49-F238E27FC236}">
                <a16:creationId xmlns:a16="http://schemas.microsoft.com/office/drawing/2014/main" id="{89FDA7EC-45D3-0920-9B66-5AF549633BD4}"/>
              </a:ext>
            </a:extLst>
          </p:cNvPr>
          <p:cNvSpPr txBox="1"/>
          <p:nvPr/>
        </p:nvSpPr>
        <p:spPr>
          <a:xfrm>
            <a:off x="1259632" y="117693"/>
            <a:ext cx="4648200" cy="523220"/>
          </a:xfrm>
          <a:prstGeom prst="rect">
            <a:avLst/>
          </a:prstGeom>
          <a:noFill/>
        </p:spPr>
        <p:txBody>
          <a:bodyPr wrap="square">
            <a:spAutoFit/>
          </a:bodyPr>
          <a:lstStyle/>
          <a:p>
            <a:r>
              <a:rPr lang="en-US" sz="2800" b="1" dirty="0">
                <a:latin typeface="Times New Roman" panose="02020603050405020304" pitchFamily="18" charset="0"/>
                <a:cs typeface="Times New Roman" panose="02020603050405020304" pitchFamily="18" charset="0"/>
              </a:rPr>
              <a:t>Need for Vector DB</a:t>
            </a:r>
          </a:p>
        </p:txBody>
      </p:sp>
    </p:spTree>
    <p:extLst>
      <p:ext uri="{BB962C8B-B14F-4D97-AF65-F5344CB8AC3E}">
        <p14:creationId xmlns:p14="http://schemas.microsoft.com/office/powerpoint/2010/main" val="150647459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501ADDC-46F4-C752-1DF3-D82C09EDF79E}"/>
              </a:ext>
            </a:extLst>
          </p:cNvPr>
          <p:cNvPicPr>
            <a:picLocks noChangeAspect="1"/>
          </p:cNvPicPr>
          <p:nvPr/>
        </p:nvPicPr>
        <p:blipFill>
          <a:blip r:embed="rId2"/>
          <a:stretch>
            <a:fillRect/>
          </a:stretch>
        </p:blipFill>
        <p:spPr>
          <a:xfrm>
            <a:off x="14287" y="1047750"/>
            <a:ext cx="9115425" cy="4762500"/>
          </a:xfrm>
          <a:prstGeom prst="rect">
            <a:avLst/>
          </a:prstGeom>
        </p:spPr>
      </p:pic>
    </p:spTree>
    <p:extLst>
      <p:ext uri="{BB962C8B-B14F-4D97-AF65-F5344CB8AC3E}">
        <p14:creationId xmlns:p14="http://schemas.microsoft.com/office/powerpoint/2010/main" val="121176621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6E2EBC5-55DC-8CDE-006A-78CAFF3216B5}"/>
              </a:ext>
            </a:extLst>
          </p:cNvPr>
          <p:cNvSpPr txBox="1"/>
          <p:nvPr/>
        </p:nvSpPr>
        <p:spPr>
          <a:xfrm>
            <a:off x="1547664" y="260648"/>
            <a:ext cx="4582160" cy="400110"/>
          </a:xfrm>
          <a:prstGeom prst="rect">
            <a:avLst/>
          </a:prstGeom>
          <a:noFill/>
        </p:spPr>
        <p:txBody>
          <a:bodyPr wrap="square">
            <a:spAutoFit/>
          </a:bodyPr>
          <a:lstStyle/>
          <a:p>
            <a:pPr algn="l"/>
            <a:r>
              <a:rPr lang="en-US" sz="2000" b="1" i="0" dirty="0">
                <a:effectLst/>
                <a:latin typeface="Times New Roman" panose="02020603050405020304" pitchFamily="18" charset="0"/>
                <a:cs typeface="Times New Roman" panose="02020603050405020304" pitchFamily="18" charset="0"/>
              </a:rPr>
              <a:t>How does a vector database work?</a:t>
            </a:r>
          </a:p>
        </p:txBody>
      </p:sp>
      <p:sp>
        <p:nvSpPr>
          <p:cNvPr id="7" name="TextBox 6">
            <a:extLst>
              <a:ext uri="{FF2B5EF4-FFF2-40B4-BE49-F238E27FC236}">
                <a16:creationId xmlns:a16="http://schemas.microsoft.com/office/drawing/2014/main" id="{FD860825-D6D4-C93B-524A-A082076B8776}"/>
              </a:ext>
            </a:extLst>
          </p:cNvPr>
          <p:cNvSpPr txBox="1"/>
          <p:nvPr/>
        </p:nvSpPr>
        <p:spPr>
          <a:xfrm>
            <a:off x="107504" y="908720"/>
            <a:ext cx="8928992" cy="3139321"/>
          </a:xfrm>
          <a:prstGeom prst="rect">
            <a:avLst/>
          </a:prstGeom>
          <a:noFill/>
        </p:spPr>
        <p:txBody>
          <a:bodyPr wrap="square">
            <a:spAutoFit/>
          </a:bodyPr>
          <a:lstStyle/>
          <a:p>
            <a:pPr algn="l"/>
            <a:r>
              <a:rPr lang="en-US" b="0" i="0" dirty="0">
                <a:solidFill>
                  <a:srgbClr val="000000"/>
                </a:solidFill>
                <a:effectLst/>
                <a:latin typeface="__mediumLLWeb_4813c6"/>
              </a:rPr>
              <a:t>n traditional databases, we are usually querying for rows in the database where the value usually exactly matches our query. In vector databases, we apply a similarity metric to find a vector that is the </a:t>
            </a:r>
            <a:r>
              <a:rPr lang="en-US" b="1" i="0" dirty="0">
                <a:solidFill>
                  <a:srgbClr val="000000"/>
                </a:solidFill>
                <a:effectLst/>
                <a:latin typeface="__mediumLLWeb_4813c6"/>
              </a:rPr>
              <a:t>most similar</a:t>
            </a:r>
            <a:r>
              <a:rPr lang="en-US" b="0" i="0" dirty="0">
                <a:solidFill>
                  <a:srgbClr val="000000"/>
                </a:solidFill>
                <a:effectLst/>
                <a:latin typeface="__mediumLLWeb_4813c6"/>
              </a:rPr>
              <a:t> to our query.</a:t>
            </a:r>
          </a:p>
          <a:p>
            <a:pPr algn="l"/>
            <a:r>
              <a:rPr lang="en-US" b="0" i="0" dirty="0">
                <a:solidFill>
                  <a:srgbClr val="000000"/>
                </a:solidFill>
                <a:effectLst/>
                <a:latin typeface="__mediumLLWeb_4813c6"/>
              </a:rPr>
              <a:t>A vector database uses a combination of different algorithms that all participate in Approximate Nearest Neighbor (ANN) search. These algorithms optimize the search through hashing, quantization, or graph-based search.</a:t>
            </a:r>
          </a:p>
          <a:p>
            <a:pPr algn="l"/>
            <a:r>
              <a:rPr lang="en-US" b="0" i="0" dirty="0">
                <a:solidFill>
                  <a:srgbClr val="000000"/>
                </a:solidFill>
                <a:effectLst/>
                <a:latin typeface="__mediumLLWeb_4813c6"/>
              </a:rPr>
              <a:t>These algorithms are assembled into a pipeline that provides fast and accurate retrieval of the neighbors of a queried vector. Since the vector database provides </a:t>
            </a:r>
            <a:r>
              <a:rPr lang="en-US" b="1" i="0" dirty="0">
                <a:solidFill>
                  <a:srgbClr val="000000"/>
                </a:solidFill>
                <a:effectLst/>
                <a:latin typeface="__mediumLLWeb_4813c6"/>
              </a:rPr>
              <a:t>approximate</a:t>
            </a:r>
            <a:r>
              <a:rPr lang="en-US" b="0" i="0" dirty="0">
                <a:solidFill>
                  <a:srgbClr val="000000"/>
                </a:solidFill>
                <a:effectLst/>
                <a:latin typeface="__mediumLLWeb_4813c6"/>
              </a:rPr>
              <a:t> results, the main trade-offs we consider are between accuracy and speed. The more accurate the result, the slower the query will be. However, a good system can provide ultra-fast search with near-perfect accuracy.</a:t>
            </a:r>
          </a:p>
        </p:txBody>
      </p:sp>
      <p:pic>
        <p:nvPicPr>
          <p:cNvPr id="9" name="Picture 8">
            <a:extLst>
              <a:ext uri="{FF2B5EF4-FFF2-40B4-BE49-F238E27FC236}">
                <a16:creationId xmlns:a16="http://schemas.microsoft.com/office/drawing/2014/main" id="{CE16CB49-0140-EE5B-E9BD-D8E111A5F646}"/>
              </a:ext>
            </a:extLst>
          </p:cNvPr>
          <p:cNvPicPr>
            <a:picLocks noChangeAspect="1"/>
          </p:cNvPicPr>
          <p:nvPr/>
        </p:nvPicPr>
        <p:blipFill>
          <a:blip r:embed="rId2"/>
          <a:stretch>
            <a:fillRect/>
          </a:stretch>
        </p:blipFill>
        <p:spPr>
          <a:xfrm>
            <a:off x="126832" y="4082882"/>
            <a:ext cx="9144000" cy="2376780"/>
          </a:xfrm>
          <a:prstGeom prst="rect">
            <a:avLst/>
          </a:prstGeom>
        </p:spPr>
      </p:pic>
    </p:spTree>
    <p:extLst>
      <p:ext uri="{BB962C8B-B14F-4D97-AF65-F5344CB8AC3E}">
        <p14:creationId xmlns:p14="http://schemas.microsoft.com/office/powerpoint/2010/main" val="304814271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DB0C1B3-966F-D2DD-D1B1-EF1335D01E46}"/>
              </a:ext>
            </a:extLst>
          </p:cNvPr>
          <p:cNvPicPr>
            <a:picLocks noChangeAspect="1"/>
          </p:cNvPicPr>
          <p:nvPr/>
        </p:nvPicPr>
        <p:blipFill>
          <a:blip r:embed="rId2"/>
          <a:stretch>
            <a:fillRect/>
          </a:stretch>
        </p:blipFill>
        <p:spPr>
          <a:xfrm>
            <a:off x="32648" y="476672"/>
            <a:ext cx="9144000" cy="2625104"/>
          </a:xfrm>
          <a:prstGeom prst="rect">
            <a:avLst/>
          </a:prstGeom>
        </p:spPr>
      </p:pic>
    </p:spTree>
    <p:extLst>
      <p:ext uri="{BB962C8B-B14F-4D97-AF65-F5344CB8AC3E}">
        <p14:creationId xmlns:p14="http://schemas.microsoft.com/office/powerpoint/2010/main" val="263950530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5D1061E-EE30-5BF2-8285-2287AB564FF7}"/>
              </a:ext>
            </a:extLst>
          </p:cNvPr>
          <p:cNvSpPr txBox="1"/>
          <p:nvPr/>
        </p:nvSpPr>
        <p:spPr>
          <a:xfrm>
            <a:off x="1619672" y="188640"/>
            <a:ext cx="4582160" cy="523220"/>
          </a:xfrm>
          <a:prstGeom prst="rect">
            <a:avLst/>
          </a:prstGeom>
          <a:noFill/>
        </p:spPr>
        <p:txBody>
          <a:bodyPr wrap="square">
            <a:spAutoFit/>
          </a:bodyPr>
          <a:lstStyle/>
          <a:p>
            <a:pPr algn="l"/>
            <a:r>
              <a:rPr lang="en-US" sz="2800" b="1" i="0" dirty="0">
                <a:solidFill>
                  <a:srgbClr val="091E42"/>
                </a:solidFill>
                <a:effectLst/>
                <a:latin typeface="Times New Roman" panose="02020603050405020304" pitchFamily="18" charset="0"/>
                <a:cs typeface="Times New Roman" panose="02020603050405020304" pitchFamily="18" charset="0"/>
              </a:rPr>
              <a:t>Vector Database - Chroma</a:t>
            </a:r>
          </a:p>
        </p:txBody>
      </p:sp>
      <p:sp>
        <p:nvSpPr>
          <p:cNvPr id="5" name="TextBox 4">
            <a:extLst>
              <a:ext uri="{FF2B5EF4-FFF2-40B4-BE49-F238E27FC236}">
                <a16:creationId xmlns:a16="http://schemas.microsoft.com/office/drawing/2014/main" id="{9A2AF457-FDBC-9999-04B1-E97CC26EC169}"/>
              </a:ext>
            </a:extLst>
          </p:cNvPr>
          <p:cNvSpPr txBox="1"/>
          <p:nvPr/>
        </p:nvSpPr>
        <p:spPr>
          <a:xfrm>
            <a:off x="107504" y="908720"/>
            <a:ext cx="8856984" cy="2677656"/>
          </a:xfrm>
          <a:prstGeom prst="rect">
            <a:avLst/>
          </a:prstGeom>
          <a:noFill/>
        </p:spPr>
        <p:txBody>
          <a:bodyPr wrap="square">
            <a:spAutoFit/>
          </a:bodyPr>
          <a:lstStyle/>
          <a:p>
            <a:r>
              <a:rPr lang="en-US" sz="2400" b="0" i="0" dirty="0">
                <a:solidFill>
                  <a:srgbClr val="242424"/>
                </a:solidFill>
                <a:effectLst/>
                <a:latin typeface="Times New Roman" panose="02020603050405020304" pitchFamily="18" charset="0"/>
                <a:cs typeface="Times New Roman" panose="02020603050405020304" pitchFamily="18" charset="0"/>
              </a:rPr>
              <a:t>Chroma DB is an open-source vector storage system (vector database) designed for the storing and retrieving vector embeddings. Its primary function is to store embeddings with associated metadata for subsequent use by extensive language models. Moreover, it can serve as a foundation for semantic search engines that operate on textual data. Vector database offers an ideal solution for managing large volumes of unstructured and semi-structured data.</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0042783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798C81F-47D9-D364-008B-E0EFCC1AC198}"/>
              </a:ext>
            </a:extLst>
          </p:cNvPr>
          <p:cNvPicPr>
            <a:picLocks noChangeAspect="1"/>
          </p:cNvPicPr>
          <p:nvPr/>
        </p:nvPicPr>
        <p:blipFill>
          <a:blip r:embed="rId2"/>
          <a:stretch>
            <a:fillRect/>
          </a:stretch>
        </p:blipFill>
        <p:spPr>
          <a:xfrm>
            <a:off x="0" y="501160"/>
            <a:ext cx="9144000" cy="6391512"/>
          </a:xfrm>
          <a:prstGeom prst="rect">
            <a:avLst/>
          </a:prstGeom>
        </p:spPr>
      </p:pic>
    </p:spTree>
    <p:extLst>
      <p:ext uri="{BB962C8B-B14F-4D97-AF65-F5344CB8AC3E}">
        <p14:creationId xmlns:p14="http://schemas.microsoft.com/office/powerpoint/2010/main" val="145585105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CA8ACC0-6136-3707-8864-58879E9352B6}"/>
              </a:ext>
            </a:extLst>
          </p:cNvPr>
          <p:cNvSpPr txBox="1"/>
          <p:nvPr/>
        </p:nvSpPr>
        <p:spPr>
          <a:xfrm>
            <a:off x="107504" y="836712"/>
            <a:ext cx="6693728" cy="4985980"/>
          </a:xfrm>
          <a:prstGeom prst="rect">
            <a:avLst/>
          </a:prstGeom>
          <a:noFill/>
        </p:spPr>
        <p:txBody>
          <a:bodyPr wrap="square">
            <a:spAutoFit/>
          </a:bodyPr>
          <a:lstStyle/>
          <a:p>
            <a:pPr algn="l"/>
            <a:r>
              <a:rPr lang="en-US" sz="2400" b="1" i="0" dirty="0">
                <a:solidFill>
                  <a:srgbClr val="1C1E21"/>
                </a:solidFill>
                <a:effectLst/>
                <a:latin typeface="Times New Roman" panose="02020603050405020304" pitchFamily="18" charset="0"/>
                <a:cs typeface="Times New Roman" panose="02020603050405020304" pitchFamily="18" charset="0"/>
              </a:rPr>
              <a:t>Chroma gives you the tools to:</a:t>
            </a:r>
          </a:p>
          <a:p>
            <a:pPr algn="l"/>
            <a:endParaRPr lang="en-US" sz="2400" b="0" i="0" dirty="0">
              <a:solidFill>
                <a:srgbClr val="1C1E21"/>
              </a:solidFill>
              <a:effectLst/>
              <a:latin typeface="Times New Roman" panose="02020603050405020304" pitchFamily="18" charset="0"/>
              <a:cs typeface="Times New Roman" panose="02020603050405020304" pitchFamily="18" charset="0"/>
            </a:endParaRPr>
          </a:p>
          <a:p>
            <a:pPr algn="l">
              <a:buFont typeface="Arial" panose="020B0604020202020204" pitchFamily="34" charset="0"/>
              <a:buChar char="•"/>
            </a:pPr>
            <a:r>
              <a:rPr lang="en-US" sz="2200" b="0" i="0" dirty="0">
                <a:solidFill>
                  <a:srgbClr val="1C1E21"/>
                </a:solidFill>
                <a:effectLst/>
                <a:latin typeface="Times New Roman" panose="02020603050405020304" pitchFamily="18" charset="0"/>
                <a:cs typeface="Times New Roman" panose="02020603050405020304" pitchFamily="18" charset="0"/>
              </a:rPr>
              <a:t>store embeddings and their metadata</a:t>
            </a:r>
          </a:p>
          <a:p>
            <a:pPr algn="l">
              <a:buFont typeface="Arial" panose="020B0604020202020204" pitchFamily="34" charset="0"/>
              <a:buChar char="•"/>
            </a:pPr>
            <a:r>
              <a:rPr lang="en-US" sz="2200" b="0" i="0" dirty="0">
                <a:solidFill>
                  <a:srgbClr val="1C1E21"/>
                </a:solidFill>
                <a:effectLst/>
                <a:latin typeface="Times New Roman" panose="02020603050405020304" pitchFamily="18" charset="0"/>
                <a:cs typeface="Times New Roman" panose="02020603050405020304" pitchFamily="18" charset="0"/>
              </a:rPr>
              <a:t>embed documents and queries</a:t>
            </a:r>
          </a:p>
          <a:p>
            <a:pPr algn="l">
              <a:buFont typeface="Arial" panose="020B0604020202020204" pitchFamily="34" charset="0"/>
              <a:buChar char="•"/>
            </a:pPr>
            <a:r>
              <a:rPr lang="en-US" sz="2200" b="0" i="0" dirty="0">
                <a:solidFill>
                  <a:srgbClr val="1C1E21"/>
                </a:solidFill>
                <a:effectLst/>
                <a:latin typeface="Times New Roman" panose="02020603050405020304" pitchFamily="18" charset="0"/>
                <a:cs typeface="Times New Roman" panose="02020603050405020304" pitchFamily="18" charset="0"/>
              </a:rPr>
              <a:t>search embeddings</a:t>
            </a:r>
            <a:endParaRPr lang="en-US" dirty="0">
              <a:solidFill>
                <a:srgbClr val="1C1E21"/>
              </a:solidFill>
              <a:latin typeface="Inter"/>
            </a:endParaRPr>
          </a:p>
          <a:p>
            <a:pPr algn="l">
              <a:buFont typeface="Arial" panose="020B0604020202020204" pitchFamily="34" charset="0"/>
              <a:buChar char="•"/>
            </a:pPr>
            <a:endParaRPr lang="en-US" b="0" i="0" dirty="0">
              <a:solidFill>
                <a:srgbClr val="1C1E21"/>
              </a:solidFill>
              <a:effectLst/>
              <a:latin typeface="Inter"/>
            </a:endParaRPr>
          </a:p>
          <a:p>
            <a:pPr algn="l"/>
            <a:endParaRPr lang="en-US" b="0" i="0" dirty="0">
              <a:solidFill>
                <a:srgbClr val="1C1E21"/>
              </a:solidFill>
              <a:effectLst/>
              <a:latin typeface="Inter"/>
            </a:endParaRPr>
          </a:p>
          <a:p>
            <a:pPr algn="l"/>
            <a:r>
              <a:rPr lang="en-US" sz="2400" b="1" i="0" dirty="0">
                <a:solidFill>
                  <a:srgbClr val="1C1E21"/>
                </a:solidFill>
                <a:effectLst/>
                <a:latin typeface="Times New Roman" panose="02020603050405020304" pitchFamily="18" charset="0"/>
                <a:cs typeface="Times New Roman" panose="02020603050405020304" pitchFamily="18" charset="0"/>
              </a:rPr>
              <a:t>Chroma prioritizes:</a:t>
            </a:r>
            <a:endParaRPr lang="en-US" sz="2400" b="0" i="0" dirty="0">
              <a:solidFill>
                <a:srgbClr val="1C1E21"/>
              </a:solidFill>
              <a:effectLst/>
              <a:latin typeface="Times New Roman" panose="02020603050405020304" pitchFamily="18" charset="0"/>
              <a:cs typeface="Times New Roman" panose="02020603050405020304" pitchFamily="18" charset="0"/>
            </a:endParaRPr>
          </a:p>
          <a:p>
            <a:pPr algn="l">
              <a:buFont typeface="Arial" panose="020B0604020202020204" pitchFamily="34" charset="0"/>
              <a:buChar char="•"/>
            </a:pPr>
            <a:r>
              <a:rPr lang="en-US" sz="2400" b="0" i="0" dirty="0">
                <a:solidFill>
                  <a:srgbClr val="1C1E21"/>
                </a:solidFill>
                <a:effectLst/>
                <a:latin typeface="Times New Roman" panose="02020603050405020304" pitchFamily="18" charset="0"/>
                <a:cs typeface="Times New Roman" panose="02020603050405020304" pitchFamily="18" charset="0"/>
              </a:rPr>
              <a:t>simplicity and developer productivity</a:t>
            </a:r>
          </a:p>
          <a:p>
            <a:pPr algn="l">
              <a:buFont typeface="Arial" panose="020B0604020202020204" pitchFamily="34" charset="0"/>
              <a:buChar char="•"/>
            </a:pPr>
            <a:r>
              <a:rPr lang="en-US" sz="2400" b="0" i="0" dirty="0">
                <a:solidFill>
                  <a:srgbClr val="1C1E21"/>
                </a:solidFill>
                <a:effectLst/>
                <a:latin typeface="Times New Roman" panose="02020603050405020304" pitchFamily="18" charset="0"/>
                <a:cs typeface="Times New Roman" panose="02020603050405020304" pitchFamily="18" charset="0"/>
              </a:rPr>
              <a:t>analysis on top of search</a:t>
            </a:r>
          </a:p>
          <a:p>
            <a:pPr algn="l">
              <a:buFont typeface="Arial" panose="020B0604020202020204" pitchFamily="34" charset="0"/>
              <a:buChar char="•"/>
            </a:pPr>
            <a:r>
              <a:rPr lang="en-US" sz="2400" b="0" i="0" dirty="0">
                <a:solidFill>
                  <a:srgbClr val="1C1E21"/>
                </a:solidFill>
                <a:effectLst/>
                <a:latin typeface="Times New Roman" panose="02020603050405020304" pitchFamily="18" charset="0"/>
                <a:cs typeface="Times New Roman" panose="02020603050405020304" pitchFamily="18" charset="0"/>
              </a:rPr>
              <a:t>it also happens to be very quick</a:t>
            </a:r>
          </a:p>
          <a:p>
            <a:pPr algn="l">
              <a:buFont typeface="Arial" panose="020B0604020202020204" pitchFamily="34" charset="0"/>
              <a:buChar char="•"/>
            </a:pPr>
            <a:endParaRPr lang="en-US" sz="2400" dirty="0">
              <a:solidFill>
                <a:srgbClr val="1C1E21"/>
              </a:solidFill>
              <a:latin typeface="Times New Roman" panose="02020603050405020304" pitchFamily="18" charset="0"/>
              <a:cs typeface="Times New Roman" panose="02020603050405020304" pitchFamily="18" charset="0"/>
            </a:endParaRPr>
          </a:p>
          <a:p>
            <a:pPr algn="l">
              <a:buFont typeface="Arial" panose="020B0604020202020204" pitchFamily="34" charset="0"/>
              <a:buChar char="•"/>
            </a:pPr>
            <a:r>
              <a:rPr lang="en-US" sz="2400" b="0" i="0" dirty="0">
                <a:solidFill>
                  <a:srgbClr val="1C1E21"/>
                </a:solidFill>
                <a:effectLst/>
                <a:latin typeface="Times New Roman" panose="02020603050405020304" pitchFamily="18" charset="0"/>
                <a:cs typeface="Times New Roman" panose="02020603050405020304" pitchFamily="18" charset="0"/>
              </a:rPr>
              <a:t>Link: </a:t>
            </a:r>
            <a:r>
              <a:rPr lang="en-US" sz="2400" b="0" i="0" dirty="0">
                <a:solidFill>
                  <a:srgbClr val="1C1E21"/>
                </a:solidFill>
                <a:effectLst/>
                <a:latin typeface="Times New Roman" panose="02020603050405020304" pitchFamily="18" charset="0"/>
                <a:cs typeface="Times New Roman" panose="02020603050405020304" pitchFamily="18" charset="0"/>
                <a:hlinkClick r:id="rId2"/>
              </a:rPr>
              <a:t>https://docs.trychroma.com/api-reference</a:t>
            </a:r>
            <a:r>
              <a:rPr lang="en-US" sz="2400" b="0" i="0" dirty="0">
                <a:solidFill>
                  <a:srgbClr val="1C1E21"/>
                </a:solidFill>
                <a:effectLst/>
                <a:latin typeface="Times New Roman" panose="02020603050405020304" pitchFamily="18" charset="0"/>
                <a:cs typeface="Times New Roman" panose="02020603050405020304" pitchFamily="18" charset="0"/>
              </a:rPr>
              <a:t> </a:t>
            </a:r>
          </a:p>
          <a:p>
            <a:pPr algn="l"/>
            <a:endParaRPr lang="en-US" sz="2400" b="0" i="0" dirty="0">
              <a:solidFill>
                <a:srgbClr val="1C1E21"/>
              </a:solidFill>
              <a:effectLst/>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0C31D6F4-F630-9E72-E7E6-C7513AAC50BB}"/>
              </a:ext>
            </a:extLst>
          </p:cNvPr>
          <p:cNvPicPr>
            <a:picLocks noChangeAspect="1"/>
          </p:cNvPicPr>
          <p:nvPr/>
        </p:nvPicPr>
        <p:blipFill>
          <a:blip r:embed="rId3"/>
          <a:stretch>
            <a:fillRect/>
          </a:stretch>
        </p:blipFill>
        <p:spPr>
          <a:xfrm>
            <a:off x="3791332" y="5877272"/>
            <a:ext cx="5372100" cy="885825"/>
          </a:xfrm>
          <a:prstGeom prst="rect">
            <a:avLst/>
          </a:prstGeom>
        </p:spPr>
      </p:pic>
      <p:pic>
        <p:nvPicPr>
          <p:cNvPr id="7" name="Picture 6">
            <a:extLst>
              <a:ext uri="{FF2B5EF4-FFF2-40B4-BE49-F238E27FC236}">
                <a16:creationId xmlns:a16="http://schemas.microsoft.com/office/drawing/2014/main" id="{7410941D-0640-A653-73FA-4CFB1C974B2A}"/>
              </a:ext>
            </a:extLst>
          </p:cNvPr>
          <p:cNvPicPr>
            <a:picLocks noChangeAspect="1"/>
          </p:cNvPicPr>
          <p:nvPr/>
        </p:nvPicPr>
        <p:blipFill>
          <a:blip r:embed="rId4"/>
          <a:stretch>
            <a:fillRect/>
          </a:stretch>
        </p:blipFill>
        <p:spPr>
          <a:xfrm>
            <a:off x="107504" y="5905847"/>
            <a:ext cx="3219450" cy="857250"/>
          </a:xfrm>
          <a:prstGeom prst="rect">
            <a:avLst/>
          </a:prstGeom>
        </p:spPr>
      </p:pic>
    </p:spTree>
    <p:extLst>
      <p:ext uri="{BB962C8B-B14F-4D97-AF65-F5344CB8AC3E}">
        <p14:creationId xmlns:p14="http://schemas.microsoft.com/office/powerpoint/2010/main" val="13948574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482CEF2-A4B8-545F-505E-3DE640651A85}"/>
              </a:ext>
            </a:extLst>
          </p:cNvPr>
          <p:cNvSpPr txBox="1"/>
          <p:nvPr/>
        </p:nvSpPr>
        <p:spPr>
          <a:xfrm>
            <a:off x="611560" y="476672"/>
            <a:ext cx="6984776" cy="369332"/>
          </a:xfrm>
          <a:prstGeom prst="rect">
            <a:avLst/>
          </a:prstGeom>
          <a:noFill/>
        </p:spPr>
        <p:txBody>
          <a:bodyPr wrap="square" rtlCol="0">
            <a:spAutoFit/>
          </a:bodyPr>
          <a:lstStyle/>
          <a:p>
            <a:r>
              <a:rPr lang="en-IN" dirty="0"/>
              <a:t>Import functions</a:t>
            </a:r>
          </a:p>
        </p:txBody>
      </p:sp>
      <p:sp>
        <p:nvSpPr>
          <p:cNvPr id="4" name="TextBox 3">
            <a:extLst>
              <a:ext uri="{FF2B5EF4-FFF2-40B4-BE49-F238E27FC236}">
                <a16:creationId xmlns:a16="http://schemas.microsoft.com/office/drawing/2014/main" id="{6E2F0AAE-E0E6-329A-B80B-27FE5CDA871B}"/>
              </a:ext>
            </a:extLst>
          </p:cNvPr>
          <p:cNvSpPr txBox="1"/>
          <p:nvPr/>
        </p:nvSpPr>
        <p:spPr>
          <a:xfrm>
            <a:off x="430222" y="1412776"/>
            <a:ext cx="8136904" cy="2308324"/>
          </a:xfrm>
          <a:prstGeom prst="rect">
            <a:avLst/>
          </a:prstGeom>
          <a:noFill/>
        </p:spPr>
        <p:txBody>
          <a:bodyPr wrap="square" rtlCol="0">
            <a:spAutoFit/>
          </a:bodyPr>
          <a:lstStyle/>
          <a:p>
            <a:r>
              <a:rPr lang="en-IN" dirty="0"/>
              <a:t>.</a:t>
            </a:r>
            <a:r>
              <a:rPr lang="en-IN" dirty="0" err="1"/>
              <a:t>create_collection</a:t>
            </a:r>
            <a:r>
              <a:rPr lang="en-IN" dirty="0"/>
              <a:t>()</a:t>
            </a:r>
          </a:p>
          <a:p>
            <a:r>
              <a:rPr lang="en-IN" dirty="0"/>
              <a:t>.</a:t>
            </a:r>
            <a:r>
              <a:rPr lang="en-IN" dirty="0" err="1"/>
              <a:t>list_collections</a:t>
            </a:r>
            <a:r>
              <a:rPr lang="en-IN" dirty="0"/>
              <a:t>()</a:t>
            </a:r>
          </a:p>
          <a:p>
            <a:r>
              <a:rPr lang="en-IN" dirty="0"/>
              <a:t>.</a:t>
            </a:r>
            <a:r>
              <a:rPr lang="en-IN" dirty="0" err="1"/>
              <a:t>delete_collections</a:t>
            </a:r>
            <a:endParaRPr lang="en-IN" dirty="0"/>
          </a:p>
          <a:p>
            <a:endParaRPr lang="en-IN" dirty="0"/>
          </a:p>
          <a:p>
            <a:endParaRPr lang="en-IN" dirty="0"/>
          </a:p>
          <a:p>
            <a:r>
              <a:rPr lang="en-IN" dirty="0" err="1"/>
              <a:t>Collection.add</a:t>
            </a:r>
            <a:r>
              <a:rPr lang="en-IN" dirty="0"/>
              <a:t>()</a:t>
            </a:r>
          </a:p>
          <a:p>
            <a:r>
              <a:rPr lang="en-IN" dirty="0" err="1"/>
              <a:t>Collection.peak</a:t>
            </a:r>
            <a:r>
              <a:rPr lang="en-IN" dirty="0"/>
              <a:t>()</a:t>
            </a:r>
          </a:p>
          <a:p>
            <a:r>
              <a:rPr lang="en-IN" dirty="0" err="1"/>
              <a:t>Collection.get</a:t>
            </a:r>
            <a:r>
              <a:rPr lang="en-IN" dirty="0"/>
              <a:t>()</a:t>
            </a:r>
          </a:p>
        </p:txBody>
      </p:sp>
    </p:spTree>
    <p:extLst>
      <p:ext uri="{BB962C8B-B14F-4D97-AF65-F5344CB8AC3E}">
        <p14:creationId xmlns:p14="http://schemas.microsoft.com/office/powerpoint/2010/main" val="103988266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EB053DE-BB27-A52B-4FC6-400538886DD7}"/>
              </a:ext>
            </a:extLst>
          </p:cNvPr>
          <p:cNvSpPr txBox="1"/>
          <p:nvPr/>
        </p:nvSpPr>
        <p:spPr>
          <a:xfrm>
            <a:off x="107504" y="908720"/>
            <a:ext cx="9036496" cy="1477328"/>
          </a:xfrm>
          <a:prstGeom prst="rect">
            <a:avLst/>
          </a:prstGeom>
          <a:noFill/>
        </p:spPr>
        <p:txBody>
          <a:bodyPr wrap="square">
            <a:spAutoFit/>
          </a:bodyPr>
          <a:lstStyle/>
          <a:p>
            <a:r>
              <a:rPr lang="en-US" b="1" i="0" dirty="0">
                <a:solidFill>
                  <a:srgbClr val="2E2F30"/>
                </a:solidFill>
                <a:effectLst/>
                <a:latin typeface="Inter"/>
              </a:rPr>
              <a:t>Elasticsearch</a:t>
            </a:r>
            <a:r>
              <a:rPr lang="en-US" b="0" i="0" dirty="0">
                <a:solidFill>
                  <a:srgbClr val="2E2F30"/>
                </a:solidFill>
                <a:effectLst/>
                <a:latin typeface="Inter"/>
              </a:rPr>
              <a:t>: Elasticsearch is a distributed search and analytics engine that supports various types of data. It also supports vector fields, which store dense vectors of numeric values. Elasticsearch added support for indexing vectors into a specialized data structure to enable fast k-nearest neighbor (</a:t>
            </a:r>
            <a:r>
              <a:rPr lang="en-US" b="0" i="0" dirty="0" err="1">
                <a:solidFill>
                  <a:srgbClr val="2E2F30"/>
                </a:solidFill>
                <a:effectLst/>
                <a:latin typeface="Inter"/>
              </a:rPr>
              <a:t>kNN</a:t>
            </a:r>
            <a:r>
              <a:rPr lang="en-US" b="0" i="0" dirty="0">
                <a:solidFill>
                  <a:srgbClr val="2E2F30"/>
                </a:solidFill>
                <a:effectLst/>
                <a:latin typeface="Inter"/>
              </a:rPr>
              <a:t>) retrieval. It also added support for native natural language processing (NLP) with vector fields </a:t>
            </a:r>
            <a:endParaRPr lang="en-US" dirty="0"/>
          </a:p>
        </p:txBody>
      </p:sp>
      <p:pic>
        <p:nvPicPr>
          <p:cNvPr id="5" name="Picture 4">
            <a:extLst>
              <a:ext uri="{FF2B5EF4-FFF2-40B4-BE49-F238E27FC236}">
                <a16:creationId xmlns:a16="http://schemas.microsoft.com/office/drawing/2014/main" id="{FF999127-AE20-C046-12FC-62721D597381}"/>
              </a:ext>
            </a:extLst>
          </p:cNvPr>
          <p:cNvPicPr>
            <a:picLocks noChangeAspect="1"/>
          </p:cNvPicPr>
          <p:nvPr/>
        </p:nvPicPr>
        <p:blipFill>
          <a:blip r:embed="rId2"/>
          <a:stretch>
            <a:fillRect/>
          </a:stretch>
        </p:blipFill>
        <p:spPr>
          <a:xfrm>
            <a:off x="0" y="2406214"/>
            <a:ext cx="9144000" cy="4953328"/>
          </a:xfrm>
          <a:prstGeom prst="rect">
            <a:avLst/>
          </a:prstGeom>
        </p:spPr>
      </p:pic>
      <p:sp>
        <p:nvSpPr>
          <p:cNvPr id="7" name="TextBox 6">
            <a:extLst>
              <a:ext uri="{FF2B5EF4-FFF2-40B4-BE49-F238E27FC236}">
                <a16:creationId xmlns:a16="http://schemas.microsoft.com/office/drawing/2014/main" id="{B8D42B42-3143-153C-16D9-7952F5E9E3F5}"/>
              </a:ext>
            </a:extLst>
          </p:cNvPr>
          <p:cNvSpPr txBox="1"/>
          <p:nvPr/>
        </p:nvSpPr>
        <p:spPr>
          <a:xfrm>
            <a:off x="971600" y="274938"/>
            <a:ext cx="4624386" cy="523220"/>
          </a:xfrm>
          <a:prstGeom prst="rect">
            <a:avLst/>
          </a:prstGeom>
          <a:noFill/>
        </p:spPr>
        <p:txBody>
          <a:bodyPr wrap="square">
            <a:spAutoFit/>
          </a:bodyPr>
          <a:lstStyle/>
          <a:p>
            <a:pPr algn="l"/>
            <a:r>
              <a:rPr lang="en-US" sz="2800" b="1" i="0" dirty="0">
                <a:effectLst/>
                <a:latin typeface="Times New Roman" panose="02020603050405020304" pitchFamily="18" charset="0"/>
                <a:cs typeface="Times New Roman" panose="02020603050405020304" pitchFamily="18" charset="0"/>
              </a:rPr>
              <a:t>Types of Vector Database</a:t>
            </a:r>
            <a:endParaRPr lang="en-US" sz="2800" b="1" i="0" dirty="0">
              <a:effectLst/>
              <a:latin typeface="__mediumLLWeb_4813c6"/>
            </a:endParaRPr>
          </a:p>
        </p:txBody>
      </p:sp>
    </p:spTree>
    <p:extLst>
      <p:ext uri="{BB962C8B-B14F-4D97-AF65-F5344CB8AC3E}">
        <p14:creationId xmlns:p14="http://schemas.microsoft.com/office/powerpoint/2010/main" val="390195616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4769</TotalTime>
  <Words>1402</Words>
  <Application>Microsoft Office PowerPoint</Application>
  <PresentationFormat>On-screen Show (4:3)</PresentationFormat>
  <Paragraphs>85</Paragraphs>
  <Slides>24</Slides>
  <Notes>0</Notes>
  <HiddenSlides>1</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24</vt:i4>
      </vt:variant>
    </vt:vector>
  </HeadingPairs>
  <TitlesOfParts>
    <vt:vector size="32" baseType="lpstr">
      <vt:lpstr>__mediumLLWeb_4813c6</vt:lpstr>
      <vt:lpstr>Arial</vt:lpstr>
      <vt:lpstr>Calibri</vt:lpstr>
      <vt:lpstr>circular</vt:lpstr>
      <vt:lpstr>freight-text-pro</vt:lpstr>
      <vt:lpstr>Inter</vt:lpstr>
      <vt:lpstr>Times New Roman</vt:lpstr>
      <vt:lpstr>Office Theme</vt:lpstr>
      <vt:lpstr>PowerPoint Presentation</vt:lpstr>
      <vt:lpstr>PowerPoint Presentation</vt:lpstr>
      <vt:lpstr>Vector Stores</vt:lpstr>
      <vt:lpstr>RDMS vs Vector Store</vt:lpstr>
      <vt:lpstr>PowerPoint Presentation</vt:lpstr>
      <vt:lpstr>Type of Vector Store</vt:lpstr>
      <vt:lpstr>Vector Libraries vs Vector DB</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harish kumar</cp:lastModifiedBy>
  <cp:revision>10</cp:revision>
  <dcterms:created xsi:type="dcterms:W3CDTF">2023-09-30T11:26:57Z</dcterms:created>
  <dcterms:modified xsi:type="dcterms:W3CDTF">2024-11-12T23:05:03Z</dcterms:modified>
</cp:coreProperties>
</file>
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Raleway" pitchFamily="2" charset="0"/>
      <p:regular r:id="rId14"/>
    </p:embeddedFont>
    <p:embeddedFont>
      <p:font typeface="Roboto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424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345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Gen AI Platform Architecture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75458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deep dive into the layers, patterns, and design principles that power production-grade Generative AI systems in the enterprise. Each layer solves a specific concern — from user experience to governance and MLOps.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52351"/>
            <a:ext cx="5137026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Application Architecture Layers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960611"/>
            <a:ext cx="4496767" cy="33211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0640" y="4412679"/>
            <a:ext cx="818271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layer of the enterprise Gen AI platform addresses a distinct architectural concern — from how users interact with the system, to how models are governed, monitored, and deployed at scale.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1113"/>
            <a:ext cx="394818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1: User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1668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layer defines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users interact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Gen AI capabilities. The frontend never talks directly to the LLM — it calls an enterprise-controlled API, enabling governance, logging, and security enforcement.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2453134"/>
            <a:ext cx="4103191" cy="1409179"/>
          </a:xfrm>
          <a:prstGeom prst="roundRect">
            <a:avLst>
              <a:gd name="adj" fmla="val 6338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57710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Typical Interfaces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894930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apps (React, Angular, Vue)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Internal enterprise portals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Chat-based copilots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Developer APIs &amp; IDE extensions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2577108"/>
            <a:ext cx="22123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Enterprise Concerns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2894930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(SSO, OAuth, SAML)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Role-based access control (RBAC)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Session continuity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Accessibility and localization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52351"/>
            <a:ext cx="4617616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2: AI Orchestration &amp; API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80640" y="960611"/>
            <a:ext cx="818271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the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brain of the platform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Enterprises never expose LLMs directly to users. The orchestration layer manages prompt templates, policy enforcement, model routing, input validation, and agent orchestration.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1469975"/>
            <a:ext cx="5247903" cy="3321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8356"/>
            <a:ext cx="545641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3: Intelligence &amp; Model Layer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15914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Lives Here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033736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 models (cloud or on-prem)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Fine-tuned models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Embedding models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Multimodal models (text + image)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3081710"/>
            <a:ext cx="2827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Design Considerations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399532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Multi-model strategy (avoid vendor lock-in)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Latency SLAs &amp; data residency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versioning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1731466"/>
            <a:ext cx="3924598" cy="1637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8214" y="61987"/>
            <a:ext cx="2962573" cy="50195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79345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4: Knowledge &amp; Data Augmentation (RAG)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96119" y="275458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do not know internal data, cannot be trusted for factual accuracy, and must not hallucinate.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Retrieval-Augmented Generation (RAG)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mandatory in enterprise deployments to ground responses in real, verified data.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304"/>
            <a:ext cx="688404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5: Enterprise Data &amp; System Integration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28861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Typical Data Sources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446684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Databases (Postgres, Oracle)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stores (SharePoint, Confluence)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CRM / ERP systems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Logs and analytics systems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49465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2812479"/>
            <a:ext cx="3924598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embed raw PII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metadata filters</a:t>
            </a:r>
            <a:endParaRPr lang="en-US" sz="9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data lineage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046" y="1144414"/>
            <a:ext cx="2930128" cy="34281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53764"/>
            <a:ext cx="6279207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6: Security, Compliance &amp; Governance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57349" y="921916"/>
            <a:ext cx="8229302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is a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cross-cutting concern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spans every layer of the platform. Every request must pass through authentication, PII scanning, and output filtering before a response is returned.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1510680"/>
            <a:ext cx="3064148" cy="316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33913" y="1392138"/>
            <a:ext cx="4139803" cy="3397523"/>
          </a:xfrm>
          <a:prstGeom prst="roundRect">
            <a:avLst>
              <a:gd name="adj" fmla="val 2423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748213" y="1497509"/>
            <a:ext cx="1959099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Must-Haves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8213" y="1781547"/>
            <a:ext cx="3911203" cy="102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 logging and audit trails</a:t>
            </a:r>
            <a:endParaRPr lang="en-US" sz="9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PII detection and masking</a:t>
            </a:r>
            <a:endParaRPr lang="en-US" sz="9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control per role</a:t>
            </a:r>
            <a:endParaRPr lang="en-US" sz="9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encryption at rest and in transit</a:t>
            </a:r>
            <a:endParaRPr lang="en-US" sz="90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output filtering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39974"/>
            <a:ext cx="730976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7: Observability, Cost &amp; Token Governance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7554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 AI is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expensive and unpredictable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without controls. Tracking usage at a granular level is non-negotiable for sustainable enterprise deployments.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375520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27733" y="293987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Metrics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3208139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Tokens per request, cost per user/team, latency, hallucination rate, and prompt effectiveness must all be tracked continuously.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64991" y="2375520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796680" y="293987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Uncontrolled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64991" y="3208139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token governance, costs can spiral unpredictably across teams and use cases.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33939" y="2375520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565627" y="293987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 Coverage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3939" y="3208139"/>
            <a:ext cx="261394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prompt and response should be logged for compliance, debugging, and cost attribution.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58080"/>
            <a:ext cx="54053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Layer 8: DevOps &amp; MLOps for Gen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72901" y="952872"/>
            <a:ext cx="865539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Gen AI platforms,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 are code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is a dependency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</a:t>
            </a: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are versioned artifacts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CI/CD pipelines must be adapted accordingly.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391022"/>
            <a:ext cx="3013621" cy="32675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35847" y="1264295"/>
            <a:ext cx="4125144" cy="3521050"/>
          </a:xfrm>
          <a:prstGeom prst="roundRect">
            <a:avLst>
              <a:gd name="adj" fmla="val 2418"/>
            </a:avLst>
          </a:prstGeom>
          <a:solidFill>
            <a:srgbClr val="F2F2F3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754017" y="1376958"/>
            <a:ext cx="19350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54017" y="1674316"/>
            <a:ext cx="3888804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 are code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version and test them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is a dependency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track lineage</a:t>
            </a:r>
            <a:endParaRPr lang="en-US" sz="9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9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 are versioned artifacts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manage rollouts carefully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26082"/>
            <a:ext cx="317309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All 8 Layers at a Glance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598066" y="804714"/>
            <a:ext cx="3932932" cy="1012254"/>
          </a:xfrm>
          <a:prstGeom prst="roundRect">
            <a:avLst>
              <a:gd name="adj" fmla="val 41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353" y="819001"/>
            <a:ext cx="3904357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2488927" y="873323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13110" y="1203201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Experience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13110" y="1409774"/>
            <a:ext cx="3702844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Interfaces for users to interact with the system via portals, APIs, and copilots.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612853" y="804714"/>
            <a:ext cx="3933006" cy="1012254"/>
          </a:xfrm>
          <a:prstGeom prst="roundRect">
            <a:avLst>
              <a:gd name="adj" fmla="val 41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7141" y="819001"/>
            <a:ext cx="3904431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10" name="Text 8"/>
          <p:cNvSpPr/>
          <p:nvPr/>
        </p:nvSpPr>
        <p:spPr>
          <a:xfrm>
            <a:off x="6503789" y="873323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27897" y="1203201"/>
            <a:ext cx="127307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Orchestration &amp; API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7897" y="1409774"/>
            <a:ext cx="3702918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brain — routing, validation, policy enforcement, and agent orchestration.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98066" y="1898824"/>
            <a:ext cx="3932932" cy="1012254"/>
          </a:xfrm>
          <a:prstGeom prst="roundRect">
            <a:avLst>
              <a:gd name="adj" fmla="val 41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353" y="1913111"/>
            <a:ext cx="3904357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15" name="Text 13"/>
          <p:cNvSpPr/>
          <p:nvPr/>
        </p:nvSpPr>
        <p:spPr>
          <a:xfrm>
            <a:off x="2488927" y="1967433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110" y="2297311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Intelligence &amp;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13110" y="2503884"/>
            <a:ext cx="370284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Foundation, fine-tuned, embedding, and multimodal models with multi-model strategy.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12853" y="1898824"/>
            <a:ext cx="3933006" cy="1012254"/>
          </a:xfrm>
          <a:prstGeom prst="roundRect">
            <a:avLst>
              <a:gd name="adj" fmla="val 4182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27141" y="1913111"/>
            <a:ext cx="3904431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20" name="Text 18"/>
          <p:cNvSpPr/>
          <p:nvPr/>
        </p:nvSpPr>
        <p:spPr>
          <a:xfrm>
            <a:off x="6503789" y="1967433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27897" y="2297311"/>
            <a:ext cx="143775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Knowledge &amp; Data (RAG)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27897" y="2503884"/>
            <a:ext cx="370291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Retrieval-Augmented Generation to ground LLM responses in enterprise data.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98066" y="3003203"/>
            <a:ext cx="3932932" cy="866180"/>
          </a:xfrm>
          <a:prstGeom prst="roundRect">
            <a:avLst>
              <a:gd name="adj" fmla="val 488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353" y="3017490"/>
            <a:ext cx="3904357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25" name="Text 23"/>
          <p:cNvSpPr/>
          <p:nvPr/>
        </p:nvSpPr>
        <p:spPr>
          <a:xfrm>
            <a:off x="2488927" y="3071813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13110" y="3401690"/>
            <a:ext cx="155145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 Data Integration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110" y="3608263"/>
            <a:ext cx="3702844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Connects databases, document stores, CRM/ERP, and analytics systems.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12853" y="3003203"/>
            <a:ext cx="3933006" cy="866180"/>
          </a:xfrm>
          <a:prstGeom prst="roundRect">
            <a:avLst>
              <a:gd name="adj" fmla="val 488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27141" y="3017490"/>
            <a:ext cx="3904431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30" name="Text 28"/>
          <p:cNvSpPr/>
          <p:nvPr/>
        </p:nvSpPr>
        <p:spPr>
          <a:xfrm>
            <a:off x="6503789" y="3071813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27897" y="3401690"/>
            <a:ext cx="132196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&amp; Compliance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27897" y="3608263"/>
            <a:ext cx="370291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Cross-cutting governance: PII masking, audit trails, encryption, output filtering.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98066" y="3951238"/>
            <a:ext cx="3932932" cy="866180"/>
          </a:xfrm>
          <a:prstGeom prst="roundRect">
            <a:avLst>
              <a:gd name="adj" fmla="val 488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353" y="3965525"/>
            <a:ext cx="3904357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35" name="Text 33"/>
          <p:cNvSpPr/>
          <p:nvPr/>
        </p:nvSpPr>
        <p:spPr>
          <a:xfrm>
            <a:off x="2488927" y="4019848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13110" y="4349725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Observability &amp; Cost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3110" y="4556299"/>
            <a:ext cx="3702844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 tracking, latency monitoring, hallucination rate, and cost attribution.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12853" y="3951238"/>
            <a:ext cx="3933006" cy="866180"/>
          </a:xfrm>
          <a:prstGeom prst="roundRect">
            <a:avLst>
              <a:gd name="adj" fmla="val 4887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27141" y="3965525"/>
            <a:ext cx="3904431" cy="302344"/>
          </a:xfrm>
          <a:prstGeom prst="roundRect">
            <a:avLst>
              <a:gd name="adj" fmla="val 8330"/>
            </a:avLst>
          </a:prstGeom>
          <a:solidFill>
            <a:srgbClr val="E1E1EA"/>
          </a:solidFill>
          <a:ln/>
        </p:spPr>
      </p:sp>
      <p:sp>
        <p:nvSpPr>
          <p:cNvPr id="40" name="Text 38"/>
          <p:cNvSpPr/>
          <p:nvPr/>
        </p:nvSpPr>
        <p:spPr>
          <a:xfrm>
            <a:off x="6503789" y="4019848"/>
            <a:ext cx="151135" cy="188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727897" y="4349725"/>
            <a:ext cx="12598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DevOps &amp; MLOps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27897" y="4556299"/>
            <a:ext cx="370291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CI/CD pipelines treating prompts as code and models as versioned artifacts.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729</Words>
  <Application>Microsoft Office PowerPoint</Application>
  <PresentationFormat>On-screen Show (16:9)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Roboto</vt:lpstr>
      <vt:lpstr>Arial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harish kumar</cp:lastModifiedBy>
  <cp:revision>2</cp:revision>
  <dcterms:created xsi:type="dcterms:W3CDTF">2026-05-27T22:22:34Z</dcterms:created>
  <dcterms:modified xsi:type="dcterms:W3CDTF">2026-05-29T04:09:29Z</dcterms:modified>
</cp:coreProperties>
</file>